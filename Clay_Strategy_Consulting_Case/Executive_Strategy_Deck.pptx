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7.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8.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9.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0.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cision" id="{3ca669f1-6abb-38ae-25b3-a4d10f1c686d}">
          <p14:sldIdLst>
            <p14:sldId id="256"/>
            <p14:sldId id="257"/>
          </p14:sldIdLst>
        </p14:section>
        <p14:section name="Market &amp; customers" id="{7113595d-816a-1a26-06e3-00637c7fa492}">
          <p14:sldIdLst>
            <p14:sldId id="258"/>
            <p14:sldId id="259"/>
            <p14:sldId id="260"/>
          </p14:sldIdLst>
        </p14:section>
        <p14:section name="Competition &amp; value" id="{2f8b3a5f-e293-530f-47fc-5b1938e9649b}">
          <p14:sldIdLst>
            <p14:sldId id="261"/>
            <p14:sldId id="262"/>
          </p14:sldIdLst>
        </p14:section>
        <p14:section name="Prioritization &amp; economics" id="{31aafd93-dba7-d79a-4a06-a7ccffc9bdb2}">
          <p14:sldIdLst>
            <p14:sldId id="263"/>
            <p14:sldId id="264"/>
            <p14:sldId id="265"/>
          </p14:sldIdLst>
        </p14:section>
        <p14:section name="Recommendation &amp; execution" id="{4601f98d-83d2-5ff6-f08c-2bb09eeaefdf}">
          <p14:sldIdLst>
            <p14:sldId id="266"/>
            <p14:sldId id="267"/>
          </p14:sldIdLst>
        </p14:section>
        <p14:section name="Appendix" id="{5a171b26-6095-04ae-3022-5fae8302a9fa}">
          <p14:sldIdLst>
            <p14:sldId id="268"/>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433"/>
                </a:solidFill>
                <a:latin typeface="+mn-lt"/>
              </a:defRPr>
            </a:pPr>
            <a:r>
              <a:rPr sz="1200" b="0" i="0" u="none" strike="noStrike">
                <a:solidFill>
                  <a:srgbClr val="1B2433"/>
                </a:solidFill>
                <a:latin typeface="+mn-lt"/>
              </a:rPr>
              <a:t>Unique U.S. firms, 20+ employees (2022)</a:t>
            </a:r>
          </a:p>
        </c:rich>
      </c:tx>
      <c:layout/>
      <c:overlay val="0"/>
    </c:title>
    <c:autoTitleDeleted val="0"/>
    <c:plotArea>
      <c:layout/>
      <c:barChart>
        <c:barDir val="col"/>
        <c:grouping val="clustered"/>
        <c:varyColors val="0"/>
        <c:ser>
          <c:idx val="0"/>
          <c:order val="0"/>
          <c:tx>
            <c:strRef>
              <c:f>Sheet1!$B$1</c:f>
              <c:strCache>
                <c:ptCount val="1"/>
                <c:pt idx="0">
                  <c:v>Unique U.S. firms, 20+ employees (2022)</c:v>
                </c:pt>
              </c:strCache>
            </c:strRef>
          </c:tx>
          <c:spPr>
            <a:solidFill>
              <a:srgbClr val="B5532A"/>
            </a:solidFill>
            <a:effectLst/>
          </c:spPr>
          <c:invertIfNegative val="0"/>
          <c:dLbls>
            <c:numFmt formatCode="#,##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dPt>
            <c:idx val="0"/>
            <c:invertIfNegative val="0"/>
            <c:bubble3D val="0"/>
            <c:spPr>
              <a:solidFill>
                <a:srgbClr val="B5532A"/>
              </a:solidFill>
              <a:effectLst/>
            </c:spPr>
          </c:dPt>
          <c:dPt>
            <c:idx val="1"/>
            <c:invertIfNegative val="0"/>
            <c:bubble3D val="0"/>
            <c:spPr>
              <a:solidFill>
                <a:srgbClr val="5B6B82"/>
              </a:solidFill>
              <a:effectLst/>
            </c:spPr>
          </c:dPt>
          <c:dPt>
            <c:idx val="2"/>
            <c:invertIfNegative val="0"/>
            <c:bubble3D val="0"/>
            <c:spPr>
              <a:solidFill>
                <a:srgbClr val="5B6B82"/>
              </a:solidFill>
              <a:effectLst/>
            </c:spPr>
          </c:dPt>
          <c:cat>
            <c:multiLvlStrRef>
              <c:f>Sheet1!$A$2:$A$4</c:f>
              <c:multiLvlStrCache>
                <c:ptCount val="3"/>
                <c:lvl>
                  <c:pt idx="0">
                    <c:v>Distribution</c:v>
                  </c:pt>
                  <c:pt idx="1">
                    <c:v>Manufacturing</c:v>
                  </c:pt>
                  <c:pt idx="2">
                    <c:v>Prof. services</c:v>
                  </c:pt>
                </c:lvl>
              </c:multiLvlStrCache>
            </c:multiLvlStrRef>
          </c:cat>
          <c:val>
            <c:numRef>
              <c:f>Sheet1!$B$2:$B$4</c:f>
              <c:numCache>
                <c:formatCode>General</c:formatCode>
                <c:ptCount val="3"/>
                <c:pt idx="0">
                  <c:v>11494</c:v>
                </c:pt>
                <c:pt idx="1">
                  <c:v>23785</c:v>
                </c:pt>
                <c:pt idx="2">
                  <c:v>33035</c:v>
                </c:pt>
              </c:numCache>
            </c:numRef>
          </c:val>
        </c:ser>
        <c:dLbls>
          <c:numFmt formatCode="#,##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3D4A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433"/>
                </a:solidFill>
                <a:latin typeface="+mn-lt"/>
              </a:defRPr>
            </a:pPr>
            <a:r>
              <a:rPr sz="1200" b="0" i="0" u="none" strike="noStrike">
                <a:solidFill>
                  <a:srgbClr val="1B2433"/>
                </a:solidFill>
                <a:latin typeface="+mn-lt"/>
              </a:rPr>
              <a:t>Sales jobs, % of employment (all industries 8.6%)</a:t>
            </a:r>
          </a:p>
        </c:rich>
      </c:tx>
      <c:layout/>
      <c:overlay val="0"/>
    </c:title>
    <c:autoTitleDeleted val="0"/>
    <c:plotArea>
      <c:layout/>
      <c:barChart>
        <c:barDir val="col"/>
        <c:grouping val="clustered"/>
        <c:varyColors val="0"/>
        <c:ser>
          <c:idx val="0"/>
          <c:order val="0"/>
          <c:tx>
            <c:strRef>
              <c:f>Sheet1!$B$1</c:f>
              <c:strCache>
                <c:ptCount val="1"/>
                <c:pt idx="0">
                  <c:v>Sales jobs, % of employment (all industries 8.6%)</c:v>
                </c:pt>
              </c:strCache>
            </c:strRef>
          </c:tx>
          <c:spPr>
            <a:solidFill>
              <a:srgbClr val="B5532A"/>
            </a:solidFill>
            <a:effectLst/>
          </c:spPr>
          <c:invertIfNegative val="0"/>
          <c:dLbls>
            <c:numFmt formatCode="0.0&quot;%&quot;"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dPt>
            <c:idx val="0"/>
            <c:invertIfNegative val="0"/>
            <c:bubble3D val="0"/>
            <c:spPr>
              <a:solidFill>
                <a:srgbClr val="B5532A"/>
              </a:solidFill>
              <a:effectLst/>
            </c:spPr>
          </c:dPt>
          <c:dPt>
            <c:idx val="1"/>
            <c:invertIfNegative val="0"/>
            <c:bubble3D val="0"/>
            <c:spPr>
              <a:solidFill>
                <a:srgbClr val="5B6B82"/>
              </a:solidFill>
              <a:effectLst/>
            </c:spPr>
          </c:dPt>
          <c:dPt>
            <c:idx val="2"/>
            <c:invertIfNegative val="0"/>
            <c:bubble3D val="0"/>
            <c:spPr>
              <a:solidFill>
                <a:srgbClr val="5B6B82"/>
              </a:solidFill>
              <a:effectLst/>
            </c:spPr>
          </c:dPt>
          <c:cat>
            <c:multiLvlStrRef>
              <c:f>Sheet1!$A$2:$A$4</c:f>
              <c:multiLvlStrCache>
                <c:ptCount val="3"/>
                <c:lvl>
                  <c:pt idx="0">
                    <c:v>Distribution</c:v>
                  </c:pt>
                  <c:pt idx="1">
                    <c:v>Manufacturing</c:v>
                  </c:pt>
                  <c:pt idx="2">
                    <c:v>Prof. services</c:v>
                  </c:pt>
                </c:lvl>
              </c:multiLvlStrCache>
            </c:multiLvlStrRef>
          </c:cat>
          <c:val>
            <c:numRef>
              <c:f>Sheet1!$B$2:$B$4</c:f>
              <c:numCache>
                <c:formatCode>General</c:formatCode>
                <c:ptCount val="3"/>
                <c:pt idx="0">
                  <c:v>22</c:v>
                </c:pt>
                <c:pt idx="1">
                  <c:v>2.7</c:v>
                </c:pt>
                <c:pt idx="2">
                  <c:v>6.2</c:v>
                </c:pt>
              </c:numCache>
            </c:numRef>
          </c:val>
        </c:ser>
        <c:dLbls>
          <c:numFmt formatCode="0.0&quot;%&quot;"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3D4A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433"/>
                </a:solidFill>
                <a:latin typeface="+mn-lt"/>
              </a:defRPr>
            </a:pPr>
            <a:r>
              <a:rPr sz="1200" b="0" i="0" u="none" strike="noStrike">
                <a:solidFill>
                  <a:srgbClr val="1B2433"/>
                </a:solidFill>
                <a:latin typeface="+mn-lt"/>
              </a:rPr>
              <a:t>Sales staff per firm, 20+ employees</a:t>
            </a:r>
          </a:p>
        </c:rich>
      </c:tx>
      <c:layout/>
      <c:overlay val="0"/>
    </c:title>
    <c:autoTitleDeleted val="0"/>
    <c:plotArea>
      <c:layout/>
      <c:barChart>
        <c:barDir val="col"/>
        <c:grouping val="clustered"/>
        <c:varyColors val="0"/>
        <c:ser>
          <c:idx val="0"/>
          <c:order val="0"/>
          <c:tx>
            <c:strRef>
              <c:f>Sheet1!$B$1</c:f>
              <c:strCache>
                <c:ptCount val="1"/>
                <c:pt idx="0">
                  <c:v>Sales staff per firm, 20+ employees</c:v>
                </c:pt>
              </c:strCache>
            </c:strRef>
          </c:tx>
          <c:spPr>
            <a:solidFill>
              <a:srgbClr val="B5532A"/>
            </a:solidFill>
            <a:effectLst/>
          </c:spPr>
          <c:invertIfNegative val="0"/>
          <c:dLbls>
            <c:numFmt formatCode="0.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dPt>
            <c:idx val="0"/>
            <c:invertIfNegative val="0"/>
            <c:bubble3D val="0"/>
            <c:spPr>
              <a:solidFill>
                <a:srgbClr val="B5532A"/>
              </a:solidFill>
              <a:effectLst/>
            </c:spPr>
          </c:dPt>
          <c:dPt>
            <c:idx val="1"/>
            <c:invertIfNegative val="0"/>
            <c:bubble3D val="0"/>
            <c:spPr>
              <a:solidFill>
                <a:srgbClr val="5B6B82"/>
              </a:solidFill>
              <a:effectLst/>
            </c:spPr>
          </c:dPt>
          <c:dPt>
            <c:idx val="2"/>
            <c:invertIfNegative val="0"/>
            <c:bubble3D val="0"/>
            <c:spPr>
              <a:solidFill>
                <a:srgbClr val="5B6B82"/>
              </a:solidFill>
              <a:effectLst/>
            </c:spPr>
          </c:dPt>
          <c:cat>
            <c:multiLvlStrRef>
              <c:f>Sheet1!$A$2:$A$4</c:f>
              <c:multiLvlStrCache>
                <c:ptCount val="3"/>
                <c:lvl>
                  <c:pt idx="0">
                    <c:v>Distribution</c:v>
                  </c:pt>
                  <c:pt idx="1">
                    <c:v>Manufacturing</c:v>
                  </c:pt>
                  <c:pt idx="2">
                    <c:v>Prof. services</c:v>
                  </c:pt>
                </c:lvl>
              </c:multiLvlStrCache>
            </c:multiLvlStrRef>
          </c:cat>
          <c:val>
            <c:numRef>
              <c:f>Sheet1!$B$2:$B$4</c:f>
              <c:numCache>
                <c:formatCode>General</c:formatCode>
                <c:ptCount val="3"/>
                <c:pt idx="0">
                  <c:v>27.7</c:v>
                </c:pt>
                <c:pt idx="1">
                  <c:v>3.6</c:v>
                </c:pt>
                <c:pt idx="2">
                  <c:v>9.3</c:v>
                </c:pt>
              </c:numCache>
            </c:numRef>
          </c:val>
        </c:ser>
        <c:dLbls>
          <c:numFmt formatCode="0.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3D4A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433"/>
                </a:solidFill>
                <a:latin typeface="+mn-lt"/>
              </a:defRPr>
            </a:pPr>
            <a:r>
              <a:rPr sz="1200" b="0" i="0" u="none" strike="noStrike">
                <a:solidFill>
                  <a:srgbClr val="1B2433"/>
                </a:solidFill>
                <a:latin typeface="+mn-lt"/>
              </a:rPr>
              <a:t>TAM and SAM by segment, Base ($M per year)</a:t>
            </a:r>
          </a:p>
        </c:rich>
      </c:tx>
      <c:layout/>
      <c:overlay val="0"/>
    </c:title>
    <c:autoTitleDeleted val="0"/>
    <c:plotArea>
      <c:layout/>
      <c:barChart>
        <c:barDir val="col"/>
        <c:grouping val="clustered"/>
        <c:varyColors val="0"/>
        <c:ser>
          <c:idx val="0"/>
          <c:order val="0"/>
          <c:tx>
            <c:strRef>
              <c:f>Sheet1!$B$1</c:f>
              <c:strCache>
                <c:ptCount val="1"/>
                <c:pt idx="0">
                  <c:v>TAM</c:v>
                </c:pt>
              </c:strCache>
            </c:strRef>
          </c:tx>
          <c:spPr>
            <a:solidFill>
              <a:srgbClr val="A9B4C2"/>
            </a:solidFill>
            <a:effectLst/>
          </c:spPr>
          <c:invertIfNegative val="0"/>
          <c:dLbls>
            <c:numFmt formatCode="&quot;$&quot;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cat>
            <c:multiLvlStrRef>
              <c:f>Sheet1!$A$2:$A$4</c:f>
              <c:multiLvlStrCache>
                <c:ptCount val="3"/>
                <c:lvl>
                  <c:pt idx="0">
                    <c:v>Distribution</c:v>
                  </c:pt>
                  <c:pt idx="1">
                    <c:v>Manufacturing</c:v>
                  </c:pt>
                  <c:pt idx="2">
                    <c:v>Prof. services</c:v>
                  </c:pt>
                </c:lvl>
              </c:multiLvlStrCache>
            </c:multiLvlStrRef>
          </c:cat>
          <c:val>
            <c:numRef>
              <c:f>Sheet1!$B$2:$B$4</c:f>
              <c:numCache>
                <c:formatCode>General</c:formatCode>
                <c:ptCount val="3"/>
                <c:pt idx="0">
                  <c:v>91.5</c:v>
                </c:pt>
                <c:pt idx="1">
                  <c:v>162.1</c:v>
                </c:pt>
                <c:pt idx="2">
                  <c:v>225.1</c:v>
                </c:pt>
              </c:numCache>
            </c:numRef>
          </c:val>
        </c:ser>
        <c:ser>
          <c:idx val="1"/>
          <c:order val="1"/>
          <c:tx>
            <c:strRef>
              <c:f>Sheet1!$C$1</c:f>
              <c:strCache>
                <c:ptCount val="1"/>
                <c:pt idx="0">
                  <c:v>SAM</c:v>
                </c:pt>
              </c:strCache>
            </c:strRef>
          </c:tx>
          <c:spPr>
            <a:solidFill>
              <a:srgbClr val="5B6B82"/>
            </a:solidFill>
            <a:effectLst/>
          </c:spPr>
          <c:invertIfNegative val="0"/>
          <c:dLbls>
            <c:numFmt formatCode="&quot;$&quot;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cat>
            <c:multiLvlStrRef>
              <c:f>Sheet1!$A$2:$A$4</c:f>
              <c:multiLvlStrCache>
                <c:ptCount val="3"/>
                <c:lvl>
                  <c:pt idx="0">
                    <c:v>Distribution</c:v>
                  </c:pt>
                  <c:pt idx="1">
                    <c:v>Manufacturing</c:v>
                  </c:pt>
                  <c:pt idx="2">
                    <c:v>Prof. services</c:v>
                  </c:pt>
                </c:lvl>
              </c:multiLvlStrCache>
            </c:multiLvlStrRef>
          </c:cat>
          <c:val>
            <c:numRef>
              <c:f>Sheet1!$C$2:$C$4</c:f>
              <c:numCache>
                <c:formatCode>General</c:formatCode>
                <c:ptCount val="3"/>
                <c:pt idx="0">
                  <c:v>41</c:v>
                </c:pt>
                <c:pt idx="1">
                  <c:v>43.8</c:v>
                </c:pt>
                <c:pt idx="2">
                  <c:v>86.7</c:v>
                </c:pt>
              </c:numCache>
            </c:numRef>
          </c:val>
        </c:ser>
        <c:dLbls>
          <c:numFmt formatCode="&quot;$&quot;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3D4A5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D4A5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433"/>
                </a:solidFill>
                <a:latin typeface="+mn-lt"/>
              </a:defRPr>
            </a:pPr>
            <a:r>
              <a:rPr sz="1200" b="0" i="0" u="none" strike="noStrike">
                <a:solidFill>
                  <a:srgbClr val="1B2433"/>
                </a:solidFill>
                <a:latin typeface="+mn-lt"/>
              </a:rPr>
              <a:t>Annual value per distributor, Base ($K)</a:t>
            </a:r>
          </a:p>
        </c:rich>
      </c:tx>
      <c:layout/>
      <c:overlay val="0"/>
    </c:title>
    <c:autoTitleDeleted val="0"/>
    <c:plotArea>
      <c:layout/>
      <c:barChart>
        <c:barDir val="col"/>
        <c:grouping val="clustered"/>
        <c:varyColors val="0"/>
        <c:ser>
          <c:idx val="0"/>
          <c:order val="0"/>
          <c:tx>
            <c:strRef>
              <c:f>Sheet1!$B$1</c:f>
              <c:strCache>
                <c:ptCount val="1"/>
                <c:pt idx="0">
                  <c:v>Usage at list price</c:v>
                </c:pt>
              </c:strCache>
            </c:strRef>
          </c:tx>
          <c:spPr>
            <a:solidFill>
              <a:srgbClr val="A9B4C2"/>
            </a:solidFill>
            <a:effectLst/>
          </c:spPr>
          <c:invertIfNegative val="0"/>
          <c:dLbls>
            <c:numFmt formatCode="&quot;$&quot;0.0&quot;K&quot;"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cat>
            <c:multiLvlStrRef>
              <c:f>Sheet1!$A$2:$A$4</c:f>
              <c:multiLvlStrCache>
                <c:ptCount val="3"/>
                <c:lvl>
                  <c:pt idx="0">
                    <c:v>SMB (20–99)</c:v>
                  </c:pt>
                  <c:pt idx="1">
                    <c:v>Mid-market (100–499)</c:v>
                  </c:pt>
                  <c:pt idx="2">
                    <c:v>Enterprise (500+)</c:v>
                  </c:pt>
                </c:lvl>
              </c:multiLvlStrCache>
            </c:multiLvlStrRef>
          </c:cat>
          <c:val>
            <c:numRef>
              <c:f>Sheet1!$B$2:$B$4</c:f>
              <c:numCache>
                <c:formatCode>General</c:formatCode>
                <c:ptCount val="3"/>
                <c:pt idx="0">
                  <c:v>1.95</c:v>
                </c:pt>
                <c:pt idx="1">
                  <c:v>9.77</c:v>
                </c:pt>
                <c:pt idx="2">
                  <c:v>88.25</c:v>
                </c:pt>
              </c:numCache>
            </c:numRef>
          </c:val>
        </c:ser>
        <c:ser>
          <c:idx val="1"/>
          <c:order val="1"/>
          <c:tx>
            <c:strRef>
              <c:f>Sheet1!$C$1</c:f>
              <c:strCache>
                <c:ptCount val="1"/>
                <c:pt idx="0">
                  <c:v>First-year ACV (after plan floor / discount)</c:v>
                </c:pt>
              </c:strCache>
            </c:strRef>
          </c:tx>
          <c:spPr>
            <a:solidFill>
              <a:srgbClr val="B5532A"/>
            </a:solidFill>
            <a:effectLst/>
          </c:spPr>
          <c:invertIfNegative val="0"/>
          <c:dLbls>
            <c:numFmt formatCode="&quot;$&quot;0.0&quot;K&quot;"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cat>
            <c:multiLvlStrRef>
              <c:f>Sheet1!$A$2:$A$4</c:f>
              <c:multiLvlStrCache>
                <c:ptCount val="3"/>
                <c:lvl>
                  <c:pt idx="0">
                    <c:v>SMB (20–99)</c:v>
                  </c:pt>
                  <c:pt idx="1">
                    <c:v>Mid-market (100–499)</c:v>
                  </c:pt>
                  <c:pt idx="2">
                    <c:v>Enterprise (500+)</c:v>
                  </c:pt>
                </c:lvl>
              </c:multiLvlStrCache>
            </c:multiLvlStrRef>
          </c:cat>
          <c:val>
            <c:numRef>
              <c:f>Sheet1!$C$2:$C$4</c:f>
              <c:numCache>
                <c:formatCode>General</c:formatCode>
                <c:ptCount val="3"/>
                <c:pt idx="0">
                  <c:v>5.35</c:v>
                </c:pt>
                <c:pt idx="1">
                  <c:v>9.77</c:v>
                </c:pt>
                <c:pt idx="2">
                  <c:v>61.78</c:v>
                </c:pt>
              </c:numCache>
            </c:numRef>
          </c:val>
        </c:ser>
        <c:dLbls>
          <c:numFmt formatCode="&quot;$&quot;0.0&quot;K&quot;"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3D4A5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D4A5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433"/>
                </a:solidFill>
                <a:latin typeface="+mn-lt"/>
              </a:defRPr>
            </a:pPr>
            <a:r>
              <a:rPr sz="1200" b="0" i="0" u="none" strike="noStrike">
                <a:solidFill>
                  <a:srgbClr val="1B2433"/>
                </a:solidFill>
                <a:latin typeface="+mn-lt"/>
              </a:rPr>
              <a:t>Weighted score by criterion, v2 (maximum 5.0)</a:t>
            </a:r>
          </a:p>
        </c:rich>
      </c:tx>
      <c:layout/>
      <c:overlay val="0"/>
    </c:title>
    <c:autoTitleDeleted val="0"/>
    <c:plotArea>
      <c:layout/>
      <c:barChart>
        <c:barDir val="bar"/>
        <c:grouping val="stacked"/>
        <c:varyColors val="0"/>
        <c:ser>
          <c:idx val="0"/>
          <c:order val="0"/>
          <c:tx>
            <c:strRef>
              <c:f>Sheet1!$B$1</c:f>
              <c:strCache>
                <c:ptCount val="1"/>
                <c:pt idx="0">
                  <c:v>Market attractiveness (20%)</c:v>
                </c:pt>
              </c:strCache>
            </c:strRef>
          </c:tx>
          <c:spPr>
            <a:solidFill>
              <a:srgbClr val="1B2433"/>
            </a:solidFill>
            <a:effectLst/>
          </c:spPr>
          <c:invertIfNegative val="0"/>
          <c:dLbls>
            <c:numFmt formatCode="#,##0" sourceLinked="0"/>
            <c:txPr>
              <a:bodyPr/>
              <a:lstStyle/>
              <a:p>
                <a:pPr>
                  <a:defRPr b="0" i="0" strike="noStrike" sz="1100" u="none">
                    <a:solidFill>
                      <a:srgbClr val="1B2433"/>
                    </a:solidFill>
                    <a:latin typeface="+mn-lt"/>
                  </a:defRPr>
                </a:pPr>
              </a:p>
            </c:txPr>
            <c:showLegendKey val="0"/>
            <c:showVal val="0"/>
            <c:showCatName val="0"/>
            <c:showSerName val="0"/>
            <c:showPercent val="0"/>
            <c:showBubbleSize val="0"/>
            <c:showLeaderLines val="0"/>
          </c:dLbls>
          <c:cat>
            <c:multiLvlStrRef>
              <c:f>Sheet1!$A$2:$A$4</c:f>
              <c:multiLvlStrCache>
                <c:ptCount val="3"/>
                <c:lvl>
                  <c:pt idx="0">
                    <c:v>Manufacturing · 2.9 (2.7–3.1)</c:v>
                  </c:pt>
                  <c:pt idx="1">
                    <c:v>Prof. services · 3.8 (3.6–4.1)</c:v>
                  </c:pt>
                  <c:pt idx="2">
                    <c:v>Distribution · 3.8 (3.5–4.1)</c:v>
                  </c:pt>
                </c:lvl>
              </c:multiLvlStrCache>
            </c:multiLvlStrRef>
          </c:cat>
          <c:val>
            <c:numRef>
              <c:f>Sheet1!$B$2:$B$4</c:f>
              <c:numCache>
                <c:formatCode>General</c:formatCode>
                <c:ptCount val="3"/>
                <c:pt idx="0">
                  <c:v>0.73</c:v>
                </c:pt>
                <c:pt idx="1">
                  <c:v>1</c:v>
                </c:pt>
                <c:pt idx="2">
                  <c:v>0.44</c:v>
                </c:pt>
              </c:numCache>
            </c:numRef>
          </c:val>
        </c:ser>
        <c:ser>
          <c:idx val="1"/>
          <c:order val="1"/>
          <c:tx>
            <c:strRef>
              <c:f>Sheet1!$C$1</c:f>
              <c:strCache>
                <c:ptCount val="1"/>
                <c:pt idx="0">
                  <c:v>Customer need (20%)</c:v>
                </c:pt>
              </c:strCache>
            </c:strRef>
          </c:tx>
          <c:spPr>
            <a:solidFill>
              <a:srgbClr val="5B6B82"/>
            </a:solidFill>
            <a:effectLst/>
          </c:spPr>
          <c:invertIfNegative val="0"/>
          <c:dLbls>
            <c:numFmt formatCode="#,##0" sourceLinked="0"/>
            <c:txPr>
              <a:bodyPr/>
              <a:lstStyle/>
              <a:p>
                <a:pPr>
                  <a:defRPr b="0" i="0" strike="noStrike" sz="1100" u="none">
                    <a:solidFill>
                      <a:srgbClr val="1B2433"/>
                    </a:solidFill>
                    <a:latin typeface="+mn-lt"/>
                  </a:defRPr>
                </a:pPr>
              </a:p>
            </c:txPr>
            <c:showLegendKey val="0"/>
            <c:showVal val="0"/>
            <c:showCatName val="0"/>
            <c:showSerName val="0"/>
            <c:showPercent val="0"/>
            <c:showBubbleSize val="0"/>
            <c:showLeaderLines val="0"/>
          </c:dLbls>
          <c:cat>
            <c:multiLvlStrRef>
              <c:f>Sheet1!$A$2:$A$4</c:f>
              <c:multiLvlStrCache>
                <c:ptCount val="3"/>
                <c:lvl>
                  <c:pt idx="0">
                    <c:v>Manufacturing · 2.9 (2.7–3.1)</c:v>
                  </c:pt>
                  <c:pt idx="1">
                    <c:v>Prof. services · 3.8 (3.6–4.1)</c:v>
                  </c:pt>
                  <c:pt idx="2">
                    <c:v>Distribution · 3.8 (3.5–4.1)</c:v>
                  </c:pt>
                </c:lvl>
              </c:multiLvlStrCache>
            </c:multiLvlStrRef>
          </c:cat>
          <c:val>
            <c:numRef>
              <c:f>Sheet1!$C$2:$C$4</c:f>
              <c:numCache>
                <c:formatCode>General</c:formatCode>
                <c:ptCount val="3"/>
                <c:pt idx="0">
                  <c:v>0.3</c:v>
                </c:pt>
                <c:pt idx="1">
                  <c:v>0.42</c:v>
                </c:pt>
                <c:pt idx="2">
                  <c:v>1</c:v>
                </c:pt>
              </c:numCache>
            </c:numRef>
          </c:val>
        </c:ser>
        <c:ser>
          <c:idx val="2"/>
          <c:order val="2"/>
          <c:tx>
            <c:strRef>
              <c:f>Sheet1!$D$1</c:f>
              <c:strCache>
                <c:ptCount val="1"/>
                <c:pt idx="0">
                  <c:v>Product-market fit (20%)</c:v>
                </c:pt>
              </c:strCache>
            </c:strRef>
          </c:tx>
          <c:spPr>
            <a:solidFill>
              <a:srgbClr val="A9B4C2"/>
            </a:solidFill>
            <a:effectLst/>
          </c:spPr>
          <c:invertIfNegative val="0"/>
          <c:dLbls>
            <c:numFmt formatCode="#,##0" sourceLinked="0"/>
            <c:txPr>
              <a:bodyPr/>
              <a:lstStyle/>
              <a:p>
                <a:pPr>
                  <a:defRPr b="0" i="0" strike="noStrike" sz="1100" u="none">
                    <a:solidFill>
                      <a:srgbClr val="1B2433"/>
                    </a:solidFill>
                    <a:latin typeface="+mn-lt"/>
                  </a:defRPr>
                </a:pPr>
              </a:p>
            </c:txPr>
            <c:showLegendKey val="0"/>
            <c:showVal val="0"/>
            <c:showCatName val="0"/>
            <c:showSerName val="0"/>
            <c:showPercent val="0"/>
            <c:showBubbleSize val="0"/>
            <c:showLeaderLines val="0"/>
          </c:dLbls>
          <c:cat>
            <c:multiLvlStrRef>
              <c:f>Sheet1!$A$2:$A$4</c:f>
              <c:multiLvlStrCache>
                <c:ptCount val="3"/>
                <c:lvl>
                  <c:pt idx="0">
                    <c:v>Manufacturing · 2.9 (2.7–3.1)</c:v>
                  </c:pt>
                  <c:pt idx="1">
                    <c:v>Prof. services · 3.8 (3.6–4.1)</c:v>
                  </c:pt>
                  <c:pt idx="2">
                    <c:v>Distribution · 3.8 (3.5–4.1)</c:v>
                  </c:pt>
                </c:lvl>
              </c:multiLvlStrCache>
            </c:multiLvlStrRef>
          </c:cat>
          <c:val>
            <c:numRef>
              <c:f>Sheet1!$D$2:$D$4</c:f>
              <c:numCache>
                <c:formatCode>General</c:formatCode>
                <c:ptCount val="3"/>
                <c:pt idx="0">
                  <c:v>0.6</c:v>
                </c:pt>
                <c:pt idx="1">
                  <c:v>1</c:v>
                </c:pt>
                <c:pt idx="2">
                  <c:v>0.8</c:v>
                </c:pt>
              </c:numCache>
            </c:numRef>
          </c:val>
        </c:ser>
        <c:ser>
          <c:idx val="3"/>
          <c:order val="3"/>
          <c:tx>
            <c:strRef>
              <c:f>Sheet1!$E$1</c:f>
              <c:strCache>
                <c:ptCount val="1"/>
                <c:pt idx="0">
                  <c:v>Revenue potential (15%)</c:v>
                </c:pt>
              </c:strCache>
            </c:strRef>
          </c:tx>
          <c:spPr>
            <a:solidFill>
              <a:srgbClr val="B5532A"/>
            </a:solidFill>
            <a:effectLst/>
          </c:spPr>
          <c:invertIfNegative val="0"/>
          <c:dLbls>
            <c:numFmt formatCode="#,##0" sourceLinked="0"/>
            <c:txPr>
              <a:bodyPr/>
              <a:lstStyle/>
              <a:p>
                <a:pPr>
                  <a:defRPr b="0" i="0" strike="noStrike" sz="1100" u="none">
                    <a:solidFill>
                      <a:srgbClr val="1B2433"/>
                    </a:solidFill>
                    <a:latin typeface="+mn-lt"/>
                  </a:defRPr>
                </a:pPr>
              </a:p>
            </c:txPr>
            <c:showLegendKey val="0"/>
            <c:showVal val="0"/>
            <c:showCatName val="0"/>
            <c:showSerName val="0"/>
            <c:showPercent val="0"/>
            <c:showBubbleSize val="0"/>
            <c:showLeaderLines val="0"/>
          </c:dLbls>
          <c:cat>
            <c:multiLvlStrRef>
              <c:f>Sheet1!$A$2:$A$4</c:f>
              <c:multiLvlStrCache>
                <c:ptCount val="3"/>
                <c:lvl>
                  <c:pt idx="0">
                    <c:v>Manufacturing · 2.9 (2.7–3.1)</c:v>
                  </c:pt>
                  <c:pt idx="1">
                    <c:v>Prof. services · 3.8 (3.6–4.1)</c:v>
                  </c:pt>
                  <c:pt idx="2">
                    <c:v>Distribution · 3.8 (3.5–4.1)</c:v>
                  </c:pt>
                </c:lvl>
              </c:multiLvlStrCache>
            </c:multiLvlStrRef>
          </c:cat>
          <c:val>
            <c:numRef>
              <c:f>Sheet1!$E$2:$E$4</c:f>
              <c:numCache>
                <c:formatCode>General</c:formatCode>
                <c:ptCount val="3"/>
                <c:pt idx="0">
                  <c:v>0.62</c:v>
                </c:pt>
                <c:pt idx="1">
                  <c:v>0.62</c:v>
                </c:pt>
                <c:pt idx="2">
                  <c:v>0.75</c:v>
                </c:pt>
              </c:numCache>
            </c:numRef>
          </c:val>
        </c:ser>
        <c:ser>
          <c:idx val="4"/>
          <c:order val="4"/>
          <c:tx>
            <c:strRef>
              <c:f>Sheet1!$F$1</c:f>
              <c:strCache>
                <c:ptCount val="1"/>
                <c:pt idx="0">
                  <c:v>Competitive position (15%)</c:v>
                </c:pt>
              </c:strCache>
            </c:strRef>
          </c:tx>
          <c:spPr>
            <a:solidFill>
              <a:srgbClr val="D9A48A"/>
            </a:solidFill>
            <a:effectLst/>
          </c:spPr>
          <c:invertIfNegative val="0"/>
          <c:dLbls>
            <c:numFmt formatCode="#,##0" sourceLinked="0"/>
            <c:txPr>
              <a:bodyPr/>
              <a:lstStyle/>
              <a:p>
                <a:pPr>
                  <a:defRPr b="0" i="0" strike="noStrike" sz="1100" u="none">
                    <a:solidFill>
                      <a:srgbClr val="1B2433"/>
                    </a:solidFill>
                    <a:latin typeface="+mn-lt"/>
                  </a:defRPr>
                </a:pPr>
              </a:p>
            </c:txPr>
            <c:showLegendKey val="0"/>
            <c:showVal val="0"/>
            <c:showCatName val="0"/>
            <c:showSerName val="0"/>
            <c:showPercent val="0"/>
            <c:showBubbleSize val="0"/>
            <c:showLeaderLines val="0"/>
          </c:dLbls>
          <c:cat>
            <c:multiLvlStrRef>
              <c:f>Sheet1!$A$2:$A$4</c:f>
              <c:multiLvlStrCache>
                <c:ptCount val="3"/>
                <c:lvl>
                  <c:pt idx="0">
                    <c:v>Manufacturing · 2.9 (2.7–3.1)</c:v>
                  </c:pt>
                  <c:pt idx="1">
                    <c:v>Prof. services · 3.8 (3.6–4.1)</c:v>
                  </c:pt>
                  <c:pt idx="2">
                    <c:v>Distribution · 3.8 (3.5–4.1)</c:v>
                  </c:pt>
                </c:lvl>
              </c:multiLvlStrCache>
            </c:multiLvlStrRef>
          </c:cat>
          <c:val>
            <c:numRef>
              <c:f>Sheet1!$F$2:$F$4</c:f>
              <c:numCache>
                <c:formatCode>General</c:formatCode>
                <c:ptCount val="3"/>
                <c:pt idx="0">
                  <c:v>0.5</c:v>
                </c:pt>
                <c:pt idx="1">
                  <c:v>0.35</c:v>
                </c:pt>
                <c:pt idx="2">
                  <c:v>0.6</c:v>
                </c:pt>
              </c:numCache>
            </c:numRef>
          </c:val>
        </c:ser>
        <c:ser>
          <c:idx val="5"/>
          <c:order val="5"/>
          <c:tx>
            <c:strRef>
              <c:f>Sheet1!$G$1</c:f>
              <c:strCache>
                <c:ptCount val="1"/>
                <c:pt idx="0">
                  <c:v>Ease of execution (10%)</c:v>
                </c:pt>
              </c:strCache>
            </c:strRef>
          </c:tx>
          <c:spPr>
            <a:solidFill>
              <a:srgbClr val="7E9C8F"/>
            </a:solidFill>
            <a:effectLst/>
          </c:spPr>
          <c:invertIfNegative val="0"/>
          <c:dLbls>
            <c:numFmt formatCode="#,##0" sourceLinked="0"/>
            <c:txPr>
              <a:bodyPr/>
              <a:lstStyle/>
              <a:p>
                <a:pPr>
                  <a:defRPr b="0" i="0" strike="noStrike" sz="1100" u="none">
                    <a:solidFill>
                      <a:srgbClr val="1B2433"/>
                    </a:solidFill>
                    <a:latin typeface="+mn-lt"/>
                  </a:defRPr>
                </a:pPr>
              </a:p>
            </c:txPr>
            <c:showLegendKey val="0"/>
            <c:showVal val="0"/>
            <c:showCatName val="0"/>
            <c:showSerName val="0"/>
            <c:showPercent val="0"/>
            <c:showBubbleSize val="0"/>
            <c:showLeaderLines val="0"/>
          </c:dLbls>
          <c:cat>
            <c:multiLvlStrRef>
              <c:f>Sheet1!$A$2:$A$4</c:f>
              <c:multiLvlStrCache>
                <c:ptCount val="3"/>
                <c:lvl>
                  <c:pt idx="0">
                    <c:v>Manufacturing · 2.9 (2.7–3.1)</c:v>
                  </c:pt>
                  <c:pt idx="1">
                    <c:v>Prof. services · 3.8 (3.6–4.1)</c:v>
                  </c:pt>
                  <c:pt idx="2">
                    <c:v>Distribution · 3.8 (3.5–4.1)</c:v>
                  </c:pt>
                </c:lvl>
              </c:multiLvlStrCache>
            </c:multiLvlStrRef>
          </c:cat>
          <c:val>
            <c:numRef>
              <c:f>Sheet1!$G$2:$G$4</c:f>
              <c:numCache>
                <c:formatCode>General</c:formatCode>
                <c:ptCount val="3"/>
                <c:pt idx="0">
                  <c:v>0.15</c:v>
                </c:pt>
                <c:pt idx="1">
                  <c:v>0.45</c:v>
                </c:pt>
                <c:pt idx="2">
                  <c:v>0.2</c:v>
                </c:pt>
              </c:numCache>
            </c:numRef>
          </c:val>
        </c:ser>
        <c:dLbls>
          <c:numFmt formatCode="#,##0" sourceLinked="0"/>
          <c:txPr>
            <a:bodyPr/>
            <a:lstStyle/>
            <a:p>
              <a:pPr>
                <a:defRPr b="0" i="0" strike="noStrike" sz="1100" u="none">
                  <a:solidFill>
                    <a:srgbClr val="1B2433"/>
                  </a:solidFill>
                  <a:latin typeface="+mn-lt"/>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b"/>
        <c:majorGridlines>
          <c:spPr>
            <a:ln w="9525" cap="flat">
              <a:solidFill>
                <a:srgbClr val="E3E7EC"/>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3D4A5C"/>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100">
              <a:solidFill>
                <a:srgbClr val="3D4A5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433"/>
                </a:solidFill>
                <a:latin typeface="+mn-lt"/>
              </a:defRPr>
            </a:pPr>
            <a:r>
              <a:rPr sz="1200" b="0" i="0" u="none" strike="noStrike">
                <a:solidFill>
                  <a:srgbClr val="1B2433"/>
                </a:solidFill>
                <a:latin typeface="+mn-lt"/>
              </a:rPr>
              <a:t>NPV at 12% by option ($M)</a:t>
            </a:r>
          </a:p>
        </c:rich>
      </c:tx>
      <c:layout/>
      <c:overlay val="0"/>
    </c:title>
    <c:autoTitleDeleted val="0"/>
    <c:plotArea>
      <c:layout/>
      <c:barChart>
        <c:barDir val="col"/>
        <c:grouping val="clustered"/>
        <c:varyColors val="0"/>
        <c:ser>
          <c:idx val="0"/>
          <c:order val="0"/>
          <c:tx>
            <c:strRef>
              <c:f>Sheet1!$B$1</c:f>
              <c:strCache>
                <c:ptCount val="1"/>
                <c:pt idx="0">
                  <c:v>Base NPV</c:v>
                </c:pt>
              </c:strCache>
            </c:strRef>
          </c:tx>
          <c:spPr>
            <a:solidFill>
              <a:srgbClr val="5B6B82"/>
            </a:solidFill>
            <a:effectLst/>
          </c:spPr>
          <c:invertIfNegative val="0"/>
          <c:dLbls>
            <c:numFmt formatCode="0.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cat>
            <c:multiLvlStrRef>
              <c:f>Sheet1!$A$2:$A$7</c:f>
              <c:multiLvlStrCache>
                <c:ptCount val="6"/>
                <c:lvl>
                  <c:pt idx="0">
                    <c:v>Dist · lean pilot</c:v>
                  </c:pt>
                  <c:pt idx="1">
                    <c:v>Dist · sales-led team</c:v>
                  </c:pt>
                  <c:pt idx="2">
                    <c:v>Dist · solution play</c:v>
                  </c:pt>
                  <c:pt idx="3">
                    <c:v>PS · lean pilot</c:v>
                  </c:pt>
                  <c:pt idx="4">
                    <c:v>PS · sales-led team</c:v>
                  </c:pt>
                  <c:pt idx="5">
                    <c:v>PS · solution play</c:v>
                  </c:pt>
                </c:lvl>
              </c:multiLvlStrCache>
            </c:multiLvlStrRef>
          </c:cat>
          <c:val>
            <c:numRef>
              <c:f>Sheet1!$B$2:$B$7</c:f>
              <c:numCache>
                <c:formatCode>General</c:formatCode>
                <c:ptCount val="6"/>
                <c:pt idx="0">
                  <c:v>-1.89</c:v>
                </c:pt>
                <c:pt idx="1">
                  <c:v>-5.44</c:v>
                </c:pt>
                <c:pt idx="2">
                  <c:v>-0.54</c:v>
                </c:pt>
                <c:pt idx="3">
                  <c:v>-2.04</c:v>
                </c:pt>
                <c:pt idx="4">
                  <c:v>-5.73</c:v>
                </c:pt>
                <c:pt idx="5">
                  <c:v>-0.62</c:v>
                </c:pt>
              </c:numCache>
            </c:numRef>
          </c:val>
        </c:ser>
        <c:ser>
          <c:idx val="1"/>
          <c:order val="1"/>
          <c:tx>
            <c:strRef>
              <c:f>Sheet1!$C$1</c:f>
              <c:strCache>
                <c:ptCount val="1"/>
                <c:pt idx="0">
                  <c:v>Upside NPV</c:v>
                </c:pt>
              </c:strCache>
            </c:strRef>
          </c:tx>
          <c:spPr>
            <a:solidFill>
              <a:srgbClr val="B5532A"/>
            </a:solidFill>
            <a:effectLst/>
          </c:spPr>
          <c:invertIfNegative val="0"/>
          <c:dLbls>
            <c:numFmt formatCode="0.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cat>
            <c:multiLvlStrRef>
              <c:f>Sheet1!$A$2:$A$7</c:f>
              <c:multiLvlStrCache>
                <c:ptCount val="6"/>
                <c:lvl>
                  <c:pt idx="0">
                    <c:v>Dist · lean pilot</c:v>
                  </c:pt>
                  <c:pt idx="1">
                    <c:v>Dist · sales-led team</c:v>
                  </c:pt>
                  <c:pt idx="2">
                    <c:v>Dist · solution play</c:v>
                  </c:pt>
                  <c:pt idx="3">
                    <c:v>PS · lean pilot</c:v>
                  </c:pt>
                  <c:pt idx="4">
                    <c:v>PS · sales-led team</c:v>
                  </c:pt>
                  <c:pt idx="5">
                    <c:v>PS · solution play</c:v>
                  </c:pt>
                </c:lvl>
              </c:multiLvlStrCache>
            </c:multiLvlStrRef>
          </c:cat>
          <c:val>
            <c:numRef>
              <c:f>Sheet1!$C$2:$C$7</c:f>
              <c:numCache>
                <c:formatCode>General</c:formatCode>
                <c:ptCount val="6"/>
                <c:pt idx="0">
                  <c:v>1.53</c:v>
                </c:pt>
                <c:pt idx="1">
                  <c:v>0.82</c:v>
                </c:pt>
                <c:pt idx="2">
                  <c:v>1.11</c:v>
                </c:pt>
                <c:pt idx="3">
                  <c:v>-0.25</c:v>
                </c:pt>
                <c:pt idx="4">
                  <c:v>-2.87</c:v>
                </c:pt>
                <c:pt idx="5">
                  <c:v>0.22</c:v>
                </c:pt>
              </c:numCache>
            </c:numRef>
          </c:val>
        </c:ser>
        <c:dLbls>
          <c:numFmt formatCode="0.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7EC"/>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3D4A5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D4A5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433"/>
                </a:solidFill>
                <a:latin typeface="+mn-lt"/>
              </a:defRPr>
            </a:pPr>
            <a:r>
              <a:rPr sz="1200" b="0" i="0" u="none" strike="noStrike">
                <a:solidFill>
                  <a:srgbClr val="1B2433"/>
                </a:solidFill>
                <a:latin typeface="+mn-lt"/>
              </a:rPr>
              <a:t>Simulated NPV, distribution — share of draws by $0.25M bin (NPV, $M)</a:t>
            </a:r>
          </a:p>
        </c:rich>
      </c:tx>
      <c:layout/>
      <c:overlay val="0"/>
    </c:title>
    <c:autoTitleDeleted val="0"/>
    <c:plotArea>
      <c:layout/>
      <c:barChart>
        <c:barDir val="col"/>
        <c:grouping val="clustered"/>
        <c:varyColors val="0"/>
        <c:ser>
          <c:idx val="0"/>
          <c:order val="0"/>
          <c:tx>
            <c:strRef>
              <c:f>Sheet1!$B$1</c:f>
              <c:strCache>
                <c:ptCount val="1"/>
                <c:pt idx="0">
                  <c:v>Sales-led team</c:v>
                </c:pt>
              </c:strCache>
            </c:strRef>
          </c:tx>
          <c:spPr>
            <a:solidFill>
              <a:srgbClr val="A9B4C2"/>
            </a:solidFill>
            <a:effectLst/>
          </c:spPr>
          <c:invertIfNegative val="0"/>
          <c:dLbls>
            <c:numFmt formatCode="#,##0" sourceLinked="0"/>
            <c:txPr>
              <a:bodyPr/>
              <a:lstStyle/>
              <a:p>
                <a:pPr>
                  <a:defRPr b="0" i="0" strike="noStrike" sz="1100" u="none">
                    <a:solidFill>
                      <a:srgbClr val="1B2433"/>
                    </a:solidFill>
                    <a:latin typeface="+mn-lt"/>
                  </a:defRPr>
                </a:pPr>
              </a:p>
            </c:txPr>
            <c:showLegendKey val="0"/>
            <c:showVal val="0"/>
            <c:showCatName val="0"/>
            <c:showSerName val="0"/>
            <c:showPercent val="0"/>
            <c:showBubbleSize val="0"/>
            <c:showLeaderLines val="0"/>
          </c:dLbls>
          <c:cat>
            <c:multiLvlStrRef>
              <c:f>Sheet1!$A$2:$A$26</c:f>
              <c:multiLvlStrCache>
                <c:ptCount val="25"/>
                <c:lvl>
                  <c:pt idx="0">
                    <c:v>-6.0</c:v>
                  </c:pt>
                  <c:pt idx="1">
                    <c:v>-5.8</c:v>
                  </c:pt>
                  <c:pt idx="2">
                    <c:v>-5.5</c:v>
                  </c:pt>
                  <c:pt idx="3">
                    <c:v>-5.3</c:v>
                  </c:pt>
                  <c:pt idx="4">
                    <c:v>-5.0</c:v>
                  </c:pt>
                  <c:pt idx="5">
                    <c:v>-4.8</c:v>
                  </c:pt>
                  <c:pt idx="6">
                    <c:v>-4.5</c:v>
                  </c:pt>
                  <c:pt idx="7">
                    <c:v>-4.3</c:v>
                  </c:pt>
                  <c:pt idx="8">
                    <c:v>-4.0</c:v>
                  </c:pt>
                  <c:pt idx="9">
                    <c:v>-3.8</c:v>
                  </c:pt>
                  <c:pt idx="10">
                    <c:v>-3.5</c:v>
                  </c:pt>
                  <c:pt idx="11">
                    <c:v>-3.3</c:v>
                  </c:pt>
                  <c:pt idx="12">
                    <c:v>-3.0</c:v>
                  </c:pt>
                  <c:pt idx="13">
                    <c:v>-2.8</c:v>
                  </c:pt>
                  <c:pt idx="14">
                    <c:v>-2.5</c:v>
                  </c:pt>
                  <c:pt idx="15">
                    <c:v>-2.3</c:v>
                  </c:pt>
                  <c:pt idx="16">
                    <c:v>-2.0</c:v>
                  </c:pt>
                  <c:pt idx="17">
                    <c:v>-1.8</c:v>
                  </c:pt>
                  <c:pt idx="18">
                    <c:v>-1.5</c:v>
                  </c:pt>
                  <c:pt idx="19">
                    <c:v>-1.3</c:v>
                  </c:pt>
                  <c:pt idx="20">
                    <c:v>-1.0</c:v>
                  </c:pt>
                  <c:pt idx="21">
                    <c:v>-0.8</c:v>
                  </c:pt>
                  <c:pt idx="22">
                    <c:v>-0.5</c:v>
                  </c:pt>
                  <c:pt idx="23">
                    <c:v>-0.3</c:v>
                  </c:pt>
                  <c:pt idx="24">
                    <c:v>0.0</c:v>
                  </c:pt>
                </c:lvl>
              </c:multiLvlStrCache>
            </c:multiLvlStrRef>
          </c:cat>
          <c:val>
            <c:numRef>
              <c:f>Sheet1!$B$2:$B$26</c:f>
              <c:numCache>
                <c:formatCode>General</c:formatCode>
                <c:ptCount val="25"/>
                <c:pt idx="0">
                  <c:v>0.0908</c:v>
                </c:pt>
                <c:pt idx="1">
                  <c:v>0.2934</c:v>
                </c:pt>
                <c:pt idx="2">
                  <c:v>0.265</c:v>
                </c:pt>
                <c:pt idx="3">
                  <c:v>0.166</c:v>
                </c:pt>
                <c:pt idx="4">
                  <c:v>0.0914</c:v>
                </c:pt>
                <c:pt idx="5">
                  <c:v>0.0462</c:v>
                </c:pt>
                <c:pt idx="6">
                  <c:v>0.025</c:v>
                </c:pt>
                <c:pt idx="7">
                  <c:v>0.0132</c:v>
                </c:pt>
                <c:pt idx="8">
                  <c:v>0.006</c:v>
                </c:pt>
                <c:pt idx="9">
                  <c:v>0.0016</c:v>
                </c:pt>
                <c:pt idx="10">
                  <c:v>0.0012</c:v>
                </c:pt>
                <c:pt idx="11">
                  <c:v>0.0002</c:v>
                </c:pt>
                <c:pt idx="12">
                  <c:v>0</c:v>
                </c:pt>
                <c:pt idx="13">
                  <c:v>0</c:v>
                </c:pt>
                <c:pt idx="14">
                  <c:v>0</c:v>
                </c:pt>
                <c:pt idx="15">
                  <c:v>0</c:v>
                </c:pt>
                <c:pt idx="16">
                  <c:v>0</c:v>
                </c:pt>
                <c:pt idx="17">
                  <c:v>0</c:v>
                </c:pt>
                <c:pt idx="18">
                  <c:v>0</c:v>
                </c:pt>
                <c:pt idx="19">
                  <c:v>0</c:v>
                </c:pt>
                <c:pt idx="20">
                  <c:v>0</c:v>
                </c:pt>
                <c:pt idx="21">
                  <c:v>0</c:v>
                </c:pt>
                <c:pt idx="22">
                  <c:v>0</c:v>
                </c:pt>
                <c:pt idx="23">
                  <c:v>0</c:v>
                </c:pt>
                <c:pt idx="24">
                  <c:v>0</c:v>
                </c:pt>
              </c:numCache>
            </c:numRef>
          </c:val>
        </c:ser>
        <c:ser>
          <c:idx val="1"/>
          <c:order val="1"/>
          <c:tx>
            <c:strRef>
              <c:f>Sheet1!$C$1</c:f>
              <c:strCache>
                <c:ptCount val="1"/>
                <c:pt idx="0">
                  <c:v>Lean pilot, staged</c:v>
                </c:pt>
              </c:strCache>
            </c:strRef>
          </c:tx>
          <c:spPr>
            <a:solidFill>
              <a:srgbClr val="5B6B82"/>
            </a:solidFill>
            <a:effectLst/>
          </c:spPr>
          <c:invertIfNegative val="0"/>
          <c:dLbls>
            <c:numFmt formatCode="#,##0" sourceLinked="0"/>
            <c:txPr>
              <a:bodyPr/>
              <a:lstStyle/>
              <a:p>
                <a:pPr>
                  <a:defRPr b="0" i="0" strike="noStrike" sz="1100" u="none">
                    <a:solidFill>
                      <a:srgbClr val="1B2433"/>
                    </a:solidFill>
                    <a:latin typeface="+mn-lt"/>
                  </a:defRPr>
                </a:pPr>
              </a:p>
            </c:txPr>
            <c:showLegendKey val="0"/>
            <c:showVal val="0"/>
            <c:showCatName val="0"/>
            <c:showSerName val="0"/>
            <c:showPercent val="0"/>
            <c:showBubbleSize val="0"/>
            <c:showLeaderLines val="0"/>
          </c:dLbls>
          <c:cat>
            <c:multiLvlStrRef>
              <c:f>Sheet1!$A$2:$A$26</c:f>
              <c:multiLvlStrCache>
                <c:ptCount val="25"/>
                <c:lvl>
                  <c:pt idx="0">
                    <c:v>-6.0</c:v>
                  </c:pt>
                  <c:pt idx="1">
                    <c:v>-5.8</c:v>
                  </c:pt>
                  <c:pt idx="2">
                    <c:v>-5.5</c:v>
                  </c:pt>
                  <c:pt idx="3">
                    <c:v>-5.3</c:v>
                  </c:pt>
                  <c:pt idx="4">
                    <c:v>-5.0</c:v>
                  </c:pt>
                  <c:pt idx="5">
                    <c:v>-4.8</c:v>
                  </c:pt>
                  <c:pt idx="6">
                    <c:v>-4.5</c:v>
                  </c:pt>
                  <c:pt idx="7">
                    <c:v>-4.3</c:v>
                  </c:pt>
                  <c:pt idx="8">
                    <c:v>-4.0</c:v>
                  </c:pt>
                  <c:pt idx="9">
                    <c:v>-3.8</c:v>
                  </c:pt>
                  <c:pt idx="10">
                    <c:v>-3.5</c:v>
                  </c:pt>
                  <c:pt idx="11">
                    <c:v>-3.3</c:v>
                  </c:pt>
                  <c:pt idx="12">
                    <c:v>-3.0</c:v>
                  </c:pt>
                  <c:pt idx="13">
                    <c:v>-2.8</c:v>
                  </c:pt>
                  <c:pt idx="14">
                    <c:v>-2.5</c:v>
                  </c:pt>
                  <c:pt idx="15">
                    <c:v>-2.3</c:v>
                  </c:pt>
                  <c:pt idx="16">
                    <c:v>-2.0</c:v>
                  </c:pt>
                  <c:pt idx="17">
                    <c:v>-1.8</c:v>
                  </c:pt>
                  <c:pt idx="18">
                    <c:v>-1.5</c:v>
                  </c:pt>
                  <c:pt idx="19">
                    <c:v>-1.3</c:v>
                  </c:pt>
                  <c:pt idx="20">
                    <c:v>-1.0</c:v>
                  </c:pt>
                  <c:pt idx="21">
                    <c:v>-0.8</c:v>
                  </c:pt>
                  <c:pt idx="22">
                    <c:v>-0.5</c:v>
                  </c:pt>
                  <c:pt idx="23">
                    <c:v>-0.3</c:v>
                  </c:pt>
                  <c:pt idx="24">
                    <c:v>0.0</c:v>
                  </c:pt>
                </c:lvl>
              </c:multiLvlStrCache>
            </c:multiLvlStrRef>
          </c:cat>
          <c:val>
            <c:numRef>
              <c:f>Sheet1!$C$2:$C$26</c:f>
              <c:numCache>
                <c:formatCode>General</c:formatCode>
                <c:ptCount val="25"/>
                <c:pt idx="0">
                  <c:v>0</c:v>
                </c:pt>
                <c:pt idx="1">
                  <c:v>0</c:v>
                </c:pt>
                <c:pt idx="2">
                  <c:v>0</c:v>
                </c:pt>
                <c:pt idx="3">
                  <c:v>0</c:v>
                </c:pt>
                <c:pt idx="4">
                  <c:v>0</c:v>
                </c:pt>
                <c:pt idx="5">
                  <c:v>0</c:v>
                </c:pt>
                <c:pt idx="6">
                  <c:v>0</c:v>
                </c:pt>
                <c:pt idx="7">
                  <c:v>0</c:v>
                </c:pt>
                <c:pt idx="8">
                  <c:v>0</c:v>
                </c:pt>
                <c:pt idx="9">
                  <c:v>0</c:v>
                </c:pt>
                <c:pt idx="10">
                  <c:v>0</c:v>
                </c:pt>
                <c:pt idx="11">
                  <c:v>0</c:v>
                </c:pt>
                <c:pt idx="12">
                  <c:v>0</c:v>
                </c:pt>
                <c:pt idx="13">
                  <c:v>0.0014</c:v>
                </c:pt>
                <c:pt idx="14">
                  <c:v>0.0022</c:v>
                </c:pt>
                <c:pt idx="15">
                  <c:v>0.0716</c:v>
                </c:pt>
                <c:pt idx="16">
                  <c:v>0.3646</c:v>
                </c:pt>
                <c:pt idx="17">
                  <c:v>0.163</c:v>
                </c:pt>
                <c:pt idx="18">
                  <c:v>0.047</c:v>
                </c:pt>
                <c:pt idx="19">
                  <c:v>0.0106</c:v>
                </c:pt>
                <c:pt idx="20">
                  <c:v>0.3382</c:v>
                </c:pt>
                <c:pt idx="21">
                  <c:v>0.0014</c:v>
                </c:pt>
                <c:pt idx="22">
                  <c:v>0</c:v>
                </c:pt>
                <c:pt idx="23">
                  <c:v>0</c:v>
                </c:pt>
                <c:pt idx="24">
                  <c:v>0</c:v>
                </c:pt>
              </c:numCache>
            </c:numRef>
          </c:val>
        </c:ser>
        <c:ser>
          <c:idx val="2"/>
          <c:order val="2"/>
          <c:tx>
            <c:strRef>
              <c:f>Sheet1!$D$1</c:f>
              <c:strCache>
                <c:ptCount val="1"/>
                <c:pt idx="0">
                  <c:v>Solution play</c:v>
                </c:pt>
              </c:strCache>
            </c:strRef>
          </c:tx>
          <c:spPr>
            <a:solidFill>
              <a:srgbClr val="B5532A"/>
            </a:solidFill>
            <a:effectLst/>
          </c:spPr>
          <c:invertIfNegative val="0"/>
          <c:dLbls>
            <c:numFmt formatCode="#,##0" sourceLinked="0"/>
            <c:txPr>
              <a:bodyPr/>
              <a:lstStyle/>
              <a:p>
                <a:pPr>
                  <a:defRPr b="0" i="0" strike="noStrike" sz="1100" u="none">
                    <a:solidFill>
                      <a:srgbClr val="1B2433"/>
                    </a:solidFill>
                    <a:latin typeface="+mn-lt"/>
                  </a:defRPr>
                </a:pPr>
              </a:p>
            </c:txPr>
            <c:showLegendKey val="0"/>
            <c:showVal val="0"/>
            <c:showCatName val="0"/>
            <c:showSerName val="0"/>
            <c:showPercent val="0"/>
            <c:showBubbleSize val="0"/>
            <c:showLeaderLines val="0"/>
          </c:dLbls>
          <c:cat>
            <c:multiLvlStrRef>
              <c:f>Sheet1!$A$2:$A$26</c:f>
              <c:multiLvlStrCache>
                <c:ptCount val="25"/>
                <c:lvl>
                  <c:pt idx="0">
                    <c:v>-6.0</c:v>
                  </c:pt>
                  <c:pt idx="1">
                    <c:v>-5.8</c:v>
                  </c:pt>
                  <c:pt idx="2">
                    <c:v>-5.5</c:v>
                  </c:pt>
                  <c:pt idx="3">
                    <c:v>-5.3</c:v>
                  </c:pt>
                  <c:pt idx="4">
                    <c:v>-5.0</c:v>
                  </c:pt>
                  <c:pt idx="5">
                    <c:v>-4.8</c:v>
                  </c:pt>
                  <c:pt idx="6">
                    <c:v>-4.5</c:v>
                  </c:pt>
                  <c:pt idx="7">
                    <c:v>-4.3</c:v>
                  </c:pt>
                  <c:pt idx="8">
                    <c:v>-4.0</c:v>
                  </c:pt>
                  <c:pt idx="9">
                    <c:v>-3.8</c:v>
                  </c:pt>
                  <c:pt idx="10">
                    <c:v>-3.5</c:v>
                  </c:pt>
                  <c:pt idx="11">
                    <c:v>-3.3</c:v>
                  </c:pt>
                  <c:pt idx="12">
                    <c:v>-3.0</c:v>
                  </c:pt>
                  <c:pt idx="13">
                    <c:v>-2.8</c:v>
                  </c:pt>
                  <c:pt idx="14">
                    <c:v>-2.5</c:v>
                  </c:pt>
                  <c:pt idx="15">
                    <c:v>-2.3</c:v>
                  </c:pt>
                  <c:pt idx="16">
                    <c:v>-2.0</c:v>
                  </c:pt>
                  <c:pt idx="17">
                    <c:v>-1.8</c:v>
                  </c:pt>
                  <c:pt idx="18">
                    <c:v>-1.5</c:v>
                  </c:pt>
                  <c:pt idx="19">
                    <c:v>-1.3</c:v>
                  </c:pt>
                  <c:pt idx="20">
                    <c:v>-1.0</c:v>
                  </c:pt>
                  <c:pt idx="21">
                    <c:v>-0.8</c:v>
                  </c:pt>
                  <c:pt idx="22">
                    <c:v>-0.5</c:v>
                  </c:pt>
                  <c:pt idx="23">
                    <c:v>-0.3</c:v>
                  </c:pt>
                  <c:pt idx="24">
                    <c:v>0.0</c:v>
                  </c:pt>
                </c:lvl>
              </c:multiLvlStrCache>
            </c:multiLvlStrRef>
          </c:cat>
          <c:val>
            <c:numRef>
              <c:f>Sheet1!$D$2:$D$26</c:f>
              <c:numCache>
                <c:formatCode>General</c:formatCode>
                <c:ptCount val="25"/>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0.6474</c:v>
                </c:pt>
                <c:pt idx="22">
                  <c:v>0.335</c:v>
                </c:pt>
                <c:pt idx="23">
                  <c:v>0.0174</c:v>
                </c:pt>
                <c:pt idx="24">
                  <c:v>0.0002</c:v>
                </c:pt>
              </c:numCache>
            </c:numRef>
          </c:val>
        </c:ser>
        <c:dLbls>
          <c:numFmt formatCode="#,##0" sourceLinked="0"/>
          <c:txPr>
            <a:bodyPr/>
            <a:lstStyle/>
            <a:p>
              <a:pPr>
                <a:defRPr b="0" i="0" strike="noStrike" sz="1100" u="none">
                  <a:solidFill>
                    <a:srgbClr val="1B2433"/>
                  </a:solidFill>
                  <a:latin typeface="+mn-lt"/>
                </a:defRPr>
              </a:pPr>
            </a:p>
          </c:txPr>
          <c:showLegendKey val="0"/>
          <c:showVal val="0"/>
          <c:showCatName val="0"/>
          <c:showSerName val="0"/>
          <c:showPercent val="0"/>
          <c:showBubbleSize val="0"/>
          <c:showLeaderLines val="0"/>
        </c:dLbls>
        <c:gapWidth val="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7EC"/>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3D4A5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D4A5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433"/>
                </a:solidFill>
                <a:latin typeface="+mn-lt"/>
              </a:defRPr>
            </a:pPr>
            <a:r>
              <a:rPr sz="1200" b="0" i="0" u="none" strike="noStrike">
                <a:solidFill>
                  <a:srgbClr val="1B2433"/>
                </a:solidFill>
                <a:latin typeface="+mn-lt"/>
              </a:rPr>
              <a:t>Industrial distribution (NAICS 4235–4238), firms with 20+ employees: from establishments to the program's market</a:t>
            </a:r>
          </a:p>
        </c:rich>
      </c:tx>
      <c:layout/>
      <c:overlay val="0"/>
    </c:title>
    <c:autoTitleDeleted val="0"/>
    <c:plotArea>
      <c:layout/>
      <c:barChart>
        <c:barDir val="col"/>
        <c:grouping val="clustered"/>
        <c:varyColors val="0"/>
        <c:ser>
          <c:idx val="0"/>
          <c:order val="0"/>
          <c:tx>
            <c:strRef>
              <c:f>Sheet1!$B$1</c:f>
              <c:strCache>
                <c:ptCount val="1"/>
                <c:pt idx="0">
                  <c:v>Distribution buyer universe</c:v>
                </c:pt>
              </c:strCache>
            </c:strRef>
          </c:tx>
          <c:spPr>
            <a:solidFill>
              <a:srgbClr val="A9B4C2"/>
            </a:solidFill>
            <a:effectLst/>
          </c:spPr>
          <c:invertIfNegative val="0"/>
          <c:dLbls>
            <c:numFmt formatCode="#,##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dPt>
            <c:idx val="0"/>
            <c:invertIfNegative val="0"/>
            <c:bubble3D val="0"/>
            <c:spPr>
              <a:solidFill>
                <a:srgbClr val="A9B4C2"/>
              </a:solidFill>
              <a:effectLst/>
            </c:spPr>
          </c:dPt>
          <c:dPt>
            <c:idx val="1"/>
            <c:invertIfNegative val="0"/>
            <c:bubble3D val="0"/>
            <c:spPr>
              <a:solidFill>
                <a:srgbClr val="5B6B82"/>
              </a:solidFill>
              <a:effectLst/>
            </c:spPr>
          </c:dPt>
          <c:dPt>
            <c:idx val="2"/>
            <c:invertIfNegative val="0"/>
            <c:bubble3D val="0"/>
            <c:spPr>
              <a:solidFill>
                <a:srgbClr val="5B6B82"/>
              </a:solidFill>
              <a:effectLst/>
            </c:spPr>
          </c:dPt>
          <c:dPt>
            <c:idx val="3"/>
            <c:invertIfNegative val="0"/>
            <c:bubble3D val="0"/>
            <c:spPr>
              <a:solidFill>
                <a:srgbClr val="B5532A"/>
              </a:solidFill>
              <a:effectLst/>
            </c:spPr>
          </c:dPt>
          <c:cat>
            <c:multiLvlStrRef>
              <c:f>Sheet1!$A$2:$A$5</c:f>
              <c:multiLvlStrCache>
                <c:ptCount val="4"/>
                <c:lvl>
                  <c:pt idx="0">
                    <c:v>Establishments of 20+ employee firms</c:v>
                  </c:pt>
                  <c:pt idx="1">
                    <c:v>Unique firms, 20+ employees</c:v>
                  </c:pt>
                  <c:pt idx="2">
                    <c:v>SAM firms (4235–4238)</c:v>
                  </c:pt>
                  <c:pt idx="3">
                    <c:v>Program SAM (4236–4238, excl. Clay customers)</c:v>
                  </c:pt>
                </c:lvl>
              </c:multiLvlStrCache>
            </c:multiLvlStrRef>
          </c:cat>
          <c:val>
            <c:numRef>
              <c:f>Sheet1!$B$2:$B$5</c:f>
              <c:numCache>
                <c:formatCode>General</c:formatCode>
                <c:ptCount val="4"/>
                <c:pt idx="0">
                  <c:v>50790</c:v>
                </c:pt>
                <c:pt idx="1">
                  <c:v>11494</c:v>
                </c:pt>
                <c:pt idx="2">
                  <c:v>5149</c:v>
                </c:pt>
                <c:pt idx="3">
                  <c:v>4452</c:v>
                </c:pt>
              </c:numCache>
            </c:numRef>
          </c:val>
        </c:ser>
        <c:dLbls>
          <c:numFmt formatCode="#,##0"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3D4A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433"/>
                </a:solidFill>
                <a:latin typeface="+mn-lt"/>
              </a:defRPr>
            </a:pPr>
            <a:r>
              <a:rPr sz="1200" b="0" i="0" u="none" strike="noStrike">
                <a:solidFill>
                  <a:srgbClr val="1B2433"/>
                </a:solidFill>
                <a:latin typeface="+mn-lt"/>
              </a:rPr>
              <a:t>Swing in NPV, low ↔ high value of one input ($M; Base = −$1.89M)</a:t>
            </a:r>
          </a:p>
        </c:rich>
      </c:tx>
      <c:layout/>
      <c:overlay val="0"/>
    </c:title>
    <c:autoTitleDeleted val="0"/>
    <c:plotArea>
      <c:layout/>
      <c:barChart>
        <c:barDir val="bar"/>
        <c:grouping val="clustered"/>
        <c:varyColors val="0"/>
        <c:ser>
          <c:idx val="0"/>
          <c:order val="0"/>
          <c:tx>
            <c:strRef>
              <c:f>Sheet1!$B$1</c:f>
              <c:strCache>
                <c:ptCount val="1"/>
                <c:pt idx="0">
                  <c:v>Swing</c:v>
                </c:pt>
              </c:strCache>
            </c:strRef>
          </c:tx>
          <c:spPr>
            <a:solidFill>
              <a:srgbClr val="5B6B82"/>
            </a:solidFill>
            <a:effectLst/>
          </c:spPr>
          <c:invertIfNegative val="0"/>
          <c:dLbls>
            <c:numFmt formatCode="&quot;$&quot;0.00&quot;M&quot;"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cat>
            <c:multiLvlStrRef>
              <c:f>Sheet1!$A$2:$A$11</c:f>
              <c:multiLvlStrCache>
                <c:ptCount val="10"/>
                <c:lvl>
                  <c:pt idx="0">
                    <c:v>Enterprise propensity (mix)</c:v>
                  </c:pt>
                  <c:pt idx="1">
                    <c:v>Automated outbound coverage</c:v>
                  </c:pt>
                  <c:pt idx="2">
                    <c:v>Discount rate</c:v>
                  </c:pt>
                  <c:pt idx="3">
                    <c:v>Net revenue retention</c:v>
                  </c:pt>
                  <c:pt idx="4">
                    <c:v>Meeting rate</c:v>
                  </c:pt>
                  <c:pt idx="5">
                    <c:v>Funnel conversion</c:v>
                  </c:pt>
                  <c:pt idx="6">
                    <c:v>Incrementality haircut</c:v>
                  </c:pt>
                  <c:pt idx="7">
                    <c:v>Gross margin</c:v>
                  </c:pt>
                  <c:pt idx="8">
                    <c:v>Win rate</c:v>
                  </c:pt>
                  <c:pt idx="9">
                    <c:v>Usage intensity (ACV)</c:v>
                  </c:pt>
                </c:lvl>
              </c:multiLvlStrCache>
            </c:multiLvlStrRef>
          </c:cat>
          <c:val>
            <c:numRef>
              <c:f>Sheet1!$B$2:$B$11</c:f>
              <c:numCache>
                <c:formatCode>General</c:formatCode>
                <c:ptCount val="10"/>
                <c:pt idx="0">
                  <c:v>0.063</c:v>
                </c:pt>
                <c:pt idx="1">
                  <c:v>0.064</c:v>
                </c:pt>
                <c:pt idx="2">
                  <c:v>0.083</c:v>
                </c:pt>
                <c:pt idx="3">
                  <c:v>0.101</c:v>
                </c:pt>
                <c:pt idx="4">
                  <c:v>0.106</c:v>
                </c:pt>
                <c:pt idx="5">
                  <c:v>0.145</c:v>
                </c:pt>
                <c:pt idx="6">
                  <c:v>0.147</c:v>
                </c:pt>
                <c:pt idx="7">
                  <c:v>0.192</c:v>
                </c:pt>
                <c:pt idx="8">
                  <c:v>0.204</c:v>
                </c:pt>
                <c:pt idx="9">
                  <c:v>0.227</c:v>
                </c:pt>
              </c:numCache>
            </c:numRef>
          </c:val>
        </c:ser>
        <c:dLbls>
          <c:numFmt formatCode="&quot;$&quot;0.00&quot;M&quot;" sourceLinked="0"/>
          <c:txPr>
            <a:bodyPr/>
            <a:lstStyle/>
            <a:p>
              <a:pPr>
                <a:defRPr b="0" i="0" strike="noStrike" sz="1100" u="none">
                  <a:solidFill>
                    <a:srgbClr val="1B24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3D4A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options against an explicit baseline. The revised recommendation is Option 0 by default, with a capped validation sprint in distribution as the only vertical spend. v1 recommended a $1.1M pilot; a partner review found the analysis tilted toward that answer, and the corrected model reverses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first. Clay's edge is real in distribution, but list-price ACV is too low for any staffed program to clear the hurdle or beat the core. The only defensible spend is a small sprint that measures the inputs the model has to assume.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Distribution is the smallest pool by firm count, but its employment is dominated by sellers. Counts are firms, not establishments.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Sized bottom-up with usage-based ACV. Professional services is the largest pool on size alone, but no vertical moves Clay's growth materially. SOM uses an assumed uniform penetration, so it is a sizing, not a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tension: the segment where Clay is most differentiated is also the hardest to adopt in. Distribution's ACV per account is higher only because of its mid-market sellers.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distribution the realistic alternative is spreadsheets plus a generic database. Clay's weakness is implementation, which shapes the motion; its claimed coverage edge is a judgment until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SMB distributors would use only about $2K of Clay a year at list, so they pay the Growth floor. Seller density matters only from mid-market up, which is why ACV is the swing factor and why the sprint's mandatory test is committed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 counted seller density three times and the coverage proxy twice. With one indicator per criterion, distribution and professional services tie. The tie-breakers are differentiation and economics, both favoring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sales-led team now creates its own pipeline and does add ARR, so the comparison is no longer true by construction — it just costs far more than it returns. Professional services is no better on the same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deterministic Upside is NPV-positive, but only when demand, ACV, retention and margin are all favorable together. With realistic correlation the probability of that is close to zero; even with ranges doubled it stays at about one in 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stage has a cap, a decision and a default of stopping. The GTM design survives from v1 — ICP, list pricing, partners, borrowed AEs — but it is only used if measured evidence supports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thresholds are the model's Upside values, because only the Upside case clears the hurdle. Committed usage is mandatory because nothing else can make the economics work without it. Win rate is deliberately not a gate test: five design partners cannot measure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rtlCol="0"/>
          <a:lstStyle>
            <a:lvl1pPr algn="l" indent="0" marL="0">
              <a:buNone/>
              <a:defRPr lang="en-US" sz="2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rtlCol="0"/>
          <a:lstStyle>
            <a:lvl1pPr indent="0" marL="0">
              <a:buNone/>
              <a:defRPr lang="en-US" sz="1000" dirty="0">
                <a:solidFill>
                  <a:schemeClr val="accent2"/>
                </a:solidFill>
              </a:defRPr>
            </a:lvl1pPr>
          </a:lstStyle>
          <a:p>
            <a:pPr indent="0" marL="0">
              <a:buNone/>
            </a:pPr>
            <a:endParaRPr lang="en-US" sz="1000" dirty="0"/>
          </a:p>
        </p:txBody>
      </p:sp>
      <p:sp>
        <p:nvSpPr>
          <p:cNvPr id="4" name="Text 0"/>
          <p:cNvSpPr/>
          <p:nvPr/>
        </p:nvSpPr>
        <p:spPr>
          <a:xfrm>
            <a:off x="502920" y="6492240"/>
            <a:ext cx="10058400" cy="219456"/>
          </a:xfrm>
          <a:prstGeom prst="rect">
            <a:avLst/>
          </a:prstGeom>
          <a:noFill/>
          <a:ln/>
        </p:spPr>
        <p:txBody>
          <a:bodyPr wrap="square" lIns="0" tIns="0" rIns="0" bIns="0" rtlCol="0" anchor="ctr"/>
          <a:lstStyle/>
          <a:p>
            <a:pPr indent="0" marL="0">
              <a:buNone/>
            </a:pPr>
            <a:r>
              <a:rPr lang="en-US" sz="1000" dirty="0">
                <a:solidFill>
                  <a:schemeClr val="accent2"/>
                </a:solidFill>
              </a:rPr>
              <a:t>Independent case study · not commissioned by or affiliated with Clay Labs Inc. · scenario figures are estimates, not Clay forecasts</a:t>
            </a:r>
            <a:endParaRPr lang="en-US" sz="10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777240"/>
            <a:ext cx="10515600" cy="1371600"/>
          </a:xfrm>
          <a:prstGeom prst="rect">
            <a:avLst/>
          </a:prstGeom>
          <a:noFill/>
          <a:ln/>
        </p:spPr>
        <p:txBody>
          <a:bodyPr wrap="square" rtlCol="0"/>
          <a:lstStyle>
            <a:lvl1pPr algn="l" indent="0" marL="0">
              <a:buNone/>
              <a:defRPr lang="en-US" sz="4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02920" y="2286000"/>
            <a:ext cx="10515600" cy="548640"/>
          </a:xfrm>
          <a:prstGeom prst="rect">
            <a:avLst/>
          </a:prstGeom>
          <a:noFill/>
          <a:ln/>
        </p:spPr>
        <p:txBody>
          <a:bodyPr wrap="square" rtlCol="0"/>
          <a:lstStyle>
            <a:lvl1pPr indent="0" marL="0">
              <a:buNone/>
              <a:defRPr lang="en-US" sz="2000" dirty="0">
                <a:solidFill>
                  <a:schemeClr val="tx2"/>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2194560"/>
            <a:ext cx="10515600" cy="914400"/>
          </a:xfrm>
          <a:prstGeom prst="rect">
            <a:avLst/>
          </a:prstGeom>
          <a:noFill/>
          <a:ln/>
        </p:spPr>
        <p:txBody>
          <a:bodyPr wrap="square" rtlCol="0"/>
          <a:lstStyle>
            <a:lvl1pPr algn="l" indent="0" marL="0">
              <a:buNone/>
              <a:defRPr lang="en-US" sz="4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02920" y="3291840"/>
            <a:ext cx="10515600" cy="2377440"/>
          </a:xfrm>
          <a:prstGeom prst="rect">
            <a:avLst/>
          </a:prstGeom>
          <a:noFill/>
          <a:ln/>
        </p:spPr>
        <p:txBody>
          <a:bodyPr wrap="square" rtlCol="0"/>
          <a:lstStyle>
            <a:lvl1pPr indent="0" marL="0">
              <a:buNone/>
              <a:defRPr lang="en-US" sz="1600" dirty="0">
                <a:solidFill>
                  <a:schemeClr val="tx2"/>
                </a:solidFill>
              </a:defRPr>
            </a:lvl1pPr>
          </a:lstStyle>
          <a:p>
            <a:pPr indent="0" marL="0">
              <a:buNone/>
            </a:pPr>
            <a:endParaRPr lang="en-US" sz="1600" dirty="0"/>
          </a:p>
        </p:txBody>
      </p:sp>
      <p:sp>
        <p:nvSpPr>
          <p:cNvPr id="4" name="Text 0"/>
          <p:cNvSpPr/>
          <p:nvPr/>
        </p:nvSpPr>
        <p:spPr>
          <a:xfrm>
            <a:off x="502920" y="6492240"/>
            <a:ext cx="10058400" cy="219456"/>
          </a:xfrm>
          <a:prstGeom prst="rect">
            <a:avLst/>
          </a:prstGeom>
          <a:noFill/>
          <a:ln/>
        </p:spPr>
        <p:txBody>
          <a:bodyPr wrap="square" lIns="0" tIns="0" rIns="0" bIns="0" rtlCol="0" anchor="ctr"/>
          <a:lstStyle/>
          <a:p>
            <a:pPr indent="0" marL="0">
              <a:buNone/>
            </a:pPr>
            <a:r>
              <a:rPr lang="en-US" sz="1000" dirty="0">
                <a:solidFill>
                  <a:schemeClr val="accent2"/>
                </a:solidFill>
              </a:rPr>
              <a:t>Independent case study · not commissioned by or affiliated with Clay Labs Inc. · scenario figures are estimates, not Clay forecasts</a:t>
            </a:r>
            <a:endParaRPr lang="en-US" sz="10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02920" y="777240"/>
            <a:ext cx="10515600" cy="1371600"/>
          </a:xfrm>
          <a:prstGeom prst="rect">
            <a:avLst/>
          </a:prstGeom>
          <a:noFill/>
          <a:ln/>
        </p:spPr>
        <p:txBody>
          <a:bodyPr wrap="square" lIns="0" tIns="0" rIns="0" bIns="0" rtlCol="0" anchor="b"/>
          <a:lstStyle/>
          <a:p>
            <a:pPr algn="l" indent="0" marL="0">
              <a:buNone/>
            </a:pPr>
            <a:r>
              <a:rPr lang="en-US" sz="4000" b="1" dirty="0">
                <a:solidFill>
                  <a:schemeClr val="tx1"/>
                </a:solidFill>
                <a:latin typeface="Cambria" pitchFamily="34" charset="0"/>
                <a:ea typeface="Cambria" pitchFamily="34" charset="-122"/>
                <a:cs typeface="Cambria" pitchFamily="34" charset="-120"/>
              </a:rPr>
              <a:t>Should Clay build a U.S. industrial vertical?</a:t>
            </a:r>
            <a:endParaRPr lang="en-US" sz="4000" dirty="0"/>
          </a:p>
        </p:txBody>
      </p:sp>
      <p:sp>
        <p:nvSpPr>
          <p:cNvPr id="3" name="Text 0"/>
          <p:cNvSpPr/>
          <p:nvPr>
            <p:ph idx="101" type="body" hasCustomPrompt="1"/>
          </p:nvPr>
        </p:nvSpPr>
        <p:spPr>
          <a:xfrm>
            <a:off x="502920" y="2286000"/>
            <a:ext cx="10515600" cy="548640"/>
          </a:xfrm>
          <a:prstGeom prst="rect">
            <a:avLst/>
          </a:prstGeom>
          <a:noFill/>
          <a:ln/>
        </p:spPr>
        <p:txBody>
          <a:bodyPr wrap="square" lIns="0" tIns="0" rIns="0" bIns="0" rtlCol="0" anchor="t"/>
          <a:lstStyle/>
          <a:p>
            <a:pPr indent="0" marL="0">
              <a:buNone/>
            </a:pPr>
            <a:r>
              <a:rPr lang="en-US" sz="2000" dirty="0">
                <a:solidFill>
                  <a:schemeClr val="tx2"/>
                </a:solidFill>
              </a:rPr>
              <a:t>Vertical expansion and go-to-market strategy, 2027–2029 · revised after partner review</a:t>
            </a:r>
            <a:endParaRPr lang="en-US" sz="2000" dirty="0"/>
          </a:p>
        </p:txBody>
      </p:sp>
      <p:sp>
        <p:nvSpPr>
          <p:cNvPr id="4" name="text-1"/>
          <p:cNvSpPr txBox="1"/>
          <p:nvPr/>
        </p:nvSpPr>
        <p:spPr>
          <a:xfrm>
            <a:off x="502920" y="3108960"/>
            <a:ext cx="10789920" cy="365760"/>
          </a:xfrm>
          <a:prstGeom prst="rect">
            <a:avLst/>
          </a:prstGeom>
          <a:noFill/>
          <a:ln/>
        </p:spPr>
        <p:txBody>
          <a:bodyPr wrap="square" lIns="0" tIns="0" rIns="0" bIns="0" rtlCol="0" anchor="t"/>
          <a:lstStyle/>
          <a:p>
            <a:pPr indent="0" marL="0">
              <a:buNone/>
            </a:pPr>
            <a:r>
              <a:rPr lang="en-US" sz="1600" b="1" dirty="0">
                <a:solidFill>
                  <a:schemeClr val="tx1"/>
                </a:solidFill>
              </a:rPr>
              <a:t>The decision: should Clay place incremental vertical GTM investment in 2027 — and if so, where and through which motion?</a:t>
            </a:r>
            <a:endParaRPr lang="en-US" sz="1600" dirty="0"/>
          </a:p>
        </p:txBody>
      </p:sp>
      <p:sp>
        <p:nvSpPr>
          <p:cNvPr id="5" name="card-2"/>
          <p:cNvSpPr/>
          <p:nvPr/>
        </p:nvSpPr>
        <p:spPr>
          <a:xfrm>
            <a:off x="502920" y="3657600"/>
            <a:ext cx="2103120" cy="1463040"/>
          </a:xfrm>
          <a:prstGeom prst="roundRect">
            <a:avLst>
              <a:gd name="adj" fmla="val 3750"/>
            </a:avLst>
          </a:prstGeom>
          <a:solidFill>
            <a:schemeClr val="accent1"/>
          </a:solidFill>
          <a:ln/>
        </p:spPr>
      </p:sp>
      <p:sp>
        <p:nvSpPr>
          <p:cNvPr id="6" name="text-3"/>
          <p:cNvSpPr txBox="1"/>
          <p:nvPr/>
        </p:nvSpPr>
        <p:spPr>
          <a:xfrm>
            <a:off x="640080" y="3767328"/>
            <a:ext cx="1828800" cy="274320"/>
          </a:xfrm>
          <a:prstGeom prst="rect">
            <a:avLst/>
          </a:prstGeom>
          <a:noFill/>
          <a:ln/>
        </p:spPr>
        <p:txBody>
          <a:bodyPr wrap="square" lIns="0" tIns="0" rIns="0" bIns="0" rtlCol="0" anchor="t"/>
          <a:lstStyle/>
          <a:p>
            <a:pPr indent="0" marL="0">
              <a:buNone/>
            </a:pPr>
            <a:r>
              <a:rPr lang="en-US" sz="1200" b="1" dirty="0">
                <a:solidFill>
                  <a:schemeClr val="bg1"/>
                </a:solidFill>
              </a:rPr>
              <a:t>Option 0</a:t>
            </a:r>
            <a:endParaRPr lang="en-US" sz="1200" dirty="0"/>
          </a:p>
        </p:txBody>
      </p:sp>
      <p:sp>
        <p:nvSpPr>
          <p:cNvPr id="7" name="text-4"/>
          <p:cNvSpPr txBox="1"/>
          <p:nvPr/>
        </p:nvSpPr>
        <p:spPr>
          <a:xfrm>
            <a:off x="640080" y="4069080"/>
            <a:ext cx="1828800" cy="1005840"/>
          </a:xfrm>
          <a:prstGeom prst="rect">
            <a:avLst/>
          </a:prstGeom>
          <a:noFill/>
          <a:ln/>
        </p:spPr>
        <p:txBody>
          <a:bodyPr wrap="square" lIns="0" tIns="0" rIns="0" bIns="0" rtlCol="0" anchor="t"/>
          <a:lstStyle/>
          <a:p>
            <a:pPr indent="0" marL="0">
              <a:buNone/>
            </a:pPr>
            <a:r>
              <a:rPr lang="en-US" sz="1300" b="1" dirty="0">
                <a:solidFill>
                  <a:schemeClr val="bg1"/>
                </a:solidFill>
              </a:rPr>
              <a:t>No vertical bet — stay horizontal</a:t>
            </a:r>
            <a:endParaRPr lang="en-US" sz="1300" dirty="0"/>
          </a:p>
        </p:txBody>
      </p:sp>
      <p:sp>
        <p:nvSpPr>
          <p:cNvPr id="8" name="card-5"/>
          <p:cNvSpPr/>
          <p:nvPr/>
        </p:nvSpPr>
        <p:spPr>
          <a:xfrm>
            <a:off x="2770632" y="3657600"/>
            <a:ext cx="2103120" cy="1463040"/>
          </a:xfrm>
          <a:prstGeom prst="roundRect">
            <a:avLst>
              <a:gd name="adj" fmla="val 3750"/>
            </a:avLst>
          </a:prstGeom>
          <a:solidFill>
            <a:schemeClr val="bg2"/>
          </a:solidFill>
          <a:ln/>
        </p:spPr>
      </p:sp>
      <p:sp>
        <p:nvSpPr>
          <p:cNvPr id="9" name="text-6"/>
          <p:cNvSpPr txBox="1"/>
          <p:nvPr/>
        </p:nvSpPr>
        <p:spPr>
          <a:xfrm>
            <a:off x="2907792" y="3767328"/>
            <a:ext cx="1828800" cy="274320"/>
          </a:xfrm>
          <a:prstGeom prst="rect">
            <a:avLst/>
          </a:prstGeom>
          <a:noFill/>
          <a:ln/>
        </p:spPr>
        <p:txBody>
          <a:bodyPr wrap="square" lIns="0" tIns="0" rIns="0" bIns="0" rtlCol="0" anchor="t"/>
          <a:lstStyle/>
          <a:p>
            <a:pPr indent="0" marL="0">
              <a:buNone/>
            </a:pPr>
            <a:r>
              <a:rPr lang="en-US" sz="1200" b="1" dirty="0">
                <a:solidFill>
                  <a:schemeClr val="accent2"/>
                </a:solidFill>
              </a:rPr>
              <a:t>Option 1</a:t>
            </a:r>
            <a:endParaRPr lang="en-US" sz="1200" dirty="0"/>
          </a:p>
        </p:txBody>
      </p:sp>
      <p:sp>
        <p:nvSpPr>
          <p:cNvPr id="10" name="text-7"/>
          <p:cNvSpPr txBox="1"/>
          <p:nvPr/>
        </p:nvSpPr>
        <p:spPr>
          <a:xfrm>
            <a:off x="2907792" y="4069080"/>
            <a:ext cx="1828800" cy="1005840"/>
          </a:xfrm>
          <a:prstGeom prst="rect">
            <a:avLst/>
          </a:prstGeom>
          <a:noFill/>
          <a:ln/>
        </p:spPr>
        <p:txBody>
          <a:bodyPr wrap="square" lIns="0" tIns="0" rIns="0" bIns="0" rtlCol="0" anchor="t"/>
          <a:lstStyle/>
          <a:p>
            <a:pPr indent="0" marL="0">
              <a:buNone/>
            </a:pPr>
            <a:r>
              <a:rPr lang="en-US" sz="1300" dirty="0">
                <a:solidFill>
                  <a:schemeClr val="tx1"/>
                </a:solidFill>
              </a:rPr>
              <a:t>Industrial distribution — sales-led vertical team</a:t>
            </a:r>
            <a:endParaRPr lang="en-US" sz="1300" dirty="0"/>
          </a:p>
        </p:txBody>
      </p:sp>
      <p:sp>
        <p:nvSpPr>
          <p:cNvPr id="11" name="card-8"/>
          <p:cNvSpPr/>
          <p:nvPr/>
        </p:nvSpPr>
        <p:spPr>
          <a:xfrm>
            <a:off x="5038344" y="3657600"/>
            <a:ext cx="2103120" cy="1463040"/>
          </a:xfrm>
          <a:prstGeom prst="roundRect">
            <a:avLst>
              <a:gd name="adj" fmla="val 3750"/>
            </a:avLst>
          </a:prstGeom>
          <a:solidFill>
            <a:schemeClr val="bg2"/>
          </a:solidFill>
          <a:ln/>
        </p:spPr>
      </p:sp>
      <p:sp>
        <p:nvSpPr>
          <p:cNvPr id="12" name="text-9"/>
          <p:cNvSpPr txBox="1"/>
          <p:nvPr/>
        </p:nvSpPr>
        <p:spPr>
          <a:xfrm>
            <a:off x="5175504" y="3767328"/>
            <a:ext cx="1828800" cy="274320"/>
          </a:xfrm>
          <a:prstGeom prst="rect">
            <a:avLst/>
          </a:prstGeom>
          <a:noFill/>
          <a:ln/>
        </p:spPr>
        <p:txBody>
          <a:bodyPr wrap="square" lIns="0" tIns="0" rIns="0" bIns="0" rtlCol="0" anchor="t"/>
          <a:lstStyle/>
          <a:p>
            <a:pPr indent="0" marL="0">
              <a:buNone/>
            </a:pPr>
            <a:r>
              <a:rPr lang="en-US" sz="1200" b="1" dirty="0">
                <a:solidFill>
                  <a:schemeClr val="accent2"/>
                </a:solidFill>
              </a:rPr>
              <a:t>Option 2</a:t>
            </a:r>
            <a:endParaRPr lang="en-US" sz="1200" dirty="0"/>
          </a:p>
        </p:txBody>
      </p:sp>
      <p:sp>
        <p:nvSpPr>
          <p:cNvPr id="13" name="text-10"/>
          <p:cNvSpPr txBox="1"/>
          <p:nvPr/>
        </p:nvSpPr>
        <p:spPr>
          <a:xfrm>
            <a:off x="5175504" y="4069080"/>
            <a:ext cx="1828800" cy="1005840"/>
          </a:xfrm>
          <a:prstGeom prst="rect">
            <a:avLst/>
          </a:prstGeom>
          <a:noFill/>
          <a:ln/>
        </p:spPr>
        <p:txBody>
          <a:bodyPr wrap="square" lIns="0" tIns="0" rIns="0" bIns="0" rtlCol="0" anchor="t"/>
          <a:lstStyle/>
          <a:p>
            <a:pPr indent="0" marL="0">
              <a:buNone/>
            </a:pPr>
            <a:r>
              <a:rPr lang="en-US" sz="1300" dirty="0">
                <a:solidFill>
                  <a:schemeClr val="tx1"/>
                </a:solidFill>
              </a:rPr>
              <a:t>Manufacturing focus</a:t>
            </a:r>
            <a:endParaRPr lang="en-US" sz="1300" dirty="0"/>
          </a:p>
        </p:txBody>
      </p:sp>
      <p:sp>
        <p:nvSpPr>
          <p:cNvPr id="14" name="card-11"/>
          <p:cNvSpPr/>
          <p:nvPr/>
        </p:nvSpPr>
        <p:spPr>
          <a:xfrm>
            <a:off x="7306056" y="3657600"/>
            <a:ext cx="2103120" cy="1463040"/>
          </a:xfrm>
          <a:prstGeom prst="roundRect">
            <a:avLst>
              <a:gd name="adj" fmla="val 3750"/>
            </a:avLst>
          </a:prstGeom>
          <a:solidFill>
            <a:schemeClr val="bg2"/>
          </a:solidFill>
          <a:ln/>
        </p:spPr>
      </p:sp>
      <p:sp>
        <p:nvSpPr>
          <p:cNvPr id="15" name="text-12"/>
          <p:cNvSpPr txBox="1"/>
          <p:nvPr/>
        </p:nvSpPr>
        <p:spPr>
          <a:xfrm>
            <a:off x="7443216" y="3767328"/>
            <a:ext cx="1828800" cy="274320"/>
          </a:xfrm>
          <a:prstGeom prst="rect">
            <a:avLst/>
          </a:prstGeom>
          <a:noFill/>
          <a:ln/>
        </p:spPr>
        <p:txBody>
          <a:bodyPr wrap="square" lIns="0" tIns="0" rIns="0" bIns="0" rtlCol="0" anchor="t"/>
          <a:lstStyle/>
          <a:p>
            <a:pPr indent="0" marL="0">
              <a:buNone/>
            </a:pPr>
            <a:r>
              <a:rPr lang="en-US" sz="1200" b="1" dirty="0">
                <a:solidFill>
                  <a:schemeClr val="accent2"/>
                </a:solidFill>
              </a:rPr>
              <a:t>Option 3</a:t>
            </a:r>
            <a:endParaRPr lang="en-US" sz="1200" dirty="0"/>
          </a:p>
        </p:txBody>
      </p:sp>
      <p:sp>
        <p:nvSpPr>
          <p:cNvPr id="16" name="text-13"/>
          <p:cNvSpPr txBox="1"/>
          <p:nvPr/>
        </p:nvSpPr>
        <p:spPr>
          <a:xfrm>
            <a:off x="7443216" y="4069080"/>
            <a:ext cx="1828800" cy="1005840"/>
          </a:xfrm>
          <a:prstGeom prst="rect">
            <a:avLst/>
          </a:prstGeom>
          <a:noFill/>
          <a:ln/>
        </p:spPr>
        <p:txBody>
          <a:bodyPr wrap="square" lIns="0" tIns="0" rIns="0" bIns="0" rtlCol="0" anchor="t"/>
          <a:lstStyle/>
          <a:p>
            <a:pPr indent="0" marL="0">
              <a:buNone/>
            </a:pPr>
            <a:r>
              <a:rPr lang="en-US" sz="1300" dirty="0">
                <a:solidFill>
                  <a:schemeClr val="tx1"/>
                </a:solidFill>
              </a:rPr>
              <a:t>Professional services focus</a:t>
            </a:r>
            <a:endParaRPr lang="en-US" sz="1300" dirty="0"/>
          </a:p>
        </p:txBody>
      </p:sp>
      <p:sp>
        <p:nvSpPr>
          <p:cNvPr id="17" name="card-14"/>
          <p:cNvSpPr/>
          <p:nvPr/>
        </p:nvSpPr>
        <p:spPr>
          <a:xfrm>
            <a:off x="9573768" y="3657600"/>
            <a:ext cx="2103120" cy="1463040"/>
          </a:xfrm>
          <a:prstGeom prst="roundRect">
            <a:avLst>
              <a:gd name="adj" fmla="val 3750"/>
            </a:avLst>
          </a:prstGeom>
          <a:solidFill>
            <a:schemeClr val="accent1">
              <a:alpha val="15000"/>
            </a:schemeClr>
          </a:solidFill>
          <a:ln/>
        </p:spPr>
      </p:sp>
      <p:sp>
        <p:nvSpPr>
          <p:cNvPr id="18" name="text-15"/>
          <p:cNvSpPr txBox="1"/>
          <p:nvPr/>
        </p:nvSpPr>
        <p:spPr>
          <a:xfrm>
            <a:off x="9710928" y="3767328"/>
            <a:ext cx="1828800" cy="274320"/>
          </a:xfrm>
          <a:prstGeom prst="rect">
            <a:avLst/>
          </a:prstGeom>
          <a:noFill/>
          <a:ln/>
        </p:spPr>
        <p:txBody>
          <a:bodyPr wrap="square" lIns="0" tIns="0" rIns="0" bIns="0" rtlCol="0" anchor="t"/>
          <a:lstStyle/>
          <a:p>
            <a:pPr indent="0" marL="0">
              <a:buNone/>
            </a:pPr>
            <a:r>
              <a:rPr lang="en-US" sz="1200" b="1" dirty="0">
                <a:solidFill>
                  <a:schemeClr val="accent2"/>
                </a:solidFill>
              </a:rPr>
              <a:t>Option 4</a:t>
            </a:r>
            <a:endParaRPr lang="en-US" sz="1200" dirty="0"/>
          </a:p>
        </p:txBody>
      </p:sp>
      <p:sp>
        <p:nvSpPr>
          <p:cNvPr id="19" name="text-16"/>
          <p:cNvSpPr txBox="1"/>
          <p:nvPr/>
        </p:nvSpPr>
        <p:spPr>
          <a:xfrm>
            <a:off x="9710928" y="4069080"/>
            <a:ext cx="1828800" cy="1005840"/>
          </a:xfrm>
          <a:prstGeom prst="rect">
            <a:avLst/>
          </a:prstGeom>
          <a:noFill/>
          <a:ln/>
        </p:spPr>
        <p:txBody>
          <a:bodyPr wrap="square" lIns="0" tIns="0" rIns="0" bIns="0" rtlCol="0" anchor="t"/>
          <a:lstStyle/>
          <a:p>
            <a:pPr indent="0" marL="0">
              <a:buNone/>
            </a:pPr>
            <a:r>
              <a:rPr lang="en-US" sz="1300" b="1" dirty="0">
                <a:solidFill>
                  <a:schemeClr val="tx1"/>
                </a:solidFill>
              </a:rPr>
              <a:t>Distribution: validate first (≤ $0.2M), then a no-team solution play only on evidence</a:t>
            </a:r>
            <a:endParaRPr lang="en-US" sz="1300" dirty="0"/>
          </a:p>
        </p:txBody>
      </p:sp>
      <p:sp>
        <p:nvSpPr>
          <p:cNvPr id="20" name="text-17"/>
          <p:cNvSpPr txBox="1"/>
          <p:nvPr/>
        </p:nvSpPr>
        <p:spPr>
          <a:xfrm>
            <a:off x="502920" y="5193792"/>
            <a:ext cx="2103120" cy="274320"/>
          </a:xfrm>
          <a:prstGeom prst="rect">
            <a:avLst/>
          </a:prstGeom>
          <a:noFill/>
          <a:ln/>
        </p:spPr>
        <p:txBody>
          <a:bodyPr wrap="square" lIns="0" tIns="0" rIns="0" bIns="0" rtlCol="0" anchor="t"/>
          <a:lstStyle/>
          <a:p>
            <a:pPr indent="0" marL="0">
              <a:buNone/>
            </a:pPr>
            <a:r>
              <a:rPr lang="en-US" sz="1200" b="1" dirty="0">
                <a:solidFill>
                  <a:schemeClr val="accent1"/>
                </a:solidFill>
              </a:rPr>
              <a:t>Recommended default</a:t>
            </a:r>
            <a:endParaRPr lang="en-US" sz="1200" dirty="0"/>
          </a:p>
        </p:txBody>
      </p:sp>
      <p:sp>
        <p:nvSpPr>
          <p:cNvPr id="21" name="text-18"/>
          <p:cNvSpPr txBox="1"/>
          <p:nvPr/>
        </p:nvSpPr>
        <p:spPr>
          <a:xfrm>
            <a:off x="9573768" y="5193792"/>
            <a:ext cx="2103120" cy="274320"/>
          </a:xfrm>
          <a:prstGeom prst="rect">
            <a:avLst/>
          </a:prstGeom>
          <a:noFill/>
          <a:ln/>
        </p:spPr>
        <p:txBody>
          <a:bodyPr wrap="square" lIns="0" tIns="0" rIns="0" bIns="0" rtlCol="0" anchor="t"/>
          <a:lstStyle/>
          <a:p>
            <a:pPr indent="0" marL="0">
              <a:buNone/>
            </a:pPr>
            <a:r>
              <a:rPr lang="en-US" sz="1200" b="1" dirty="0">
                <a:solidFill>
                  <a:schemeClr val="accent1"/>
                </a:solidFill>
              </a:rPr>
              <a:t>Only as a capped test</a:t>
            </a:r>
            <a:endParaRPr lang="en-US" sz="1200" dirty="0"/>
          </a:p>
        </p:txBody>
      </p:sp>
      <p:sp>
        <p:nvSpPr>
          <p:cNvPr id="22" name="text-19"/>
          <p:cNvSpPr txBox="1"/>
          <p:nvPr/>
        </p:nvSpPr>
        <p:spPr>
          <a:xfrm>
            <a:off x="502920" y="5760720"/>
            <a:ext cx="10515600" cy="274320"/>
          </a:xfrm>
          <a:prstGeom prst="rect">
            <a:avLst/>
          </a:prstGeom>
          <a:noFill/>
          <a:ln/>
        </p:spPr>
        <p:txBody>
          <a:bodyPr wrap="square" lIns="0" tIns="0" rIns="0" bIns="0" rtlCol="0" anchor="t"/>
          <a:lstStyle/>
          <a:p>
            <a:pPr indent="0" marL="0">
              <a:buNone/>
            </a:pPr>
            <a:r>
              <a:rPr lang="en-US" sz="1400" dirty="0">
                <a:solidFill>
                  <a:schemeClr val="tx2"/>
                </a:solidFill>
              </a:rPr>
              <a:t>Independent strategy case study · Zhuoran (Zora) Wang · October 2026 · v2</a:t>
            </a:r>
            <a:endParaRPr lang="en-US" sz="1400" dirty="0"/>
          </a:p>
        </p:txBody>
      </p:sp>
      <p:sp>
        <p:nvSpPr>
          <p:cNvPr id="23" name="text-20"/>
          <p:cNvSpPr txBox="1"/>
          <p:nvPr/>
        </p:nvSpPr>
        <p:spPr>
          <a:xfrm>
            <a:off x="502920" y="6108192"/>
            <a:ext cx="10515600" cy="457200"/>
          </a:xfrm>
          <a:prstGeom prst="rect">
            <a:avLst/>
          </a:prstGeom>
          <a:noFill/>
          <a:ln/>
        </p:spPr>
        <p:txBody>
          <a:bodyPr wrap="square" lIns="0" tIns="0" rIns="0" bIns="0" rtlCol="0" anchor="t"/>
          <a:lstStyle/>
          <a:p>
            <a:pPr indent="0" marL="0">
              <a:buNone/>
            </a:pPr>
            <a:r>
              <a:rPr lang="en-US" sz="1000" dirty="0">
                <a:solidFill>
                  <a:schemeClr val="accent2"/>
                </a:solidFill>
              </a:rPr>
              <a:t>Not commissioned by, affiliated with, or endorsed by Clay Labs Inc. Built entirely from public data; no interviews or internal Clay data were used. All forward-looking figures are scenario estimates, not Clay forecasts.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Recommendation: don't fund a vertical in 2027 — spend at most ~$0.2M to test the assumptions that could change that</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Sources: 07_Financial_Model v2 (NPV at 12%, Monte Carlo; scenario estimates [C/D]); 06_Segment_Prioritization v2; 02_Market_Sizing v2; Census 2022 (S14); BLS OEWS May 2025 (S15).</a:t>
            </a:r>
            <a:endParaRPr lang="en-US" sz="1000" dirty="0"/>
          </a:p>
        </p:txBody>
      </p:sp>
      <p:sp>
        <p:nvSpPr>
          <p:cNvPr id="4" name="num-21"/>
          <p:cNvSpPr/>
          <p:nvPr/>
        </p:nvSpPr>
        <p:spPr>
          <a:xfrm>
            <a:off x="502920" y="1371600"/>
            <a:ext cx="420624" cy="420624"/>
          </a:xfrm>
          <a:prstGeom prst="ellipse">
            <a:avLst/>
          </a:prstGeom>
          <a:solidFill>
            <a:schemeClr val="tx1"/>
          </a:solidFill>
          <a:ln/>
        </p:spPr>
      </p:sp>
      <p:sp>
        <p:nvSpPr>
          <p:cNvPr id="5" name="text-22"/>
          <p:cNvSpPr txBox="1"/>
          <p:nvPr/>
        </p:nvSpPr>
        <p:spPr>
          <a:xfrm>
            <a:off x="502920" y="137160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23"/>
          <p:cNvSpPr txBox="1"/>
          <p:nvPr/>
        </p:nvSpPr>
        <p:spPr>
          <a:xfrm>
            <a:off x="1143000" y="1353312"/>
            <a:ext cx="6583680" cy="320040"/>
          </a:xfrm>
          <a:prstGeom prst="rect">
            <a:avLst/>
          </a:prstGeom>
          <a:noFill/>
          <a:ln/>
        </p:spPr>
        <p:txBody>
          <a:bodyPr wrap="square" lIns="0" tIns="0" rIns="0" bIns="0" rtlCol="0" anchor="t"/>
          <a:lstStyle/>
          <a:p>
            <a:pPr indent="0" marL="0">
              <a:buNone/>
            </a:pPr>
            <a:r>
              <a:rPr lang="en-US" sz="1600" b="1" dirty="0">
                <a:solidFill>
                  <a:schemeClr val="tx1"/>
                </a:solidFill>
              </a:rPr>
              <a:t>Distribution is where Clay is most differentiated</a:t>
            </a:r>
            <a:endParaRPr lang="en-US" sz="1600" dirty="0"/>
          </a:p>
        </p:txBody>
      </p:sp>
      <p:sp>
        <p:nvSpPr>
          <p:cNvPr id="7" name="text-24"/>
          <p:cNvSpPr txBox="1"/>
          <p:nvPr/>
        </p:nvSpPr>
        <p:spPr>
          <a:xfrm>
            <a:off x="1143000" y="1700784"/>
            <a:ext cx="6583680" cy="731520"/>
          </a:xfrm>
          <a:prstGeom prst="rect">
            <a:avLst/>
          </a:prstGeom>
          <a:noFill/>
          <a:ln/>
        </p:spPr>
        <p:txBody>
          <a:bodyPr wrap="square" lIns="0" tIns="0" rIns="0" bIns="0" rtlCol="0" anchor="t"/>
          <a:lstStyle/>
          <a:p>
            <a:pPr indent="0" marL="0">
              <a:buNone/>
            </a:pPr>
            <a:r>
              <a:rPr lang="en-US" sz="1400" dirty="0">
                <a:solidFill>
                  <a:schemeClr val="tx2"/>
                </a:solidFill>
              </a:rPr>
              <a:t>Distributors' customers are hard to find in standard databases (competitive position 4.0 vs 2.3 for professional services), and 22% of distribution staff sell.</a:t>
            </a:r>
            <a:endParaRPr lang="en-US" sz="1400" dirty="0"/>
          </a:p>
        </p:txBody>
      </p:sp>
      <p:sp>
        <p:nvSpPr>
          <p:cNvPr id="8" name="num-25"/>
          <p:cNvSpPr/>
          <p:nvPr/>
        </p:nvSpPr>
        <p:spPr>
          <a:xfrm>
            <a:off x="502920" y="2532888"/>
            <a:ext cx="420624" cy="420624"/>
          </a:xfrm>
          <a:prstGeom prst="ellipse">
            <a:avLst/>
          </a:prstGeom>
          <a:solidFill>
            <a:schemeClr val="tx1"/>
          </a:solidFill>
          <a:ln/>
        </p:spPr>
      </p:sp>
      <p:sp>
        <p:nvSpPr>
          <p:cNvPr id="9" name="text-26"/>
          <p:cNvSpPr txBox="1"/>
          <p:nvPr/>
        </p:nvSpPr>
        <p:spPr>
          <a:xfrm>
            <a:off x="502920" y="253288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27"/>
          <p:cNvSpPr txBox="1"/>
          <p:nvPr/>
        </p:nvSpPr>
        <p:spPr>
          <a:xfrm>
            <a:off x="1143000" y="2514600"/>
            <a:ext cx="6583680" cy="320040"/>
          </a:xfrm>
          <a:prstGeom prst="rect">
            <a:avLst/>
          </a:prstGeom>
          <a:noFill/>
          <a:ln/>
        </p:spPr>
        <p:txBody>
          <a:bodyPr wrap="square" lIns="0" tIns="0" rIns="0" bIns="0" rtlCol="0" anchor="t"/>
          <a:lstStyle/>
          <a:p>
            <a:pPr indent="0" marL="0">
              <a:buNone/>
            </a:pPr>
            <a:r>
              <a:rPr lang="en-US" sz="1600" b="1" dirty="0">
                <a:solidFill>
                  <a:schemeClr val="tx1"/>
                </a:solidFill>
              </a:rPr>
              <a:t>But at list prices the economics don't work</a:t>
            </a:r>
            <a:endParaRPr lang="en-US" sz="1600" dirty="0"/>
          </a:p>
        </p:txBody>
      </p:sp>
      <p:sp>
        <p:nvSpPr>
          <p:cNvPr id="11" name="text-28"/>
          <p:cNvSpPr txBox="1"/>
          <p:nvPr/>
        </p:nvSpPr>
        <p:spPr>
          <a:xfrm>
            <a:off x="1143000" y="2862072"/>
            <a:ext cx="6583680" cy="731520"/>
          </a:xfrm>
          <a:prstGeom prst="rect">
            <a:avLst/>
          </a:prstGeom>
          <a:noFill/>
          <a:ln/>
        </p:spPr>
        <p:txBody>
          <a:bodyPr wrap="square" lIns="0" tIns="0" rIns="0" bIns="0" rtlCol="0" anchor="t"/>
          <a:lstStyle/>
          <a:p>
            <a:pPr indent="0" marL="0">
              <a:buNone/>
            </a:pPr>
            <a:r>
              <a:rPr lang="en-US" sz="1400" dirty="0">
                <a:solidFill>
                  <a:schemeClr val="tx2"/>
                </a:solidFill>
              </a:rPr>
              <a:t>Usage-based ACV is ~$5.4K (SMB) and ~$9.7K (mid-market). Distribution lean pilot NPV −$1.89M at 12%; a sales-led team −$5.44M.</a:t>
            </a:r>
            <a:endParaRPr lang="en-US" sz="1400" dirty="0"/>
          </a:p>
        </p:txBody>
      </p:sp>
      <p:sp>
        <p:nvSpPr>
          <p:cNvPr id="12" name="num-29"/>
          <p:cNvSpPr/>
          <p:nvPr/>
        </p:nvSpPr>
        <p:spPr>
          <a:xfrm>
            <a:off x="502920" y="3694176"/>
            <a:ext cx="420624" cy="420624"/>
          </a:xfrm>
          <a:prstGeom prst="ellipse">
            <a:avLst/>
          </a:prstGeom>
          <a:solidFill>
            <a:schemeClr val="tx1"/>
          </a:solidFill>
          <a:ln/>
        </p:spPr>
      </p:sp>
      <p:sp>
        <p:nvSpPr>
          <p:cNvPr id="13" name="text-30"/>
          <p:cNvSpPr txBox="1"/>
          <p:nvPr/>
        </p:nvSpPr>
        <p:spPr>
          <a:xfrm>
            <a:off x="502920" y="369417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31"/>
          <p:cNvSpPr txBox="1"/>
          <p:nvPr/>
        </p:nvSpPr>
        <p:spPr>
          <a:xfrm>
            <a:off x="1143000" y="3675888"/>
            <a:ext cx="6583680" cy="320040"/>
          </a:xfrm>
          <a:prstGeom prst="rect">
            <a:avLst/>
          </a:prstGeom>
          <a:noFill/>
          <a:ln/>
        </p:spPr>
        <p:txBody>
          <a:bodyPr wrap="square" lIns="0" tIns="0" rIns="0" bIns="0" rtlCol="0" anchor="t"/>
          <a:lstStyle/>
          <a:p>
            <a:pPr indent="0" marL="0">
              <a:buNone/>
            </a:pPr>
            <a:r>
              <a:rPr lang="en-US" sz="1600" b="1" dirty="0">
                <a:solidFill>
                  <a:schemeClr val="tx1"/>
                </a:solidFill>
              </a:rPr>
              <a:t>No staffed option beats putting the money into Clay's core</a:t>
            </a:r>
            <a:endParaRPr lang="en-US" sz="1600" dirty="0"/>
          </a:p>
        </p:txBody>
      </p:sp>
      <p:sp>
        <p:nvSpPr>
          <p:cNvPr id="15" name="text-32"/>
          <p:cNvSpPr txBox="1"/>
          <p:nvPr/>
        </p:nvSpPr>
        <p:spPr>
          <a:xfrm>
            <a:off x="1143000" y="4023360"/>
            <a:ext cx="6583680" cy="731520"/>
          </a:xfrm>
          <a:prstGeom prst="rect">
            <a:avLst/>
          </a:prstGeom>
          <a:noFill/>
          <a:ln/>
        </p:spPr>
        <p:txBody>
          <a:bodyPr wrap="square" lIns="0" tIns="0" rIns="0" bIns="0" rtlCol="0" anchor="t"/>
          <a:lstStyle/>
          <a:p>
            <a:pPr indent="0" marL="0">
              <a:buNone/>
            </a:pPr>
            <a:r>
              <a:rPr lang="en-US" sz="1400" dirty="0">
                <a:solidFill>
                  <a:schemeClr val="tx2"/>
                </a:solidFill>
              </a:rPr>
              <a:t>Every staffed option loses to Option 0, and P(NPV &gt; 0) is ≈0% across 5,000 correlated draws (≤ 10% even with 2× wider ranges).</a:t>
            </a:r>
            <a:endParaRPr lang="en-US" sz="1400" dirty="0"/>
          </a:p>
        </p:txBody>
      </p:sp>
      <p:sp>
        <p:nvSpPr>
          <p:cNvPr id="16" name="num-33"/>
          <p:cNvSpPr/>
          <p:nvPr/>
        </p:nvSpPr>
        <p:spPr>
          <a:xfrm>
            <a:off x="502920" y="4855464"/>
            <a:ext cx="420624" cy="420624"/>
          </a:xfrm>
          <a:prstGeom prst="ellipse">
            <a:avLst/>
          </a:prstGeom>
          <a:solidFill>
            <a:schemeClr val="tx1"/>
          </a:solidFill>
          <a:ln/>
        </p:spPr>
      </p:sp>
      <p:sp>
        <p:nvSpPr>
          <p:cNvPr id="17" name="text-34"/>
          <p:cNvSpPr txBox="1"/>
          <p:nvPr/>
        </p:nvSpPr>
        <p:spPr>
          <a:xfrm>
            <a:off x="502920" y="4855464"/>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text-35"/>
          <p:cNvSpPr txBox="1"/>
          <p:nvPr/>
        </p:nvSpPr>
        <p:spPr>
          <a:xfrm>
            <a:off x="1143000" y="4837176"/>
            <a:ext cx="6583680" cy="320040"/>
          </a:xfrm>
          <a:prstGeom prst="rect">
            <a:avLst/>
          </a:prstGeom>
          <a:noFill/>
          <a:ln/>
        </p:spPr>
        <p:txBody>
          <a:bodyPr wrap="square" lIns="0" tIns="0" rIns="0" bIns="0" rtlCol="0" anchor="t"/>
          <a:lstStyle/>
          <a:p>
            <a:pPr indent="0" marL="0">
              <a:buNone/>
            </a:pPr>
            <a:r>
              <a:rPr lang="en-US" sz="1600" b="1" dirty="0">
                <a:solidFill>
                  <a:schemeClr val="tx1"/>
                </a:solidFill>
              </a:rPr>
              <a:t>So validate first, then decide</a:t>
            </a:r>
            <a:endParaRPr lang="en-US" sz="1600" dirty="0"/>
          </a:p>
        </p:txBody>
      </p:sp>
      <p:sp>
        <p:nvSpPr>
          <p:cNvPr id="19" name="text-36"/>
          <p:cNvSpPr txBox="1"/>
          <p:nvPr/>
        </p:nvSpPr>
        <p:spPr>
          <a:xfrm>
            <a:off x="1143000" y="5184648"/>
            <a:ext cx="6583680" cy="731520"/>
          </a:xfrm>
          <a:prstGeom prst="rect">
            <a:avLst/>
          </a:prstGeom>
          <a:noFill/>
          <a:ln/>
        </p:spPr>
        <p:txBody>
          <a:bodyPr wrap="square" lIns="0" tIns="0" rIns="0" bIns="0" rtlCol="0" anchor="t"/>
          <a:lstStyle/>
          <a:p>
            <a:pPr indent="0" marL="0">
              <a:buNone/>
            </a:pPr>
            <a:r>
              <a:rPr lang="en-US" sz="1400" dirty="0">
                <a:solidFill>
                  <a:schemeClr val="tx2"/>
                </a:solidFill>
              </a:rPr>
              <a:t>A ≤ $0.2M, two-quarter sprint in 4236 and 4238 measures ACV, demand, conversion, coverage and partners. Go to a no-team solution play only if pre-set thresholds pass; otherwise stop.</a:t>
            </a:r>
            <a:endParaRPr lang="en-US" sz="1400" dirty="0"/>
          </a:p>
        </p:txBody>
      </p:sp>
      <p:sp>
        <p:nvSpPr>
          <p:cNvPr id="20" name="panel-37"/>
          <p:cNvSpPr/>
          <p:nvPr/>
        </p:nvSpPr>
        <p:spPr>
          <a:xfrm>
            <a:off x="8001000" y="1325880"/>
            <a:ext cx="3685032" cy="4617720"/>
          </a:xfrm>
          <a:prstGeom prst="rect">
            <a:avLst/>
          </a:prstGeom>
          <a:solidFill>
            <a:schemeClr val="accent1">
              <a:alpha val="9000"/>
            </a:schemeClr>
          </a:solidFill>
          <a:ln/>
        </p:spPr>
      </p:sp>
      <p:sp>
        <p:nvSpPr>
          <p:cNvPr id="21" name="text-38"/>
          <p:cNvSpPr txBox="1"/>
          <p:nvPr/>
        </p:nvSpPr>
        <p:spPr>
          <a:xfrm>
            <a:off x="8229600" y="1481328"/>
            <a:ext cx="3291840" cy="320040"/>
          </a:xfrm>
          <a:prstGeom prst="rect">
            <a:avLst/>
          </a:prstGeom>
          <a:noFill/>
          <a:ln/>
        </p:spPr>
        <p:txBody>
          <a:bodyPr wrap="square" lIns="0" tIns="0" rIns="0" bIns="0" rtlCol="0" anchor="t"/>
          <a:lstStyle/>
          <a:p>
            <a:pPr indent="0" marL="0">
              <a:buNone/>
            </a:pPr>
            <a:r>
              <a:rPr lang="en-US" sz="1600" b="1" dirty="0">
                <a:solidFill>
                  <a:schemeClr val="accent1"/>
                </a:solidFill>
              </a:rPr>
              <a:t>The decision</a:t>
            </a:r>
            <a:endParaRPr lang="en-US" sz="1600" dirty="0"/>
          </a:p>
        </p:txBody>
      </p:sp>
      <p:sp>
        <p:nvSpPr>
          <p:cNvPr id="22" name="text-39"/>
          <p:cNvSpPr txBox="1"/>
          <p:nvPr/>
        </p:nvSpPr>
        <p:spPr>
          <a:xfrm>
            <a:off x="8229600" y="1920240"/>
            <a:ext cx="329184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Option 0</a:t>
            </a:r>
            <a:endParaRPr lang="en-US" sz="2200" dirty="0"/>
          </a:p>
        </p:txBody>
      </p:sp>
      <p:sp>
        <p:nvSpPr>
          <p:cNvPr id="23" name="text-40"/>
          <p:cNvSpPr txBox="1"/>
          <p:nvPr/>
        </p:nvSpPr>
        <p:spPr>
          <a:xfrm>
            <a:off x="8229600" y="2377440"/>
            <a:ext cx="3291840" cy="457200"/>
          </a:xfrm>
          <a:prstGeom prst="rect">
            <a:avLst/>
          </a:prstGeom>
          <a:noFill/>
          <a:ln/>
        </p:spPr>
        <p:txBody>
          <a:bodyPr wrap="square" lIns="0" tIns="0" rIns="0" bIns="0" rtlCol="0" anchor="t"/>
          <a:lstStyle/>
          <a:p>
            <a:pPr indent="0" marL="0">
              <a:buNone/>
            </a:pPr>
            <a:r>
              <a:rPr lang="en-US" sz="1200" dirty="0">
                <a:solidFill>
                  <a:schemeClr val="tx2"/>
                </a:solidFill>
              </a:rPr>
              <a:t>default: no vertical cost line in 2027</a:t>
            </a:r>
            <a:endParaRPr lang="en-US" sz="1200" dirty="0"/>
          </a:p>
        </p:txBody>
      </p:sp>
      <p:sp>
        <p:nvSpPr>
          <p:cNvPr id="24" name="text-41"/>
          <p:cNvSpPr txBox="1"/>
          <p:nvPr/>
        </p:nvSpPr>
        <p:spPr>
          <a:xfrm>
            <a:off x="8229600" y="2907792"/>
            <a:ext cx="329184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 $0.2M</a:t>
            </a:r>
            <a:endParaRPr lang="en-US" sz="2200" dirty="0"/>
          </a:p>
        </p:txBody>
      </p:sp>
      <p:sp>
        <p:nvSpPr>
          <p:cNvPr id="25" name="text-42"/>
          <p:cNvSpPr txBox="1"/>
          <p:nvPr/>
        </p:nvSpPr>
        <p:spPr>
          <a:xfrm>
            <a:off x="8229600" y="3364992"/>
            <a:ext cx="3291840" cy="457200"/>
          </a:xfrm>
          <a:prstGeom prst="rect">
            <a:avLst/>
          </a:prstGeom>
          <a:noFill/>
          <a:ln/>
        </p:spPr>
        <p:txBody>
          <a:bodyPr wrap="square" lIns="0" tIns="0" rIns="0" bIns="0" rtlCol="0" anchor="t"/>
          <a:lstStyle/>
          <a:p>
            <a:pPr indent="0" marL="0">
              <a:buNone/>
            </a:pPr>
            <a:r>
              <a:rPr lang="en-US" sz="1200" dirty="0">
                <a:solidFill>
                  <a:schemeClr val="tx2"/>
                </a:solidFill>
              </a:rPr>
              <a:t>validation sprint cap, Nov 2026 – Mar 2027</a:t>
            </a:r>
            <a:endParaRPr lang="en-US" sz="1200" dirty="0"/>
          </a:p>
        </p:txBody>
      </p:sp>
      <p:sp>
        <p:nvSpPr>
          <p:cNvPr id="26" name="text-43"/>
          <p:cNvSpPr txBox="1"/>
          <p:nvPr/>
        </p:nvSpPr>
        <p:spPr>
          <a:xfrm>
            <a:off x="8229600" y="3895344"/>
            <a:ext cx="329184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 $14.6K</a:t>
            </a:r>
            <a:endParaRPr lang="en-US" sz="2200" dirty="0"/>
          </a:p>
        </p:txBody>
      </p:sp>
      <p:sp>
        <p:nvSpPr>
          <p:cNvPr id="27" name="text-44"/>
          <p:cNvSpPr txBox="1"/>
          <p:nvPr/>
        </p:nvSpPr>
        <p:spPr>
          <a:xfrm>
            <a:off x="8229600" y="4352544"/>
            <a:ext cx="3291840" cy="457200"/>
          </a:xfrm>
          <a:prstGeom prst="rect">
            <a:avLst/>
          </a:prstGeom>
          <a:noFill/>
          <a:ln/>
        </p:spPr>
        <p:txBody>
          <a:bodyPr wrap="square" lIns="0" tIns="0" rIns="0" bIns="0" rtlCol="0" anchor="t"/>
          <a:lstStyle/>
          <a:p>
            <a:pPr indent="0" marL="0">
              <a:buNone/>
            </a:pPr>
            <a:r>
              <a:rPr lang="en-US" sz="1200" dirty="0">
                <a:solidFill>
                  <a:schemeClr val="tx2"/>
                </a:solidFill>
              </a:rPr>
              <a:t>mid-market ACV the sprint must show (mandatory test)</a:t>
            </a:r>
            <a:endParaRPr lang="en-US" sz="1200" dirty="0"/>
          </a:p>
        </p:txBody>
      </p:sp>
      <p:sp>
        <p:nvSpPr>
          <p:cNvPr id="28" name="text-45"/>
          <p:cNvSpPr txBox="1"/>
          <p:nvPr/>
        </p:nvSpPr>
        <p:spPr>
          <a:xfrm>
            <a:off x="8229600" y="4882896"/>
            <a:ext cx="329184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~$0.2M</a:t>
            </a:r>
            <a:endParaRPr lang="en-US" sz="2200" dirty="0"/>
          </a:p>
        </p:txBody>
      </p:sp>
      <p:sp>
        <p:nvSpPr>
          <p:cNvPr id="29" name="text-46"/>
          <p:cNvSpPr txBox="1"/>
          <p:nvPr/>
        </p:nvSpPr>
        <p:spPr>
          <a:xfrm>
            <a:off x="8229600" y="5340096"/>
            <a:ext cx="3291840" cy="457200"/>
          </a:xfrm>
          <a:prstGeom prst="rect">
            <a:avLst/>
          </a:prstGeom>
          <a:noFill/>
          <a:ln/>
        </p:spPr>
        <p:txBody>
          <a:bodyPr wrap="square" lIns="0" tIns="0" rIns="0" bIns="0" rtlCol="0" anchor="t"/>
          <a:lstStyle/>
          <a:p>
            <a:pPr indent="0" marL="0">
              <a:buNone/>
            </a:pPr>
            <a:r>
              <a:rPr lang="en-US" sz="1200" dirty="0">
                <a:solidFill>
                  <a:schemeClr val="tx2"/>
                </a:solidFill>
              </a:rPr>
              <a:t>maximum loss if the sprint says stop (v1 pilot: ~$1.0M)</a:t>
            </a:r>
            <a:endParaRPr lang="en-US" sz="12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Distribution has the fewest firms but by far the most sellers per firm</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Sources: U.S. Census Bureau, 2022 Economic Census, Employment Size of Firms (S14) — firms, not establishments, de-duplicated [C]; BLS OEWS May 2025 (S15). Cores: NAICS 4235–4238 · 326/332/333/335 · 5413/5415/5416/5418.</a:t>
            </a:r>
            <a:endParaRPr lang="en-US" sz="1000" dirty="0"/>
          </a:p>
        </p:txBody>
      </p:sp>
      <p:graphicFrame>
        <p:nvGraphicFramePr>
          <p:cNvPr id="4" name="chart-47" descr=""/>
          <p:cNvGraphicFramePr/>
          <p:nvPr/>
        </p:nvGraphicFramePr>
        <p:xfrm>
          <a:off x="502920" y="1325880"/>
          <a:ext cx="3611880" cy="34290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48" descr=""/>
          <p:cNvGraphicFramePr/>
          <p:nvPr/>
        </p:nvGraphicFramePr>
        <p:xfrm>
          <a:off x="4297680" y="1325880"/>
          <a:ext cx="3611880" cy="3429000"/>
        </p:xfrm>
        <a:graphic xmlns:a="http://schemas.openxmlformats.org/drawingml/2006/main">
          <a:graphicData uri="http://schemas.openxmlformats.org/drawingml/2006/chart">
            <c:chart xmlns:c="http://schemas.openxmlformats.org/drawingml/2006/chart" r:id="rId2"/>
          </a:graphicData>
        </a:graphic>
      </p:graphicFrame>
      <p:graphicFrame>
        <p:nvGraphicFramePr>
          <p:cNvPr id="6" name="chart-49" descr=""/>
          <p:cNvGraphicFramePr/>
          <p:nvPr/>
        </p:nvGraphicFramePr>
        <p:xfrm>
          <a:off x="8092440" y="1325880"/>
          <a:ext cx="3611880" cy="3429000"/>
        </p:xfrm>
        <a:graphic xmlns:a="http://schemas.openxmlformats.org/drawingml/2006/main">
          <a:graphicData uri="http://schemas.openxmlformats.org/drawingml/2006/chart">
            <c:chart xmlns:c="http://schemas.openxmlformats.org/drawingml/2006/chart" r:id="rId3"/>
          </a:graphicData>
        </a:graphic>
      </p:graphicFrame>
      <p:sp>
        <p:nvSpPr>
          <p:cNvPr id="7" name="panel-50"/>
          <p:cNvSpPr/>
          <p:nvPr/>
        </p:nvSpPr>
        <p:spPr>
          <a:xfrm>
            <a:off x="502920" y="4983480"/>
            <a:ext cx="11183112" cy="914400"/>
          </a:xfrm>
          <a:prstGeom prst="rect">
            <a:avLst/>
          </a:prstGeom>
          <a:solidFill>
            <a:schemeClr val="accent1">
              <a:alpha val="9000"/>
            </a:schemeClr>
          </a:solidFill>
          <a:ln/>
        </p:spPr>
      </p:sp>
      <p:sp>
        <p:nvSpPr>
          <p:cNvPr id="8" name="text-51"/>
          <p:cNvSpPr txBox="1"/>
          <p:nvPr/>
        </p:nvSpPr>
        <p:spPr>
          <a:xfrm>
            <a:off x="731520" y="5093208"/>
            <a:ext cx="10725912" cy="731520"/>
          </a:xfrm>
          <a:prstGeom prst="rect">
            <a:avLst/>
          </a:prstGeom>
          <a:noFill/>
          <a:ln/>
        </p:spPr>
        <p:txBody>
          <a:bodyPr wrap="square" lIns="0" tIns="0" rIns="0" bIns="0" rtlCol="0" anchor="t"/>
          <a:lstStyle/>
          <a:p>
            <a:pPr indent="0" marL="0">
              <a:buNone/>
            </a:pPr>
            <a:r>
              <a:rPr lang="en-US" sz="1400" b="1" dirty="0">
                <a:solidFill>
                  <a:schemeClr val="accent1"/>
                </a:solidFill>
              </a:rPr>
              <a:t>So what  </a:t>
            </a:r>
            <a:pPr indent="0" marL="0">
              <a:buNone/>
            </a:pPr>
            <a:r>
              <a:rPr lang="en-US" sz="1400" dirty="0">
                <a:solidFill>
                  <a:schemeClr val="tx1"/>
                </a:solidFill>
              </a:rPr>
              <a:t>Distribution trades market breadth for need intensity: an in-scope distributor employs ~28 sales staff, ~3× a professional-services firm. Tools priced per seat charge for every one of them; Clay's plans do not. Whether that density turns into revenue is the question the rest of the deck tests.</a:t>
            </a:r>
            <a:endParaRPr lang="en-US" sz="14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At realistic ACVs, each vertical is worth ~0.6–1.2% of Clay's ARR — an option, not a pivot</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Sources: 02_Market_Sizing v2 — Census 2022 (S14); usage-based ACV at Clay list prices (S01); CRM in use 56% for distribution (S25). Clay ARR ~$200M is a Sacra estimate (S23). Penetration is uniform across segments by design, so SOM is an assumption-driven sizing [C/D].</a:t>
            </a:r>
            <a:endParaRPr lang="en-US" sz="1000" dirty="0"/>
          </a:p>
        </p:txBody>
      </p:sp>
      <p:graphicFrame>
        <p:nvGraphicFramePr>
          <p:cNvPr id="4" name="chart-52" descr=""/>
          <p:cNvGraphicFramePr/>
          <p:nvPr/>
        </p:nvGraphicFramePr>
        <p:xfrm>
          <a:off x="502920" y="1325880"/>
          <a:ext cx="603504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table-53"/>
          <p:cNvGraphicFramePr>
            <a:graphicFrameLocks noGrp="1"/>
          </p:cNvGraphicFramePr>
          <p:nvPr>
            <p:extLst>
              <p:ext uri="{D42A27DB-BD31-4B8C-83A1-F6EECF244321}">
                <p14:modId xmlns:p14="http://schemas.microsoft.com/office/powerpoint/2010/main" val="1579011935"/>
              </p:ext>
            </p:extLst>
          </p:nvPr>
        </p:nvGraphicFramePr>
        <p:xfrm>
          <a:off x="6812280" y="1371600"/>
          <a:ext cx="4873752" cy="914400"/>
        </p:xfrm>
        <a:graphic>
          <a:graphicData uri="http://schemas.openxmlformats.org/drawingml/2006/table">
            <a:tbl>
              <a:tblPr/>
              <a:tblGrid>
                <a:gridCol w="1417320"/>
                <a:gridCol w="1005840"/>
                <a:gridCol w="960120"/>
                <a:gridCol w="1490472"/>
              </a:tblGrid>
              <a:tr h="384048">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Segment</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SOM, year-3 ARR</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 of Clay est. ARR</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ACV: SMB / MM / Ent</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r>
              <a:tr h="384048">
                <a:tc>
                  <a:txBody>
                    <a:bodyPr/>
                    <a:lstStyle/>
                    <a:p>
                      <a:pPr indent="0" marL="0">
                        <a:buNone/>
                      </a:pPr>
                      <a:r>
                        <a:rPr lang="en-US" sz="1100" b="1" dirty="0">
                          <a:solidFill>
                            <a:srgbClr val="1B2433"/>
                          </a:solidFill>
                          <a:latin typeface="Arial" pitchFamily="34" charset="0"/>
                          <a:ea typeface="Arial" pitchFamily="34" charset="-122"/>
                          <a:cs typeface="Arial" pitchFamily="34" charset="-120"/>
                        </a:rPr>
                        <a:t>Distribution</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$1.2M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0.6%</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$5.4K / $9.7K / $61.7K</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84048">
                <a:tc>
                  <a:txBody>
                    <a:bodyPr/>
                    <a:lstStyle/>
                    <a:p>
                      <a:pPr indent="0" marL="0">
                        <a:buNone/>
                      </a:pPr>
                      <a:r>
                        <a:rPr lang="en-US" sz="1100" dirty="0">
                          <a:solidFill>
                            <a:srgbClr val="1B2433"/>
                          </a:solidFill>
                          <a:latin typeface="Arial" pitchFamily="34" charset="0"/>
                          <a:ea typeface="Arial" pitchFamily="34" charset="-122"/>
                          <a:cs typeface="Arial" pitchFamily="34" charset="-120"/>
                        </a:rPr>
                        <a:t>Manufacturing</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$1.2M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0.6%</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$5.4K / $5.4K / $44.3K</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84048">
                <a:tc>
                  <a:txBody>
                    <a:bodyPr/>
                    <a:lstStyle/>
                    <a:p>
                      <a:pPr indent="0" marL="0">
                        <a:buNone/>
                      </a:pPr>
                      <a:r>
                        <a:rPr lang="en-US" sz="1100" dirty="0">
                          <a:solidFill>
                            <a:srgbClr val="1B2433"/>
                          </a:solidFill>
                          <a:latin typeface="Arial" pitchFamily="34" charset="0"/>
                          <a:ea typeface="Arial" pitchFamily="34" charset="-122"/>
                          <a:cs typeface="Arial" pitchFamily="34" charset="-120"/>
                        </a:rPr>
                        <a:t>Professional services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$2.4M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1.2%</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$5.4K / $5.4K / $44.3K</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6" name="panel-54"/>
          <p:cNvSpPr/>
          <p:nvPr/>
        </p:nvSpPr>
        <p:spPr>
          <a:xfrm>
            <a:off x="6812280" y="3154680"/>
            <a:ext cx="4873752" cy="2103120"/>
          </a:xfrm>
          <a:prstGeom prst="rect">
            <a:avLst/>
          </a:prstGeom>
          <a:solidFill>
            <a:schemeClr val="bg2"/>
          </a:solidFill>
          <a:ln/>
        </p:spPr>
      </p:sp>
      <p:sp>
        <p:nvSpPr>
          <p:cNvPr id="7" name="text-55"/>
          <p:cNvSpPr txBox="1"/>
          <p:nvPr/>
        </p:nvSpPr>
        <p:spPr>
          <a:xfrm>
            <a:off x="6995160" y="3273552"/>
            <a:ext cx="4526280" cy="1920240"/>
          </a:xfrm>
          <a:prstGeom prst="rect">
            <a:avLst/>
          </a:prstGeom>
          <a:noFill/>
          <a:ln/>
        </p:spPr>
        <p:txBody>
          <a:bodyPr wrap="square" lIns="0" tIns="0" rIns="0" bIns="0" rtlCol="0" anchor="t"/>
          <a:lstStyle/>
          <a:p>
            <a:pPr indent="0" marL="0">
              <a:buNone/>
            </a:pPr>
            <a:r>
              <a:rPr lang="en-US" sz="1200" b="1" dirty="0">
                <a:solidFill>
                  <a:schemeClr val="accent1"/>
                </a:solidFill>
              </a:rPr>
              <a:t>What changed (v2)  </a:t>
            </a:r>
            <a:endParaRPr lang="en-US" sz="1200" dirty="0"/>
          </a:p>
          <a:p>
            <a:pPr indent="0" marL="0">
              <a:buNone/>
            </a:pPr>
            <a:r>
              <a:rPr lang="en-US" sz="1200" dirty="0">
                <a:solidFill>
                  <a:schemeClr val="tx1"/>
                </a:solidFill>
              </a:rPr>
              <a:t>ACV now follows each segment's sellers per firm and Clay's published usage meters, instead of a uniform $7.5K / $20K / $60K. SMB sits at the $5,352 Growth floor everywhere; only distribution's mid-market rises above it.</a:t>
            </a:r>
            <a:endParaRPr lang="en-US" sz="1200" dirty="0"/>
          </a:p>
          <a:p>
            <a:pPr indent="0" marL="0">
              <a:buNone/>
            </a:pPr>
            <a:r>
              <a:rPr lang="en-US" sz="600" dirty="0">
                <a:solidFill>
                  <a:schemeClr val="tx1"/>
                </a:solidFill>
              </a:rPr>
              <a:t> </a:t>
            </a:r>
            <a:endParaRPr lang="en-US" sz="1200" dirty="0"/>
          </a:p>
          <a:p>
            <a:pPr indent="0" marL="0">
              <a:buNone/>
            </a:pPr>
            <a:r>
              <a:rPr lang="en-US" sz="1200" dirty="0">
                <a:solidFill>
                  <a:schemeClr val="tx1"/>
                </a:solidFill>
              </a:rPr>
              <a:t>v1 TAM: $131M / $281M / $385M. Even the compounded High SOM stays below ~4% of Clay's ARR.</a:t>
            </a:r>
            <a:endParaRPr lang="en-US" sz="1200" dirty="0"/>
          </a:p>
        </p:txBody>
      </p:sp>
      <p:sp>
        <p:nvSpPr>
          <p:cNvPr id="8" name="panel-56"/>
          <p:cNvSpPr/>
          <p:nvPr/>
        </p:nvSpPr>
        <p:spPr>
          <a:xfrm>
            <a:off x="502920" y="5440680"/>
            <a:ext cx="11183112" cy="502920"/>
          </a:xfrm>
          <a:prstGeom prst="rect">
            <a:avLst/>
          </a:prstGeom>
          <a:solidFill>
            <a:schemeClr val="accent1">
              <a:alpha val="9000"/>
            </a:schemeClr>
          </a:solidFill>
          <a:ln/>
        </p:spPr>
      </p:sp>
      <p:sp>
        <p:nvSpPr>
          <p:cNvPr id="9" name="text-57"/>
          <p:cNvSpPr txBox="1"/>
          <p:nvPr/>
        </p:nvSpPr>
        <p:spPr>
          <a:xfrm>
            <a:off x="731520" y="5550408"/>
            <a:ext cx="10725912" cy="320040"/>
          </a:xfrm>
          <a:prstGeom prst="rect">
            <a:avLst/>
          </a:prstGeom>
          <a:noFill/>
          <a:ln/>
        </p:spPr>
        <p:txBody>
          <a:bodyPr wrap="square" lIns="0" tIns="0" rIns="0" bIns="0" rtlCol="0" anchor="t"/>
          <a:lstStyle/>
          <a:p>
            <a:pPr indent="0" marL="0">
              <a:buNone/>
            </a:pPr>
            <a:r>
              <a:rPr lang="en-US" sz="1400" b="1" dirty="0">
                <a:solidFill>
                  <a:schemeClr val="accent1"/>
                </a:solidFill>
              </a:rPr>
              <a:t>Refined in Phase 4  </a:t>
            </a:r>
            <a:pPr indent="0" marL="0">
              <a:buNone/>
            </a:pPr>
            <a:r>
              <a:rPr lang="en-US" sz="1400" dirty="0">
                <a:solidFill>
                  <a:schemeClr val="tx1"/>
                </a:solidFill>
              </a:rPr>
              <a:t>Program SAM: ~4,450 distributors (NAICS 4236–4238, CRM in use, not yet Clay customers).</a:t>
            </a:r>
            <a:endParaRPr lang="en-US" sz="14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Clay's edge is largest where adoption is hardest: distributors' customers are least visible online and their teams least technical</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Sources: BLS OEWS May 2025 (S15); persona coverage = BLS education mix (S29) × Pew LinkedIn use by education (S28), an indirect proxy [C]; scores (1–5) from 04_Competitive_Analysis [C].</a:t>
            </a:r>
            <a:endParaRPr lang="en-US" sz="1000" dirty="0"/>
          </a:p>
        </p:txBody>
      </p:sp>
      <p:graphicFrame>
        <p:nvGraphicFramePr>
          <p:cNvPr id="6" name="table-58"/>
          <p:cNvGraphicFramePr>
            <a:graphicFrameLocks noGrp="1"/>
          </p:cNvGraphicFramePr>
          <p:nvPr>
            <p:extLst>
              <p:ext uri="{D42A27DB-BD31-4B8C-83A1-F6EECF244321}">
                <p14:modId xmlns:p14="http://schemas.microsoft.com/office/powerpoint/2010/main" val="1579011935"/>
              </p:ext>
            </p:extLst>
          </p:nvPr>
        </p:nvGraphicFramePr>
        <p:xfrm>
          <a:off x="502920" y="1371600"/>
          <a:ext cx="7726680" cy="914400"/>
        </p:xfrm>
        <a:graphic>
          <a:graphicData uri="http://schemas.openxmlformats.org/drawingml/2006/table">
            <a:tbl>
              <a:tblPr/>
              <a:tblGrid>
                <a:gridCol w="3611880"/>
                <a:gridCol w="1463040"/>
                <a:gridCol w="1325880"/>
                <a:gridCol w="1325880"/>
              </a:tblGrid>
              <a:tr h="566928">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Indicator</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Distribution</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Manufacturing</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Prof. services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r>
              <a:tr h="566928">
                <a:tc>
                  <a:txBody>
                    <a:bodyPr/>
                    <a:lstStyle/>
                    <a:p>
                      <a:pPr indent="0" marL="0">
                        <a:buNone/>
                      </a:pPr>
                      <a:r>
                        <a:rPr lang="en-US" sz="1200" dirty="0">
                          <a:solidFill>
                            <a:srgbClr val="1B2433"/>
                          </a:solidFill>
                          <a:latin typeface="Arial" pitchFamily="34" charset="0"/>
                          <a:ea typeface="Arial" pitchFamily="34" charset="-122"/>
                          <a:cs typeface="Arial" pitchFamily="34" charset="-120"/>
                        </a:rPr>
                        <a:t>Need: sales occupations, % of employment (all industries 8.6%)</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22.0%</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E2EEE9"/>
                    </a:solidFill>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2.7%</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5E4E4"/>
                    </a:solidFill>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6.2%</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66928">
                <a:tc>
                  <a:txBody>
                    <a:bodyPr/>
                    <a:lstStyle/>
                    <a:p>
                      <a:pPr indent="0" marL="0">
                        <a:buNone/>
                      </a:pPr>
                      <a:r>
                        <a:rPr lang="en-US" sz="1200" dirty="0">
                          <a:solidFill>
                            <a:srgbClr val="1B2433"/>
                          </a:solidFill>
                          <a:latin typeface="Arial" pitchFamily="34" charset="0"/>
                          <a:ea typeface="Arial" pitchFamily="34" charset="-122"/>
                          <a:cs typeface="Arial" pitchFamily="34" charset="-120"/>
                        </a:rPr>
                        <a:t>Data gap: est. LinkedIn presence of customers' personas (lower = harder for databases)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26% (contractors 20%)</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E2EEE9"/>
                    </a:solidFill>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41%</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42%</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66928">
                <a:tc>
                  <a:txBody>
                    <a:bodyPr/>
                    <a:lstStyle/>
                    <a:p>
                      <a:pPr indent="0" marL="0">
                        <a:buNone/>
                      </a:pPr>
                      <a:r>
                        <a:rPr lang="en-US" sz="1200" dirty="0">
                          <a:solidFill>
                            <a:srgbClr val="1B2433"/>
                          </a:solidFill>
                          <a:latin typeface="Arial" pitchFamily="34" charset="0"/>
                          <a:ea typeface="Arial" pitchFamily="34" charset="-122"/>
                          <a:cs typeface="Arial" pitchFamily="34" charset="-120"/>
                        </a:rPr>
                        <a:t>Competitive position (1–5)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4.0</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E2EEE9"/>
                    </a:solidFill>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3.3</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2.3</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5E4E4"/>
                    </a:solidFill>
                  </a:tcPr>
                </a:tc>
              </a:tr>
              <a:tr h="566928">
                <a:tc>
                  <a:txBody>
                    <a:bodyPr/>
                    <a:lstStyle/>
                    <a:p>
                      <a:pPr indent="0" marL="0">
                        <a:buNone/>
                      </a:pPr>
                      <a:r>
                        <a:rPr lang="en-US" sz="1200" dirty="0">
                          <a:solidFill>
                            <a:srgbClr val="1B2433"/>
                          </a:solidFill>
                          <a:latin typeface="Arial" pitchFamily="34" charset="0"/>
                          <a:ea typeface="Arial" pitchFamily="34" charset="-122"/>
                          <a:cs typeface="Arial" pitchFamily="34" charset="-120"/>
                        </a:rPr>
                        <a:t>Builder capacity: computer occupations, % of employment (all 3.4%)</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2.3%</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5E4E4"/>
                    </a:solidFill>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5E4E4"/>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24.2%</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E2EEE9"/>
                    </a:solidFill>
                  </a:tcPr>
                </a:tc>
              </a:tr>
              <a:tr h="566928">
                <a:tc>
                  <a:txBody>
                    <a:bodyPr/>
                    <a:lstStyle/>
                    <a:p>
                      <a:pPr indent="0" marL="0">
                        <a:buNone/>
                      </a:pPr>
                      <a:r>
                        <a:rPr lang="en-US" sz="1200" dirty="0">
                          <a:solidFill>
                            <a:srgbClr val="1B2433"/>
                          </a:solidFill>
                          <a:latin typeface="Arial" pitchFamily="34" charset="0"/>
                          <a:ea typeface="Arial" pitchFamily="34" charset="-122"/>
                          <a:cs typeface="Arial" pitchFamily="34" charset="-120"/>
                        </a:rPr>
                        <a:t>Adoption / execution fit (1–5)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2.0</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5E4E4"/>
                    </a:solidFill>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5E4E4"/>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4.5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E2EEE9"/>
                    </a:solidFill>
                  </a:tcPr>
                </a:tc>
              </a:tr>
              <a:tr h="566928">
                <a:tc>
                  <a:txBody>
                    <a:bodyPr/>
                    <a:lstStyle/>
                    <a:p>
                      <a:pPr indent="0" marL="0">
                        <a:buNone/>
                      </a:pPr>
                      <a:r>
                        <a:rPr lang="en-US" sz="1200" dirty="0">
                          <a:solidFill>
                            <a:srgbClr val="1B2433"/>
                          </a:solidFill>
                          <a:latin typeface="Arial" pitchFamily="34" charset="0"/>
                          <a:ea typeface="Arial" pitchFamily="34" charset="-122"/>
                          <a:cs typeface="Arial" pitchFamily="34" charset="-120"/>
                        </a:rPr>
                        <a:t>Usage-based ACV per won account (list prices)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$8.9K</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E2EEE9"/>
                    </a:solidFill>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$7.1K</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$7.1K</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5" name="text-59"/>
          <p:cNvSpPr txBox="1"/>
          <p:nvPr/>
        </p:nvSpPr>
        <p:spPr>
          <a:xfrm>
            <a:off x="502920" y="5504688"/>
            <a:ext cx="7726680" cy="274320"/>
          </a:xfrm>
          <a:prstGeom prst="rect">
            <a:avLst/>
          </a:prstGeom>
          <a:noFill/>
          <a:ln/>
        </p:spPr>
        <p:txBody>
          <a:bodyPr wrap="square" lIns="0" tIns="0" rIns="0" bIns="0" rtlCol="0" anchor="t"/>
          <a:lstStyle/>
          <a:p>
            <a:pPr indent="0" marL="0">
              <a:buNone/>
            </a:pPr>
            <a:r>
              <a:rPr lang="en-US" sz="1100" dirty="0">
                <a:solidFill>
                  <a:schemeClr val="tx2"/>
                </a:solidFill>
              </a:rPr>
              <a:t>Green = favorable for Clay · red = unfavorable</a:t>
            </a:r>
            <a:endParaRPr lang="en-US" sz="1100" dirty="0"/>
          </a:p>
        </p:txBody>
      </p:sp>
      <p:sp>
        <p:nvSpPr>
          <p:cNvPr id="6" name="panel-60"/>
          <p:cNvSpPr/>
          <p:nvPr/>
        </p:nvSpPr>
        <p:spPr>
          <a:xfrm>
            <a:off x="8503920" y="1371600"/>
            <a:ext cx="3182112" cy="4434840"/>
          </a:xfrm>
          <a:prstGeom prst="rect">
            <a:avLst/>
          </a:prstGeom>
          <a:solidFill>
            <a:schemeClr val="bg2"/>
          </a:solidFill>
          <a:ln/>
        </p:spPr>
      </p:sp>
      <p:sp>
        <p:nvSpPr>
          <p:cNvPr id="7" name="text-61"/>
          <p:cNvSpPr txBox="1"/>
          <p:nvPr/>
        </p:nvSpPr>
        <p:spPr>
          <a:xfrm>
            <a:off x="8686800" y="1554480"/>
            <a:ext cx="2834640" cy="292608"/>
          </a:xfrm>
          <a:prstGeom prst="rect">
            <a:avLst/>
          </a:prstGeom>
          <a:noFill/>
          <a:ln/>
        </p:spPr>
        <p:txBody>
          <a:bodyPr wrap="square" lIns="0" tIns="0" rIns="0" bIns="0" rtlCol="0" anchor="t"/>
          <a:lstStyle/>
          <a:p>
            <a:pPr indent="0" marL="0">
              <a:buNone/>
            </a:pPr>
            <a:r>
              <a:rPr lang="en-US" sz="1400" b="1" dirty="0">
                <a:solidFill>
                  <a:schemeClr val="accent1"/>
                </a:solidFill>
              </a:rPr>
              <a:t>Fit: distribution</a:t>
            </a:r>
            <a:endParaRPr lang="en-US" sz="1400" dirty="0"/>
          </a:p>
        </p:txBody>
      </p:sp>
      <p:sp>
        <p:nvSpPr>
          <p:cNvPr id="8" name="text-62"/>
          <p:cNvSpPr txBox="1"/>
          <p:nvPr/>
        </p:nvSpPr>
        <p:spPr>
          <a:xfrm>
            <a:off x="8686800" y="1874520"/>
            <a:ext cx="2834640" cy="960120"/>
          </a:xfrm>
          <a:prstGeom prst="rect">
            <a:avLst/>
          </a:prstGeom>
          <a:noFill/>
          <a:ln/>
        </p:spPr>
        <p:txBody>
          <a:bodyPr wrap="square" lIns="0" tIns="0" rIns="0" bIns="0" rtlCol="0" anchor="t"/>
          <a:lstStyle/>
          <a:p>
            <a:pPr indent="0" marL="0">
              <a:buNone/>
            </a:pPr>
            <a:r>
              <a:rPr lang="en-US" sz="1300" dirty="0">
                <a:solidFill>
                  <a:schemeClr val="tx2"/>
                </a:solidFill>
              </a:rPr>
              <a:t>Highest need, biggest data gap, strongest competitive position and the highest ACV per account.</a:t>
            </a:r>
            <a:endParaRPr lang="en-US" sz="1300" dirty="0"/>
          </a:p>
        </p:txBody>
      </p:sp>
      <p:sp>
        <p:nvSpPr>
          <p:cNvPr id="9" name="text-63"/>
          <p:cNvSpPr txBox="1"/>
          <p:nvPr/>
        </p:nvSpPr>
        <p:spPr>
          <a:xfrm>
            <a:off x="8686800" y="2926080"/>
            <a:ext cx="2834640" cy="292608"/>
          </a:xfrm>
          <a:prstGeom prst="rect">
            <a:avLst/>
          </a:prstGeom>
          <a:noFill/>
          <a:ln/>
        </p:spPr>
        <p:txBody>
          <a:bodyPr wrap="square" lIns="0" tIns="0" rIns="0" bIns="0" rtlCol="0" anchor="t"/>
          <a:lstStyle/>
          <a:p>
            <a:pPr indent="0" marL="0">
              <a:buNone/>
            </a:pPr>
            <a:r>
              <a:rPr lang="en-US" sz="1400" b="1" dirty="0">
                <a:solidFill>
                  <a:schemeClr val="tx1"/>
                </a:solidFill>
              </a:rPr>
              <a:t>Ease: professional services</a:t>
            </a:r>
            <a:endParaRPr lang="en-US" sz="1400" dirty="0"/>
          </a:p>
        </p:txBody>
      </p:sp>
      <p:sp>
        <p:nvSpPr>
          <p:cNvPr id="10" name="text-64"/>
          <p:cNvSpPr txBox="1"/>
          <p:nvPr/>
        </p:nvSpPr>
        <p:spPr>
          <a:xfrm>
            <a:off x="8686800" y="3246120"/>
            <a:ext cx="2834640" cy="960120"/>
          </a:xfrm>
          <a:prstGeom prst="rect">
            <a:avLst/>
          </a:prstGeom>
          <a:noFill/>
          <a:ln/>
        </p:spPr>
        <p:txBody>
          <a:bodyPr wrap="square" lIns="0" tIns="0" rIns="0" bIns="0" rtlCol="0" anchor="t"/>
          <a:lstStyle/>
          <a:p>
            <a:pPr indent="0" marL="0">
              <a:buNone/>
            </a:pPr>
            <a:r>
              <a:rPr lang="en-US" sz="1300" dirty="0">
                <a:solidFill>
                  <a:schemeClr val="tx2"/>
                </a:solidFill>
              </a:rPr>
              <a:t>Technical buyers who can self-serve — but already a Clay home market, so more wins would come anyway.</a:t>
            </a:r>
            <a:endParaRPr lang="en-US" sz="1300" dirty="0"/>
          </a:p>
        </p:txBody>
      </p:sp>
      <p:sp>
        <p:nvSpPr>
          <p:cNvPr id="11" name="text-65"/>
          <p:cNvSpPr txBox="1"/>
          <p:nvPr/>
        </p:nvSpPr>
        <p:spPr>
          <a:xfrm>
            <a:off x="8686800" y="4297680"/>
            <a:ext cx="2834640" cy="292608"/>
          </a:xfrm>
          <a:prstGeom prst="rect">
            <a:avLst/>
          </a:prstGeom>
          <a:noFill/>
          <a:ln/>
        </p:spPr>
        <p:txBody>
          <a:bodyPr wrap="square" lIns="0" tIns="0" rIns="0" bIns="0" rtlCol="0" anchor="t"/>
          <a:lstStyle/>
          <a:p>
            <a:pPr indent="0" marL="0">
              <a:buNone/>
            </a:pPr>
            <a:r>
              <a:rPr lang="en-US" sz="1400" b="1" dirty="0">
                <a:solidFill>
                  <a:schemeClr val="tx1"/>
                </a:solidFill>
              </a:rPr>
              <a:t>Manufacturing</a:t>
            </a:r>
            <a:endParaRPr lang="en-US" sz="1400" dirty="0"/>
          </a:p>
        </p:txBody>
      </p:sp>
      <p:sp>
        <p:nvSpPr>
          <p:cNvPr id="12" name="text-66"/>
          <p:cNvSpPr txBox="1"/>
          <p:nvPr/>
        </p:nvSpPr>
        <p:spPr>
          <a:xfrm>
            <a:off x="8686800" y="4617720"/>
            <a:ext cx="2834640" cy="960120"/>
          </a:xfrm>
          <a:prstGeom prst="rect">
            <a:avLst/>
          </a:prstGeom>
          <a:noFill/>
          <a:ln/>
        </p:spPr>
        <p:txBody>
          <a:bodyPr wrap="square" lIns="0" tIns="0" rIns="0" bIns="0" rtlCol="0" anchor="t"/>
          <a:lstStyle/>
          <a:p>
            <a:pPr indent="0" marL="0">
              <a:buNone/>
            </a:pPr>
            <a:r>
              <a:rPr lang="en-US" sz="1300" dirty="0">
                <a:solidFill>
                  <a:schemeClr val="tx2"/>
                </a:solidFill>
              </a:rPr>
              <a:t>Fails both tests; reach it through the distributors that sell for it (H10).</a:t>
            </a:r>
            <a:endParaRPr lang="en-US" sz="13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Only Clay combines off-LinkedIn data with workflow automation — but it is the hardest option to implement</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Sources: 04_Competitive_Analysis — scores are analyst judgments from public vendor documentation [C]; some capabilities rated from general knowledge [K], pending verification. Phocas/DSG 2026 (S25); Apollo pricing (S20); Sacra (S23).</a:t>
            </a:r>
            <a:endParaRPr lang="en-US" sz="1000" dirty="0"/>
          </a:p>
        </p:txBody>
      </p:sp>
      <p:graphicFrame>
        <p:nvGraphicFramePr>
          <p:cNvPr id="7" name="table-67"/>
          <p:cNvGraphicFramePr>
            <a:graphicFrameLocks noGrp="1"/>
          </p:cNvGraphicFramePr>
          <p:nvPr>
            <p:extLst>
              <p:ext uri="{D42A27DB-BD31-4B8C-83A1-F6EECF244321}">
                <p14:modId xmlns:p14="http://schemas.microsoft.com/office/powerpoint/2010/main" val="1579011935"/>
              </p:ext>
            </p:extLst>
          </p:nvPr>
        </p:nvGraphicFramePr>
        <p:xfrm>
          <a:off x="502920" y="1371600"/>
          <a:ext cx="7589520" cy="914400"/>
        </p:xfrm>
        <a:graphic>
          <a:graphicData uri="http://schemas.openxmlformats.org/drawingml/2006/table">
            <a:tbl>
              <a:tblPr/>
              <a:tblGrid>
                <a:gridCol w="2651760"/>
                <a:gridCol w="868680"/>
                <a:gridCol w="868680"/>
                <a:gridCol w="960120"/>
                <a:gridCol w="1051560"/>
                <a:gridCol w="1188720"/>
              </a:tblGrid>
              <a:tr h="640080">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Dimension (score 1–5)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Clay</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B5532A"/>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Apollo</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ZoomInfo</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HubSpot (Breeze)</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Vertical data (Dodge, Shovels)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r>
              <a:tr h="640080">
                <a:tc>
                  <a:txBody>
                    <a:bodyPr/>
                    <a:lstStyle/>
                    <a:p>
                      <a:pPr indent="0" marL="0">
                        <a:buNone/>
                      </a:pPr>
                      <a:r>
                        <a:rPr lang="en-US" sz="1200" dirty="0">
                          <a:solidFill>
                            <a:srgbClr val="1B2433"/>
                          </a:solidFill>
                          <a:latin typeface="Arial" pitchFamily="34" charset="0"/>
                          <a:ea typeface="Arial" pitchFamily="34" charset="-122"/>
                          <a:cs typeface="Arial" pitchFamily="34" charset="-120"/>
                        </a:rPr>
                        <a:t>Data coverage of industrial buyers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5B6B82"/>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DDE2E8"/>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DDE2E8"/>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DDE2E8"/>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8C99AB"/>
                    </a:solidFill>
                  </a:tcPr>
                </a:tc>
              </a:tr>
              <a:tr h="640080">
                <a:tc>
                  <a:txBody>
                    <a:bodyPr/>
                    <a:lstStyle/>
                    <a:p>
                      <a:pPr indent="0" marL="0">
                        <a:buNone/>
                      </a:pPr>
                      <a:r>
                        <a:rPr lang="en-US" sz="1200" dirty="0">
                          <a:solidFill>
                            <a:srgbClr val="1B2433"/>
                          </a:solidFill>
                          <a:latin typeface="Arial" pitchFamily="34" charset="0"/>
                          <a:ea typeface="Arial" pitchFamily="34" charset="-122"/>
                          <a:cs typeface="Arial" pitchFamily="34" charset="-120"/>
                        </a:rPr>
                        <a:t>Workflow automation</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5B6B82"/>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BEC6D1"/>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BEC6D1"/>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8C99AB"/>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0F2F5"/>
                    </a:solidFill>
                  </a:tcPr>
                </a:tc>
              </a:tr>
              <a:tr h="640080">
                <a:tc>
                  <a:txBody>
                    <a:bodyPr/>
                    <a:lstStyle/>
                    <a:p>
                      <a:pPr indent="0" marL="0">
                        <a:buNone/>
                      </a:pPr>
                      <a:r>
                        <a:rPr lang="en-US" sz="1200" dirty="0">
                          <a:solidFill>
                            <a:srgbClr val="1B2433"/>
                          </a:solidFill>
                          <a:latin typeface="Arial" pitchFamily="34" charset="0"/>
                          <a:ea typeface="Arial" pitchFamily="34" charset="-122"/>
                          <a:cs typeface="Arial" pitchFamily="34" charset="-120"/>
                        </a:rPr>
                        <a:t>Differentiation for industrial sellers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5B6B82"/>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BEC6D1"/>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BEC6D1"/>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DDE2E8"/>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8C99AB"/>
                    </a:solidFill>
                  </a:tcPr>
                </a:tc>
              </a:tr>
              <a:tr h="640080">
                <a:tc>
                  <a:txBody>
                    <a:bodyPr/>
                    <a:lstStyle/>
                    <a:p>
                      <a:pPr indent="0" marL="0">
                        <a:buNone/>
                      </a:pPr>
                      <a:r>
                        <a:rPr lang="en-US" sz="1200" dirty="0">
                          <a:solidFill>
                            <a:srgbClr val="1B2433"/>
                          </a:solidFill>
                          <a:latin typeface="Arial" pitchFamily="34" charset="0"/>
                          <a:ea typeface="Arial" pitchFamily="34" charset="-122"/>
                          <a:cs typeface="Arial" pitchFamily="34" charset="-120"/>
                        </a:rPr>
                        <a:t>Pricing architecture</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8C99AB"/>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BEC6D1"/>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DDE2E8"/>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BEC6D1"/>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BEC6D1"/>
                    </a:solidFill>
                  </a:tcPr>
                </a:tc>
              </a:tr>
              <a:tr h="640080">
                <a:tc>
                  <a:txBody>
                    <a:bodyPr/>
                    <a:lstStyle/>
                    <a:p>
                      <a:pPr indent="0" marL="0">
                        <a:buNone/>
                      </a:pPr>
                      <a:r>
                        <a:rPr lang="en-US" sz="1200" dirty="0">
                          <a:solidFill>
                            <a:srgbClr val="1B2433"/>
                          </a:solidFill>
                          <a:latin typeface="Arial" pitchFamily="34" charset="0"/>
                          <a:ea typeface="Arial" pitchFamily="34" charset="-122"/>
                          <a:cs typeface="Arial" pitchFamily="34" charset="-120"/>
                        </a:rPr>
                        <a:t>Ease of implementation (5 = easiest)</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DDE2E8"/>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5B6B82"/>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BEC6D1"/>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5B6B82"/>
                    </a:solidFill>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8C99AB"/>
                    </a:solidFill>
                  </a:tcPr>
                </a:tc>
              </a:tr>
            </a:tbl>
          </a:graphicData>
        </a:graphic>
      </p:graphicFrame>
      <p:sp>
        <p:nvSpPr>
          <p:cNvPr id="5" name="text-68"/>
          <p:cNvSpPr txBox="1"/>
          <p:nvPr/>
        </p:nvSpPr>
        <p:spPr>
          <a:xfrm>
            <a:off x="502920" y="5349240"/>
            <a:ext cx="7589520" cy="548640"/>
          </a:xfrm>
          <a:prstGeom prst="rect">
            <a:avLst/>
          </a:prstGeom>
          <a:noFill/>
          <a:ln/>
        </p:spPr>
        <p:txBody>
          <a:bodyPr wrap="square" lIns="0" tIns="0" rIns="0" bIns="0" rtlCol="0" anchor="t"/>
          <a:lstStyle/>
          <a:p>
            <a:pPr indent="0" marL="0">
              <a:buNone/>
            </a:pPr>
            <a:r>
              <a:rPr lang="en-US" sz="1300" dirty="0">
                <a:solidFill>
                  <a:schemeClr val="tx2"/>
                </a:solidFill>
              </a:rPr>
              <a:t>Judgment scores, not measurements: the coverage advantage is what the validation sprint must prove (test T1).</a:t>
            </a:r>
            <a:endParaRPr lang="en-US" sz="1300" dirty="0"/>
          </a:p>
        </p:txBody>
      </p:sp>
      <p:sp>
        <p:nvSpPr>
          <p:cNvPr id="6" name="panel-69"/>
          <p:cNvSpPr/>
          <p:nvPr/>
        </p:nvSpPr>
        <p:spPr>
          <a:xfrm>
            <a:off x="8366760" y="1371600"/>
            <a:ext cx="3319272" cy="4526280"/>
          </a:xfrm>
          <a:prstGeom prst="rect">
            <a:avLst/>
          </a:prstGeom>
          <a:solidFill>
            <a:schemeClr val="bg2"/>
          </a:solidFill>
          <a:ln/>
        </p:spPr>
      </p:sp>
      <p:sp>
        <p:nvSpPr>
          <p:cNvPr id="7" name="text-70"/>
          <p:cNvSpPr txBox="1"/>
          <p:nvPr/>
        </p:nvSpPr>
        <p:spPr>
          <a:xfrm>
            <a:off x="8549640" y="1508760"/>
            <a:ext cx="29718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68%</a:t>
            </a:r>
            <a:endParaRPr lang="en-US" sz="2600" dirty="0"/>
          </a:p>
        </p:txBody>
      </p:sp>
      <p:sp>
        <p:nvSpPr>
          <p:cNvPr id="8" name="text-71"/>
          <p:cNvSpPr txBox="1"/>
          <p:nvPr/>
        </p:nvSpPr>
        <p:spPr>
          <a:xfrm>
            <a:off x="8549640" y="1965960"/>
            <a:ext cx="2971800" cy="685800"/>
          </a:xfrm>
          <a:prstGeom prst="rect">
            <a:avLst/>
          </a:prstGeom>
          <a:noFill/>
          <a:ln/>
        </p:spPr>
        <p:txBody>
          <a:bodyPr wrap="square" lIns="0" tIns="0" rIns="0" bIns="0" rtlCol="0" anchor="t"/>
          <a:lstStyle/>
          <a:p>
            <a:pPr indent="0" marL="0">
              <a:buNone/>
            </a:pPr>
            <a:r>
              <a:rPr lang="en-US" sz="1200" dirty="0">
                <a:solidFill>
                  <a:schemeClr val="tx2"/>
                </a:solidFill>
              </a:rPr>
              <a:t>of distributors rely on spreadsheets: the status quo is the main competitor (S25)</a:t>
            </a:r>
            <a:endParaRPr lang="en-US" sz="1200" dirty="0"/>
          </a:p>
        </p:txBody>
      </p:sp>
      <p:sp>
        <p:nvSpPr>
          <p:cNvPr id="9" name="text-72"/>
          <p:cNvSpPr txBox="1"/>
          <p:nvPr/>
        </p:nvSpPr>
        <p:spPr>
          <a:xfrm>
            <a:off x="8549640" y="2926080"/>
            <a:ext cx="29718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2.7×</a:t>
            </a:r>
            <a:endParaRPr lang="en-US" sz="2600" dirty="0"/>
          </a:p>
        </p:txBody>
      </p:sp>
      <p:sp>
        <p:nvSpPr>
          <p:cNvPr id="10" name="text-73"/>
          <p:cNvSpPr txBox="1"/>
          <p:nvPr/>
        </p:nvSpPr>
        <p:spPr>
          <a:xfrm>
            <a:off x="8549640" y="3383280"/>
            <a:ext cx="2971800" cy="685800"/>
          </a:xfrm>
          <a:prstGeom prst="rect">
            <a:avLst/>
          </a:prstGeom>
          <a:noFill/>
          <a:ln/>
        </p:spPr>
        <p:txBody>
          <a:bodyPr wrap="square" lIns="0" tIns="0" rIns="0" bIns="0" rtlCol="0" anchor="t"/>
          <a:lstStyle/>
          <a:p>
            <a:pPr indent="0" marL="0">
              <a:buNone/>
            </a:pPr>
            <a:r>
              <a:rPr lang="en-US" sz="1200" dirty="0">
                <a:solidFill>
                  <a:schemeClr val="tx2"/>
                </a:solidFill>
              </a:rPr>
              <a:t>Apollo Professional's list cost vs Clay Growth for a 28-user team; 0.87× at 9 users [C]</a:t>
            </a:r>
            <a:endParaRPr lang="en-US" sz="1200" dirty="0"/>
          </a:p>
        </p:txBody>
      </p:sp>
      <p:sp>
        <p:nvSpPr>
          <p:cNvPr id="11" name="text-74"/>
          <p:cNvSpPr txBox="1"/>
          <p:nvPr/>
        </p:nvSpPr>
        <p:spPr>
          <a:xfrm>
            <a:off x="8549640" y="4343400"/>
            <a:ext cx="297180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6 of 11</a:t>
            </a:r>
            <a:endParaRPr lang="en-US" sz="2600" dirty="0"/>
          </a:p>
        </p:txBody>
      </p:sp>
      <p:sp>
        <p:nvSpPr>
          <p:cNvPr id="12" name="text-75"/>
          <p:cNvSpPr txBox="1"/>
          <p:nvPr/>
        </p:nvSpPr>
        <p:spPr>
          <a:xfrm>
            <a:off x="8549640" y="4800600"/>
            <a:ext cx="2971800" cy="685800"/>
          </a:xfrm>
          <a:prstGeom prst="rect">
            <a:avLst/>
          </a:prstGeom>
          <a:noFill/>
          <a:ln/>
        </p:spPr>
        <p:txBody>
          <a:bodyPr wrap="square" lIns="0" tIns="0" rIns="0" bIns="0" rtlCol="0" anchor="t"/>
          <a:lstStyle/>
          <a:p>
            <a:pPr indent="0" marL="0">
              <a:buNone/>
            </a:pPr>
            <a:r>
              <a:rPr lang="en-US" sz="1200" dirty="0">
                <a:solidFill>
                  <a:schemeClr val="tx2"/>
                </a:solidFill>
              </a:rPr>
              <a:t>Clay use cases Apollo now also covers; off-LinkedIn contractor data is the gap it hasn't closed [C]</a:t>
            </a:r>
            <a:endParaRPr lang="en-US" sz="12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Clay's edge is coverage, but at list prices it monetizes only from mid-market distributors upward</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 07_Financial_Model v2, ACV Build — sellers per firm (OEWS sales share, S15) × 150 accounts × usage meters at published Growth rates (S01); Enterprise floor and 30% discount (S01, S16). Distribution, Base [C/D]. Needs: Phocas/DSG 2026 (S25).</a:t>
            </a:r>
            <a:endParaRPr lang="en-US" sz="1000" dirty="0"/>
          </a:p>
        </p:txBody>
      </p:sp>
      <p:graphicFrame>
        <p:nvGraphicFramePr>
          <p:cNvPr id="4" name="chart-76" descr=""/>
          <p:cNvGraphicFramePr/>
          <p:nvPr/>
        </p:nvGraphicFramePr>
        <p:xfrm>
          <a:off x="502920" y="1325880"/>
          <a:ext cx="5852160" cy="4526280"/>
        </p:xfrm>
        <a:graphic xmlns:a="http://schemas.openxmlformats.org/drawingml/2006/main">
          <a:graphicData uri="http://schemas.openxmlformats.org/drawingml/2006/chart">
            <c:chart xmlns:c="http://schemas.openxmlformats.org/drawingml/2006/chart" r:id="rId1"/>
          </a:graphicData>
        </a:graphic>
      </p:graphicFrame>
      <p:sp>
        <p:nvSpPr>
          <p:cNvPr id="5" name="panel-77"/>
          <p:cNvSpPr/>
          <p:nvPr/>
        </p:nvSpPr>
        <p:spPr>
          <a:xfrm>
            <a:off x="6675120" y="1325880"/>
            <a:ext cx="5010912" cy="1280160"/>
          </a:xfrm>
          <a:prstGeom prst="rect">
            <a:avLst/>
          </a:prstGeom>
          <a:solidFill>
            <a:schemeClr val="accent1">
              <a:alpha val="9000"/>
            </a:schemeClr>
          </a:solidFill>
          <a:ln/>
        </p:spPr>
      </p:sp>
      <p:sp>
        <p:nvSpPr>
          <p:cNvPr id="6" name="text-78"/>
          <p:cNvSpPr txBox="1"/>
          <p:nvPr/>
        </p:nvSpPr>
        <p:spPr>
          <a:xfrm>
            <a:off x="6858000" y="1435608"/>
            <a:ext cx="4663440" cy="1097280"/>
          </a:xfrm>
          <a:prstGeom prst="rect">
            <a:avLst/>
          </a:prstGeom>
          <a:noFill/>
          <a:ln/>
        </p:spPr>
        <p:txBody>
          <a:bodyPr wrap="square" lIns="0" tIns="0" rIns="0" bIns="0" rtlCol="0" anchor="t"/>
          <a:lstStyle/>
          <a:p>
            <a:pPr indent="0" marL="0">
              <a:buNone/>
            </a:pPr>
            <a:r>
              <a:rPr lang="en-US" sz="1400" i="1" dirty="0">
                <a:solidFill>
                  <a:schemeClr val="tx1"/>
                </a:solidFill>
              </a:rPr>
              <a:t>“Find the contractors and plants in your territories that your current database misses, and put them in your reps' CRM, scored by branch. No data team, no per-seat fees.”</a:t>
            </a:r>
            <a:endParaRPr lang="en-US" sz="1400" dirty="0"/>
          </a:p>
        </p:txBody>
      </p:sp>
      <p:sp>
        <p:nvSpPr>
          <p:cNvPr id="7" name="text-79"/>
          <p:cNvSpPr txBox="1"/>
          <p:nvPr/>
        </p:nvSpPr>
        <p:spPr>
          <a:xfrm>
            <a:off x="6675120" y="2788920"/>
            <a:ext cx="5010912" cy="292608"/>
          </a:xfrm>
          <a:prstGeom prst="rect">
            <a:avLst/>
          </a:prstGeom>
          <a:noFill/>
          <a:ln/>
        </p:spPr>
        <p:txBody>
          <a:bodyPr wrap="square" lIns="0" tIns="0" rIns="0" bIns="0" rtlCol="0" anchor="t"/>
          <a:lstStyle/>
          <a:p>
            <a:pPr indent="0" marL="0">
              <a:buNone/>
            </a:pPr>
            <a:r>
              <a:rPr lang="en-US" sz="1400" b="1" dirty="0">
                <a:solidFill>
                  <a:schemeClr val="tx1"/>
                </a:solidFill>
              </a:rPr>
              <a:t>What the value proposition still has to prove</a:t>
            </a:r>
            <a:endParaRPr lang="en-US" sz="1400" dirty="0"/>
          </a:p>
        </p:txBody>
      </p:sp>
      <p:sp>
        <p:nvSpPr>
          <p:cNvPr id="8" name="text-80"/>
          <p:cNvSpPr txBox="1"/>
          <p:nvPr/>
        </p:nvSpPr>
        <p:spPr>
          <a:xfrm>
            <a:off x="6675120" y="3154680"/>
            <a:ext cx="5010912" cy="2377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Coverage: measured uplift vs the best single database (v1's “ZoomInfo and Apollo can't see them” is withdrawn until measured)</a:t>
            </a:r>
            <a:endParaRPr lang="en-US" sz="1200" dirty="0"/>
          </a:p>
          <a:p>
            <a:pPr marL="342900" indent="-342900">
              <a:spcAft>
                <a:spcPts val="500"/>
              </a:spcAft>
              <a:buSzPct val="100000"/>
              <a:buChar char="•"/>
            </a:pPr>
            <a:r>
              <a:rPr lang="en-US" sz="1200" dirty="0">
                <a:solidFill>
                  <a:schemeClr val="tx2"/>
                </a:solidFill>
              </a:rPr>
              <a:t>Usage: committed credits worth ≥ $14.6K for a mid-market distributor (1.5× the base build)</a:t>
            </a:r>
            <a:endParaRPr lang="en-US" sz="1200" dirty="0"/>
          </a:p>
          <a:p>
            <a:pPr marL="342900" indent="-342900">
              <a:spcAft>
                <a:spcPts val="500"/>
              </a:spcAft>
              <a:buSzPct val="100000"/>
              <a:buChar char="•"/>
            </a:pPr>
            <a:r>
              <a:rPr lang="en-US" sz="1200" dirty="0">
                <a:solidFill>
                  <a:schemeClr val="tx2"/>
                </a:solidFill>
              </a:rPr>
              <a:t>Demand: Clay-run outbound meeting rate ≥ 4% with contractor-facing buyers</a:t>
            </a:r>
            <a:endParaRPr lang="en-US" sz="1200" dirty="0"/>
          </a:p>
          <a:p>
            <a:pPr marL="342900" indent="-342900">
              <a:spcAft>
                <a:spcPts val="500"/>
              </a:spcAft>
              <a:buSzPct val="100000"/>
              <a:buChar char="•"/>
            </a:pPr>
            <a:r>
              <a:rPr lang="en-US" sz="1200" dirty="0">
                <a:solidFill>
                  <a:schemeClr val="tx2"/>
                </a:solidFill>
              </a:rPr>
              <a:t>Delivery: partners willing to specialize — builder capacity is the adoption constraint</a:t>
            </a:r>
            <a:endParaRPr lang="en-US" sz="1200" dirty="0"/>
          </a:p>
        </p:txBody>
      </p:sp>
      <p:sp>
        <p:nvSpPr>
          <p:cNvPr id="9" name="text-81"/>
          <p:cNvSpPr txBox="1"/>
          <p:nvPr/>
        </p:nvSpPr>
        <p:spPr>
          <a:xfrm>
            <a:off x="6675120" y="5559552"/>
            <a:ext cx="5010912" cy="411480"/>
          </a:xfrm>
          <a:prstGeom prst="rect">
            <a:avLst/>
          </a:prstGeom>
          <a:noFill/>
          <a:ln/>
        </p:spPr>
        <p:txBody>
          <a:bodyPr wrap="square" lIns="0" tIns="0" rIns="0" bIns="0" rtlCol="0" anchor="t"/>
          <a:lstStyle/>
          <a:p>
            <a:pPr indent="0" marL="0">
              <a:buNone/>
            </a:pPr>
            <a:r>
              <a:rPr lang="en-US" sz="1100" i="1" dirty="0">
                <a:solidFill>
                  <a:schemeClr val="tx2"/>
                </a:solidFill>
              </a:rPr>
              <a:t>Not claimed: AI cross-sell from order history, replacing CRM/ERP, or efficiency gains before measurement.</a:t>
            </a:r>
            <a:endParaRPr lang="en-US" sz="11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Rebuilt without double counting, the segment scorecard is a tie — the tie-breakers favor distribution</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 06_Segment_Prioritization v2 — one indicator per criterion; ratio-to-max scaling; brief weights; contribution = score × weight [C]. Totals to one decimal; (range) = P10–P90 across 1,000 centered random weightings. v1 (4.0 / 2.7 / 3.4) archived. Dirichlet, seed 42.</a:t>
            </a:r>
            <a:endParaRPr lang="en-US" sz="1000" dirty="0"/>
          </a:p>
        </p:txBody>
      </p:sp>
      <p:graphicFrame>
        <p:nvGraphicFramePr>
          <p:cNvPr id="4" name="chart-82" descr=""/>
          <p:cNvGraphicFramePr/>
          <p:nvPr/>
        </p:nvGraphicFramePr>
        <p:xfrm>
          <a:off x="502920" y="1325880"/>
          <a:ext cx="7040880" cy="4526280"/>
        </p:xfrm>
        <a:graphic xmlns:a="http://schemas.openxmlformats.org/drawingml/2006/main">
          <a:graphicData uri="http://schemas.openxmlformats.org/drawingml/2006/chart">
            <c:chart xmlns:c="http://schemas.openxmlformats.org/drawingml/2006/chart" r:id="rId1"/>
          </a:graphicData>
        </a:graphic>
      </p:graphicFrame>
      <p:sp>
        <p:nvSpPr>
          <p:cNvPr id="5" name="panel-83"/>
          <p:cNvSpPr/>
          <p:nvPr/>
        </p:nvSpPr>
        <p:spPr>
          <a:xfrm>
            <a:off x="7863840" y="1325880"/>
            <a:ext cx="3822192" cy="4526280"/>
          </a:xfrm>
          <a:prstGeom prst="rect">
            <a:avLst/>
          </a:prstGeom>
          <a:solidFill>
            <a:schemeClr val="bg2"/>
          </a:solidFill>
          <a:ln/>
        </p:spPr>
      </p:sp>
      <p:sp>
        <p:nvSpPr>
          <p:cNvPr id="6" name="text-84"/>
          <p:cNvSpPr txBox="1"/>
          <p:nvPr/>
        </p:nvSpPr>
        <p:spPr>
          <a:xfrm>
            <a:off x="8065008" y="1463040"/>
            <a:ext cx="3474720" cy="320040"/>
          </a:xfrm>
          <a:prstGeom prst="rect">
            <a:avLst/>
          </a:prstGeom>
          <a:noFill/>
          <a:ln/>
        </p:spPr>
        <p:txBody>
          <a:bodyPr wrap="square" lIns="0" tIns="0" rIns="0" bIns="0" rtlCol="0" anchor="t"/>
          <a:lstStyle/>
          <a:p>
            <a:pPr indent="0" marL="0">
              <a:buNone/>
            </a:pPr>
            <a:r>
              <a:rPr lang="en-US" sz="1600" b="1" dirty="0">
                <a:solidFill>
                  <a:schemeClr val="tx1"/>
                </a:solidFill>
              </a:rPr>
              <a:t>Robustness is two-sided</a:t>
            </a:r>
            <a:endParaRPr lang="en-US" sz="1600" dirty="0"/>
          </a:p>
        </p:txBody>
      </p:sp>
      <p:sp>
        <p:nvSpPr>
          <p:cNvPr id="7" name="text-85"/>
          <p:cNvSpPr txBox="1"/>
          <p:nvPr/>
        </p:nvSpPr>
        <p:spPr>
          <a:xfrm>
            <a:off x="8065008" y="1901952"/>
            <a:ext cx="347472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1 vs 5</a:t>
            </a:r>
            <a:endParaRPr lang="en-US" sz="2000" dirty="0"/>
          </a:p>
        </p:txBody>
      </p:sp>
      <p:sp>
        <p:nvSpPr>
          <p:cNvPr id="8" name="text-86"/>
          <p:cNvSpPr txBox="1"/>
          <p:nvPr/>
        </p:nvSpPr>
        <p:spPr>
          <a:xfrm>
            <a:off x="8065008" y="2359152"/>
            <a:ext cx="3474720" cy="457200"/>
          </a:xfrm>
          <a:prstGeom prst="rect">
            <a:avLst/>
          </a:prstGeom>
          <a:noFill/>
          <a:ln/>
        </p:spPr>
        <p:txBody>
          <a:bodyPr wrap="square" lIns="0" tIns="0" rIns="0" bIns="0" rtlCol="0" anchor="t"/>
          <a:lstStyle/>
          <a:p>
            <a:pPr indent="0" marL="0">
              <a:buNone/>
            </a:pPr>
            <a:r>
              <a:rPr lang="en-US" sz="1200" dirty="0">
                <a:solidFill>
                  <a:schemeClr val="tx2"/>
                </a:solidFill>
              </a:rPr>
              <a:t>named weight sets won by distribution vs professional services</a:t>
            </a:r>
            <a:endParaRPr lang="en-US" sz="1200" dirty="0"/>
          </a:p>
        </p:txBody>
      </p:sp>
      <p:sp>
        <p:nvSpPr>
          <p:cNvPr id="9" name="text-87"/>
          <p:cNvSpPr txBox="1"/>
          <p:nvPr/>
        </p:nvSpPr>
        <p:spPr>
          <a:xfrm>
            <a:off x="8065008" y="2880360"/>
            <a:ext cx="347472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43% / 57%</a:t>
            </a:r>
            <a:endParaRPr lang="en-US" sz="2000" dirty="0"/>
          </a:p>
        </p:txBody>
      </p:sp>
      <p:sp>
        <p:nvSpPr>
          <p:cNvPr id="10" name="text-88"/>
          <p:cNvSpPr txBox="1"/>
          <p:nvPr/>
        </p:nvSpPr>
        <p:spPr>
          <a:xfrm>
            <a:off x="8065008" y="3337560"/>
            <a:ext cx="3474720" cy="457200"/>
          </a:xfrm>
          <a:prstGeom prst="rect">
            <a:avLst/>
          </a:prstGeom>
          <a:noFill/>
          <a:ln/>
        </p:spPr>
        <p:txBody>
          <a:bodyPr wrap="square" lIns="0" tIns="0" rIns="0" bIns="0" rtlCol="0" anchor="t"/>
          <a:lstStyle/>
          <a:p>
            <a:pPr indent="0" marL="0">
              <a:buNone/>
            </a:pPr>
            <a:r>
              <a:rPr lang="en-US" sz="1200" dirty="0">
                <a:solidFill>
                  <a:schemeClr val="tx2"/>
                </a:solidFill>
              </a:rPr>
              <a:t>of random weightings won (flat Dirichlet)</a:t>
            </a:r>
            <a:endParaRPr lang="en-US" sz="1200" dirty="0"/>
          </a:p>
        </p:txBody>
      </p:sp>
      <p:sp>
        <p:nvSpPr>
          <p:cNvPr id="11" name="text-89"/>
          <p:cNvSpPr txBox="1"/>
          <p:nvPr/>
        </p:nvSpPr>
        <p:spPr>
          <a:xfrm>
            <a:off x="8065008" y="3858768"/>
            <a:ext cx="347472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5 vs 9</a:t>
            </a:r>
            <a:endParaRPr lang="en-US" sz="2000" dirty="0"/>
          </a:p>
        </p:txBody>
      </p:sp>
      <p:sp>
        <p:nvSpPr>
          <p:cNvPr id="12" name="text-90"/>
          <p:cNvSpPr txBox="1"/>
          <p:nvPr/>
        </p:nvSpPr>
        <p:spPr>
          <a:xfrm>
            <a:off x="8065008" y="4315968"/>
            <a:ext cx="3474720" cy="457200"/>
          </a:xfrm>
          <a:prstGeom prst="rect">
            <a:avLst/>
          </a:prstGeom>
          <a:noFill/>
          <a:ln/>
        </p:spPr>
        <p:txBody>
          <a:bodyPr wrap="square" lIns="0" tIns="0" rIns="0" bIns="0" rtlCol="0" anchor="t"/>
          <a:lstStyle/>
          <a:p>
            <a:pPr indent="0" marL="0">
              <a:buNone/>
            </a:pPr>
            <a:r>
              <a:rPr lang="en-US" sz="1200" dirty="0">
                <a:solidFill>
                  <a:schemeClr val="tx2"/>
                </a:solidFill>
              </a:rPr>
              <a:t>of 14 stress tests won; distribution wins with concave size scoring or a working partner channel</a:t>
            </a:r>
            <a:endParaRPr lang="en-US" sz="1200" dirty="0"/>
          </a:p>
        </p:txBody>
      </p:sp>
      <p:sp>
        <p:nvSpPr>
          <p:cNvPr id="13" name="text-91"/>
          <p:cNvSpPr txBox="1"/>
          <p:nvPr/>
        </p:nvSpPr>
        <p:spPr>
          <a:xfrm>
            <a:off x="8065008" y="4837176"/>
            <a:ext cx="347472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2–6 pts</a:t>
            </a:r>
            <a:endParaRPr lang="en-US" sz="2000" dirty="0"/>
          </a:p>
        </p:txBody>
      </p:sp>
      <p:sp>
        <p:nvSpPr>
          <p:cNvPr id="14" name="text-92"/>
          <p:cNvSpPr txBox="1"/>
          <p:nvPr/>
        </p:nvSpPr>
        <p:spPr>
          <a:xfrm>
            <a:off x="8065008" y="5294376"/>
            <a:ext cx="3474720" cy="457200"/>
          </a:xfrm>
          <a:prstGeom prst="rect">
            <a:avLst/>
          </a:prstGeom>
          <a:noFill/>
          <a:ln/>
        </p:spPr>
        <p:txBody>
          <a:bodyPr wrap="square" lIns="0" tIns="0" rIns="0" bIns="0" rtlCol="0" anchor="t"/>
          <a:lstStyle/>
          <a:p>
            <a:pPr indent="0" marL="0">
              <a:buNone/>
            </a:pPr>
            <a:r>
              <a:rPr lang="en-US" sz="1200" dirty="0">
                <a:solidFill>
                  <a:schemeClr val="tx2"/>
                </a:solidFill>
              </a:rPr>
              <a:t>shift in any single weight flips the order</a:t>
            </a:r>
            <a:endParaRPr lang="en-US" sz="12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On one engine, no staffed option clears a 12% hurdle or beats putting the same money into Clay's core</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 07_Financial_Model v2 — quarterly funnel model 2027–29; NPV at 12% after an incrementality haircut; Option 0 = the same non-CS spend in Clay's core motion at a discounted benchmark payback (S47). Deterministic Base and Upside [C/D].</a:t>
            </a:r>
            <a:endParaRPr lang="en-US" sz="1000" dirty="0"/>
          </a:p>
        </p:txBody>
      </p:sp>
      <p:graphicFrame>
        <p:nvGraphicFramePr>
          <p:cNvPr id="4" name="chart-93" descr=""/>
          <p:cNvGraphicFramePr/>
          <p:nvPr/>
        </p:nvGraphicFramePr>
        <p:xfrm>
          <a:off x="502920" y="1325880"/>
          <a:ext cx="6766560" cy="452628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table-94"/>
          <p:cNvGraphicFramePr>
            <a:graphicFrameLocks noGrp="1"/>
          </p:cNvGraphicFramePr>
          <p:nvPr>
            <p:extLst>
              <p:ext uri="{D42A27DB-BD31-4B8C-83A1-F6EECF244321}">
                <p14:modId xmlns:p14="http://schemas.microsoft.com/office/powerpoint/2010/main" val="1579011935"/>
              </p:ext>
            </p:extLst>
          </p:nvPr>
        </p:nvGraphicFramePr>
        <p:xfrm>
          <a:off x="7543800" y="1371600"/>
          <a:ext cx="4142232" cy="914400"/>
        </p:xfrm>
        <a:graphic>
          <a:graphicData uri="http://schemas.openxmlformats.org/drawingml/2006/table">
            <a:tbl>
              <a:tblPr/>
              <a:tblGrid>
                <a:gridCol w="1691640"/>
                <a:gridCol w="1225296"/>
                <a:gridCol w="1225296"/>
              </a:tblGrid>
              <a:tr h="384048">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Option</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Beats Option 0? Base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Upside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r>
              <a:tr h="384048">
                <a:tc>
                  <a:txBody>
                    <a:bodyPr/>
                    <a:lstStyle/>
                    <a:p>
                      <a:pPr indent="0" marL="0">
                        <a:buNone/>
                      </a:pPr>
                      <a:r>
                        <a:rPr lang="en-US" sz="1100" dirty="0">
                          <a:solidFill>
                            <a:srgbClr val="1B2433"/>
                          </a:solidFill>
                          <a:latin typeface="Arial" pitchFamily="34" charset="0"/>
                          <a:ea typeface="Arial" pitchFamily="34" charset="-122"/>
                          <a:cs typeface="Arial" pitchFamily="34" charset="-120"/>
                        </a:rPr>
                        <a:t>Dist · lean pilot</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9B2C2C"/>
                          </a:solidFill>
                          <a:latin typeface="Arial" pitchFamily="34" charset="0"/>
                          <a:ea typeface="Arial" pitchFamily="34" charset="-122"/>
                          <a:cs typeface="Arial" pitchFamily="34" charset="-120"/>
                        </a:rPr>
                        <a:t>No −$3.4M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9B2C2C"/>
                          </a:solidFill>
                          <a:latin typeface="Arial" pitchFamily="34" charset="0"/>
                          <a:ea typeface="Arial" pitchFamily="34" charset="-122"/>
                          <a:cs typeface="Arial" pitchFamily="34" charset="-120"/>
                        </a:rPr>
                        <a:t>No −$0.5M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84048">
                <a:tc>
                  <a:txBody>
                    <a:bodyPr/>
                    <a:lstStyle/>
                    <a:p>
                      <a:pPr indent="0" marL="0">
                        <a:buNone/>
                      </a:pPr>
                      <a:r>
                        <a:rPr lang="en-US" sz="1100" dirty="0">
                          <a:solidFill>
                            <a:srgbClr val="1B2433"/>
                          </a:solidFill>
                          <a:latin typeface="Arial" pitchFamily="34" charset="0"/>
                          <a:ea typeface="Arial" pitchFamily="34" charset="-122"/>
                          <a:cs typeface="Arial" pitchFamily="34" charset="-120"/>
                        </a:rPr>
                        <a:t>Dist · sales-led team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9B2C2C"/>
                          </a:solidFill>
                          <a:latin typeface="Arial" pitchFamily="34" charset="0"/>
                          <a:ea typeface="Arial" pitchFamily="34" charset="-122"/>
                          <a:cs typeface="Arial" pitchFamily="34" charset="-120"/>
                        </a:rPr>
                        <a:t>No −$9.2M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9B2C2C"/>
                          </a:solidFill>
                          <a:latin typeface="Arial" pitchFamily="34" charset="0"/>
                          <a:ea typeface="Arial" pitchFamily="34" charset="-122"/>
                          <a:cs typeface="Arial" pitchFamily="34" charset="-120"/>
                        </a:rPr>
                        <a:t>No −$3.2M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84048">
                <a:tc>
                  <a:txBody>
                    <a:bodyPr/>
                    <a:lstStyle/>
                    <a:p>
                      <a:pPr indent="0" marL="0">
                        <a:buNone/>
                      </a:pPr>
                      <a:r>
                        <a:rPr lang="en-US" sz="1100" dirty="0">
                          <a:solidFill>
                            <a:srgbClr val="1B2433"/>
                          </a:solidFill>
                          <a:latin typeface="Arial" pitchFamily="34" charset="0"/>
                          <a:ea typeface="Arial" pitchFamily="34" charset="-122"/>
                          <a:cs typeface="Arial" pitchFamily="34" charset="-120"/>
                        </a:rPr>
                        <a:t>Dist · solution play</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9B2C2C"/>
                          </a:solidFill>
                          <a:latin typeface="Arial" pitchFamily="34" charset="0"/>
                          <a:ea typeface="Arial" pitchFamily="34" charset="-122"/>
                          <a:cs typeface="Arial" pitchFamily="34" charset="-120"/>
                        </a:rPr>
                        <a:t>No −$1.1M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2E6F5E"/>
                          </a:solidFill>
                          <a:latin typeface="Arial" pitchFamily="34" charset="0"/>
                          <a:ea typeface="Arial" pitchFamily="34" charset="-122"/>
                          <a:cs typeface="Arial" pitchFamily="34" charset="-120"/>
                        </a:rPr>
                        <a:t>Yes +$0.4M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84048">
                <a:tc>
                  <a:txBody>
                    <a:bodyPr/>
                    <a:lstStyle/>
                    <a:p>
                      <a:pPr indent="0" marL="0">
                        <a:buNone/>
                      </a:pPr>
                      <a:r>
                        <a:rPr lang="en-US" sz="1100" dirty="0">
                          <a:solidFill>
                            <a:srgbClr val="1B2433"/>
                          </a:solidFill>
                          <a:latin typeface="Arial" pitchFamily="34" charset="0"/>
                          <a:ea typeface="Arial" pitchFamily="34" charset="-122"/>
                          <a:cs typeface="Arial" pitchFamily="34" charset="-120"/>
                        </a:rPr>
                        <a:t>PS · lean pilot</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9B2C2C"/>
                          </a:solidFill>
                          <a:latin typeface="Arial" pitchFamily="34" charset="0"/>
                          <a:ea typeface="Arial" pitchFamily="34" charset="-122"/>
                          <a:cs typeface="Arial" pitchFamily="34" charset="-120"/>
                        </a:rPr>
                        <a:t>No −$3.6M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9B2C2C"/>
                          </a:solidFill>
                          <a:latin typeface="Arial" pitchFamily="34" charset="0"/>
                          <a:ea typeface="Arial" pitchFamily="34" charset="-122"/>
                          <a:cs typeface="Arial" pitchFamily="34" charset="-120"/>
                        </a:rPr>
                        <a:t>No −$2.1M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84048">
                <a:tc>
                  <a:txBody>
                    <a:bodyPr/>
                    <a:lstStyle/>
                    <a:p>
                      <a:pPr indent="0" marL="0">
                        <a:buNone/>
                      </a:pPr>
                      <a:r>
                        <a:rPr lang="en-US" sz="1100" dirty="0">
                          <a:solidFill>
                            <a:srgbClr val="1B2433"/>
                          </a:solidFill>
                          <a:latin typeface="Arial" pitchFamily="34" charset="0"/>
                          <a:ea typeface="Arial" pitchFamily="34" charset="-122"/>
                          <a:cs typeface="Arial" pitchFamily="34" charset="-120"/>
                        </a:rPr>
                        <a:t>PS · sales-led team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9B2C2C"/>
                          </a:solidFill>
                          <a:latin typeface="Arial" pitchFamily="34" charset="0"/>
                          <a:ea typeface="Arial" pitchFamily="34" charset="-122"/>
                          <a:cs typeface="Arial" pitchFamily="34" charset="-120"/>
                        </a:rPr>
                        <a:t>No −$9.5M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9B2C2C"/>
                          </a:solidFill>
                          <a:latin typeface="Arial" pitchFamily="34" charset="0"/>
                          <a:ea typeface="Arial" pitchFamily="34" charset="-122"/>
                          <a:cs typeface="Arial" pitchFamily="34" charset="-120"/>
                        </a:rPr>
                        <a:t>No −$6.8M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84048">
                <a:tc>
                  <a:txBody>
                    <a:bodyPr/>
                    <a:lstStyle/>
                    <a:p>
                      <a:pPr indent="0" marL="0">
                        <a:buNone/>
                      </a:pPr>
                      <a:r>
                        <a:rPr lang="en-US" sz="1100" dirty="0">
                          <a:solidFill>
                            <a:srgbClr val="1B2433"/>
                          </a:solidFill>
                          <a:latin typeface="Arial" pitchFamily="34" charset="0"/>
                          <a:ea typeface="Arial" pitchFamily="34" charset="-122"/>
                          <a:cs typeface="Arial" pitchFamily="34" charset="-120"/>
                        </a:rPr>
                        <a:t>PS · solution play</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9B2C2C"/>
                          </a:solidFill>
                          <a:latin typeface="Arial" pitchFamily="34" charset="0"/>
                          <a:ea typeface="Arial" pitchFamily="34" charset="-122"/>
                          <a:cs typeface="Arial" pitchFamily="34" charset="-120"/>
                        </a:rPr>
                        <a:t>No −$1.2M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9B2C2C"/>
                          </a:solidFill>
                          <a:latin typeface="Arial" pitchFamily="34" charset="0"/>
                          <a:ea typeface="Arial" pitchFamily="34" charset="-122"/>
                          <a:cs typeface="Arial" pitchFamily="34" charset="-120"/>
                        </a:rPr>
                        <a:t>No −$0.4M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6" name="panel-95"/>
          <p:cNvSpPr/>
          <p:nvPr/>
        </p:nvSpPr>
        <p:spPr>
          <a:xfrm>
            <a:off x="7543800" y="4251960"/>
            <a:ext cx="4142232" cy="1600200"/>
          </a:xfrm>
          <a:prstGeom prst="rect">
            <a:avLst/>
          </a:prstGeom>
          <a:solidFill>
            <a:schemeClr val="accent1">
              <a:alpha val="9000"/>
            </a:schemeClr>
          </a:solidFill>
          <a:ln/>
        </p:spPr>
      </p:sp>
      <p:sp>
        <p:nvSpPr>
          <p:cNvPr id="7" name="text-96"/>
          <p:cNvSpPr txBox="1"/>
          <p:nvPr/>
        </p:nvSpPr>
        <p:spPr>
          <a:xfrm>
            <a:off x="7726680" y="4361688"/>
            <a:ext cx="3794760" cy="1417320"/>
          </a:xfrm>
          <a:prstGeom prst="rect">
            <a:avLst/>
          </a:prstGeom>
          <a:noFill/>
          <a:ln/>
        </p:spPr>
        <p:txBody>
          <a:bodyPr wrap="square" lIns="0" tIns="0" rIns="0" bIns="0" rtlCol="0" anchor="t"/>
          <a:lstStyle/>
          <a:p>
            <a:pPr indent="0" marL="0">
              <a:buNone/>
            </a:pPr>
            <a:r>
              <a:rPr lang="en-US" sz="1200" b="1" dirty="0">
                <a:solidFill>
                  <a:schemeClr val="accent1"/>
                </a:solidFill>
              </a:rPr>
              <a:t>Reading  </a:t>
            </a:r>
            <a:pPr indent="0" marL="0">
              <a:buNone/>
            </a:pPr>
            <a:r>
              <a:rPr lang="en-US" sz="1200" dirty="0">
                <a:solidFill>
                  <a:schemeClr val="tx1"/>
                </a:solidFill>
              </a:rPr>
              <a:t>Fixed team cost is what sinks staffed options. The cheapest structure — templates, data providers, a partner listing, no vertical team — loses least (Base −$0.54M) and is the only one that beats Option 0, in distribution Upside.</a:t>
            </a:r>
            <a:endParaRPr lang="en-US" sz="12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Correlated uncertainty doesn't rescue the case: P(NPV &gt; 0) is ≈0% for every staffed option</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 07_Financial_Model v2 › Monte Carlo — appendix/clay_engine.py (Python mirror reconciled to the workbook run by run); triangular(Downside, Base, Upside) inputs, Gaussian copula ρ = 0.5 within groups, 5,000 draws, seed 42; Gate 1 with observation noise [C/D].</a:t>
            </a:r>
            <a:endParaRPr lang="en-US" sz="1000" dirty="0"/>
          </a:p>
        </p:txBody>
      </p:sp>
      <p:graphicFrame>
        <p:nvGraphicFramePr>
          <p:cNvPr id="4" name="chart-97" descr=""/>
          <p:cNvGraphicFramePr/>
          <p:nvPr/>
        </p:nvGraphicFramePr>
        <p:xfrm>
          <a:off x="502920" y="1325880"/>
          <a:ext cx="6400800" cy="452628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98"/>
          <p:cNvGraphicFramePr>
            <a:graphicFrameLocks noGrp="1"/>
          </p:cNvGraphicFramePr>
          <p:nvPr>
            <p:extLst>
              <p:ext uri="{D42A27DB-BD31-4B8C-83A1-F6EECF244321}">
                <p14:modId xmlns:p14="http://schemas.microsoft.com/office/powerpoint/2010/main" val="1579011935"/>
              </p:ext>
            </p:extLst>
          </p:nvPr>
        </p:nvGraphicFramePr>
        <p:xfrm>
          <a:off x="7178040" y="1371600"/>
          <a:ext cx="4507992" cy="914400"/>
        </p:xfrm>
        <a:graphic>
          <a:graphicData uri="http://schemas.openxmlformats.org/drawingml/2006/table">
            <a:tbl>
              <a:tblPr/>
              <a:tblGrid>
                <a:gridCol w="1874520"/>
                <a:gridCol w="896112"/>
                <a:gridCol w="868680"/>
                <a:gridCol w="868680"/>
              </a:tblGrid>
              <a:tr h="365760">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Option (5,000 draws)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Mean NPV</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P90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P(NPV &gt; 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r>
              <a:tr h="365760">
                <a:tc>
                  <a:txBody>
                    <a:bodyPr/>
                    <a:lstStyle/>
                    <a:p>
                      <a:pPr indent="0" marL="0">
                        <a:buNone/>
                      </a:pPr>
                      <a:r>
                        <a:rPr lang="en-US" sz="1100" dirty="0">
                          <a:solidFill>
                            <a:srgbClr val="1B2433"/>
                          </a:solidFill>
                          <a:latin typeface="Arial" pitchFamily="34" charset="0"/>
                          <a:ea typeface="Arial" pitchFamily="34" charset="-122"/>
                          <a:cs typeface="Arial" pitchFamily="34" charset="-120"/>
                        </a:rPr>
                        <a:t>Dist · lean pilot, staged</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−$1.49M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−$0.87M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65760">
                <a:tc>
                  <a:txBody>
                    <a:bodyPr/>
                    <a:lstStyle/>
                    <a:p>
                      <a:pPr indent="0" marL="0">
                        <a:buNone/>
                      </a:pPr>
                      <a:r>
                        <a:rPr lang="en-US" sz="1100" dirty="0">
                          <a:solidFill>
                            <a:srgbClr val="1B2433"/>
                          </a:solidFill>
                          <a:latin typeface="Arial" pitchFamily="34" charset="0"/>
                          <a:ea typeface="Arial" pitchFamily="34" charset="-122"/>
                          <a:cs typeface="Arial" pitchFamily="34" charset="-120"/>
                        </a:rPr>
                        <a:t>Dist · sales-led team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−$5.32M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−$4.78M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65760">
                <a:tc>
                  <a:txBody>
                    <a:bodyPr/>
                    <a:lstStyle/>
                    <a:p>
                      <a:pPr indent="0" marL="0">
                        <a:buNone/>
                      </a:pPr>
                      <a:r>
                        <a:rPr lang="en-US" sz="1100" dirty="0">
                          <a:solidFill>
                            <a:srgbClr val="1B2433"/>
                          </a:solidFill>
                          <a:latin typeface="Arial" pitchFamily="34" charset="0"/>
                          <a:ea typeface="Arial" pitchFamily="34" charset="-122"/>
                          <a:cs typeface="Arial" pitchFamily="34" charset="-120"/>
                        </a:rPr>
                        <a:t>Dist · solution play</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−$0.51M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−$0.39M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65760">
                <a:tc>
                  <a:txBody>
                    <a:bodyPr/>
                    <a:lstStyle/>
                    <a:p>
                      <a:pPr indent="0" marL="0">
                        <a:buNone/>
                      </a:pPr>
                      <a:r>
                        <a:rPr lang="en-US" sz="1100" dirty="0">
                          <a:solidFill>
                            <a:srgbClr val="1B2433"/>
                          </a:solidFill>
                          <a:latin typeface="Arial" pitchFamily="34" charset="0"/>
                          <a:ea typeface="Arial" pitchFamily="34" charset="-122"/>
                          <a:cs typeface="Arial" pitchFamily="34" charset="-120"/>
                        </a:rPr>
                        <a:t>PS · lean pilot, staged</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−$1.66M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−$0.90M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65760">
                <a:tc>
                  <a:txBody>
                    <a:bodyPr/>
                    <a:lstStyle/>
                    <a:p>
                      <a:pPr indent="0" marL="0">
                        <a:buNone/>
                      </a:pPr>
                      <a:r>
                        <a:rPr lang="en-US" sz="1100" dirty="0">
                          <a:solidFill>
                            <a:srgbClr val="1B2433"/>
                          </a:solidFill>
                          <a:latin typeface="Arial" pitchFamily="34" charset="0"/>
                          <a:ea typeface="Arial" pitchFamily="34" charset="-122"/>
                          <a:cs typeface="Arial" pitchFamily="34" charset="-120"/>
                        </a:rPr>
                        <a:t>PS · solution play</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−$0.61M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−$0.54M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graphicFrame>
        <p:nvGraphicFramePr>
          <p:cNvPr id="21" name="table-99"/>
          <p:cNvGraphicFramePr>
            <a:graphicFrameLocks noGrp="1"/>
          </p:cNvGraphicFramePr>
          <p:nvPr>
            <p:extLst>
              <p:ext uri="{D42A27DB-BD31-4B8C-83A1-F6EECF244321}">
                <p14:modId xmlns:p14="http://schemas.microsoft.com/office/powerpoint/2010/main" val="1579011935"/>
              </p:ext>
            </p:extLst>
          </p:nvPr>
        </p:nvGraphicFramePr>
        <p:xfrm>
          <a:off x="7178040" y="3794760"/>
          <a:ext cx="4507992" cy="914400"/>
        </p:xfrm>
        <a:graphic>
          <a:graphicData uri="http://schemas.openxmlformats.org/drawingml/2006/table">
            <a:tbl>
              <a:tblPr/>
              <a:tblGrid>
                <a:gridCol w="3364992"/>
                <a:gridCol w="1143000"/>
              </a:tblGrid>
              <a:tr h="365760">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Robustness (distribution lean pilot)</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P(NPV &gt; 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r>
              <a:tr h="365760">
                <a:tc>
                  <a:txBody>
                    <a:bodyPr/>
                    <a:lstStyle/>
                    <a:p>
                      <a:pPr indent="0" marL="0">
                        <a:buNone/>
                      </a:pPr>
                      <a:r>
                        <a:rPr lang="en-US" sz="1100" dirty="0">
                          <a:solidFill>
                            <a:srgbClr val="1B2433"/>
                          </a:solidFill>
                          <a:latin typeface="Arial" pitchFamily="34" charset="0"/>
                          <a:ea typeface="Arial" pitchFamily="34" charset="-122"/>
                          <a:cs typeface="Arial" pitchFamily="34" charset="-120"/>
                        </a:rPr>
                        <a:t>Base specification</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65760">
                <a:tc>
                  <a:txBody>
                    <a:bodyPr/>
                    <a:lstStyle/>
                    <a:p>
                      <a:pPr indent="0" marL="0">
                        <a:buNone/>
                      </a:pPr>
                      <a:r>
                        <a:rPr lang="en-US" sz="1100" dirty="0">
                          <a:solidFill>
                            <a:srgbClr val="1B2433"/>
                          </a:solidFill>
                          <a:latin typeface="Arial" pitchFamily="34" charset="0"/>
                          <a:ea typeface="Arial" pitchFamily="34" charset="-122"/>
                          <a:cs typeface="Arial" pitchFamily="34" charset="-120"/>
                        </a:rPr>
                        <a:t>Near-comonotonic (≈ joint scenarios)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365760">
                <a:tc>
                  <a:txBody>
                    <a:bodyPr/>
                    <a:lstStyle/>
                    <a:p>
                      <a:pPr indent="0" marL="0">
                        <a:buNone/>
                      </a:pPr>
                      <a:r>
                        <a:rPr lang="en-US" sz="1100" dirty="0">
                          <a:solidFill>
                            <a:srgbClr val="1B2433"/>
                          </a:solidFill>
                          <a:latin typeface="Arial" pitchFamily="34" charset="0"/>
                          <a:ea typeface="Arial" pitchFamily="34" charset="-122"/>
                          <a:cs typeface="Arial" pitchFamily="34" charset="-120"/>
                        </a:rPr>
                        <a:t>Ranges 2× wider + strong correlation</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10%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7" name="text-100"/>
          <p:cNvSpPr txBox="1"/>
          <p:nvPr/>
        </p:nvSpPr>
        <p:spPr>
          <a:xfrm>
            <a:off x="7178040" y="5349240"/>
            <a:ext cx="4507992" cy="502920"/>
          </a:xfrm>
          <a:prstGeom prst="rect">
            <a:avLst/>
          </a:prstGeom>
          <a:noFill/>
          <a:ln/>
        </p:spPr>
        <p:txBody>
          <a:bodyPr wrap="square" lIns="0" tIns="0" rIns="0" bIns="0" rtlCol="0" anchor="t"/>
          <a:lstStyle/>
          <a:p>
            <a:pPr indent="0" marL="0">
              <a:buNone/>
            </a:pPr>
            <a:r>
              <a:rPr lang="en-US" sz="1200" dirty="0">
                <a:solidFill>
                  <a:schemeClr val="tx2"/>
                </a:solidFill>
              </a:rPr>
              <a:t>Upside requires every input to be favorable at once; v1 weighted that joint case at 20%.</a:t>
            </a:r>
            <a:endParaRPr lang="en-US" sz="12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Recommended path: validate in distribution, then at most a no-team solution play — never a vertical team up front</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Sources: 08_GTM_Strategy v2; 09_Implementation_Roadmap v2; 07_Financial_Model v2 (solution play, Base and Upside) [C/D/E]. Budget items are judgment estimates [D/E].</a:t>
            </a:r>
            <a:endParaRPr lang="en-US" sz="1000" dirty="0"/>
          </a:p>
        </p:txBody>
      </p:sp>
      <p:sp>
        <p:nvSpPr>
          <p:cNvPr id="4" name="card-101"/>
          <p:cNvSpPr/>
          <p:nvPr/>
        </p:nvSpPr>
        <p:spPr>
          <a:xfrm>
            <a:off x="502920" y="1325880"/>
            <a:ext cx="3630168" cy="2697480"/>
          </a:xfrm>
          <a:prstGeom prst="roundRect">
            <a:avLst>
              <a:gd name="adj" fmla="val 2034"/>
            </a:avLst>
          </a:prstGeom>
          <a:solidFill>
            <a:schemeClr val="accent1">
              <a:alpha val="12000"/>
            </a:schemeClr>
          </a:solidFill>
          <a:ln/>
        </p:spPr>
      </p:sp>
      <p:sp>
        <p:nvSpPr>
          <p:cNvPr id="5" name="text-102"/>
          <p:cNvSpPr txBox="1"/>
          <p:nvPr/>
        </p:nvSpPr>
        <p:spPr>
          <a:xfrm>
            <a:off x="667512" y="1417320"/>
            <a:ext cx="3300984" cy="292608"/>
          </a:xfrm>
          <a:prstGeom prst="rect">
            <a:avLst/>
          </a:prstGeom>
          <a:noFill/>
          <a:ln/>
        </p:spPr>
        <p:txBody>
          <a:bodyPr wrap="square" lIns="0" tIns="0" rIns="0" bIns="0" rtlCol="0" anchor="t"/>
          <a:lstStyle/>
          <a:p>
            <a:pPr indent="0" marL="0">
              <a:buNone/>
            </a:pPr>
            <a:r>
              <a:rPr lang="en-US" sz="1500" b="1" dirty="0">
                <a:solidFill>
                  <a:schemeClr val="accent1"/>
                </a:solidFill>
              </a:rPr>
              <a:t>A · Validation sprint</a:t>
            </a:r>
            <a:endParaRPr lang="en-US" sz="1500" dirty="0"/>
          </a:p>
        </p:txBody>
      </p:sp>
      <p:sp>
        <p:nvSpPr>
          <p:cNvPr id="6" name="text-103"/>
          <p:cNvSpPr txBox="1"/>
          <p:nvPr/>
        </p:nvSpPr>
        <p:spPr>
          <a:xfrm>
            <a:off x="667512" y="1755648"/>
            <a:ext cx="3300984" cy="274320"/>
          </a:xfrm>
          <a:prstGeom prst="rect">
            <a:avLst/>
          </a:prstGeom>
          <a:noFill/>
          <a:ln/>
        </p:spPr>
        <p:txBody>
          <a:bodyPr wrap="square" lIns="0" tIns="0" rIns="0" bIns="0" rtlCol="0" anchor="t"/>
          <a:lstStyle/>
          <a:p>
            <a:pPr indent="0" marL="0">
              <a:buNone/>
            </a:pPr>
            <a:r>
              <a:rPr lang="en-US" sz="1200" b="1" dirty="0">
                <a:solidFill>
                  <a:schemeClr val="tx1"/>
                </a:solidFill>
              </a:rPr>
              <a:t>Nov 2026 – Mar 2027  ·  </a:t>
            </a:r>
            <a:pPr indent="0" marL="0">
              <a:buNone/>
            </a:pPr>
            <a:r>
              <a:rPr lang="en-US" sz="1200" dirty="0">
                <a:solidFill>
                  <a:schemeClr val="tx1"/>
                </a:solidFill>
              </a:rPr>
              <a:t>cap ≤ $0.2M</a:t>
            </a:r>
            <a:endParaRPr lang="en-US" sz="1200" dirty="0"/>
          </a:p>
        </p:txBody>
      </p:sp>
      <p:sp>
        <p:nvSpPr>
          <p:cNvPr id="7" name="text-104"/>
          <p:cNvSpPr txBox="1"/>
          <p:nvPr/>
        </p:nvSpPr>
        <p:spPr>
          <a:xfrm>
            <a:off x="667512" y="2103120"/>
            <a:ext cx="3300984" cy="777240"/>
          </a:xfrm>
          <a:prstGeom prst="rect">
            <a:avLst/>
          </a:prstGeom>
          <a:noFill/>
          <a:ln/>
        </p:spPr>
        <p:txBody>
          <a:bodyPr wrap="square" lIns="0" tIns="0" rIns="0" bIns="0" rtlCol="0" anchor="t"/>
          <a:lstStyle/>
          <a:p>
            <a:pPr indent="0" marL="0">
              <a:buNone/>
            </a:pPr>
            <a:r>
              <a:rPr lang="en-US" sz="1200" dirty="0">
                <a:solidFill>
                  <a:schemeClr val="tx2"/>
                </a:solidFill>
              </a:rPr>
              <a:t>4236 + 4238 · coverage, demand, conversion, committed usage, partners</a:t>
            </a:r>
            <a:endParaRPr lang="en-US" sz="1200" dirty="0"/>
          </a:p>
        </p:txBody>
      </p:sp>
      <p:sp>
        <p:nvSpPr>
          <p:cNvPr id="8" name="text-105"/>
          <p:cNvSpPr txBox="1"/>
          <p:nvPr/>
        </p:nvSpPr>
        <p:spPr>
          <a:xfrm>
            <a:off x="667512" y="2926080"/>
            <a:ext cx="3300984" cy="566928"/>
          </a:xfrm>
          <a:prstGeom prst="rect">
            <a:avLst/>
          </a:prstGeom>
          <a:noFill/>
          <a:ln/>
        </p:spPr>
        <p:txBody>
          <a:bodyPr wrap="square" lIns="0" tIns="0" rIns="0" bIns="0" rtlCol="0" anchor="t"/>
          <a:lstStyle/>
          <a:p>
            <a:pPr indent="0" marL="0">
              <a:buNone/>
            </a:pPr>
            <a:r>
              <a:rPr lang="en-US" sz="1200" b="1" dirty="0">
                <a:solidFill>
                  <a:schemeClr val="tx1"/>
                </a:solidFill>
              </a:rPr>
              <a:t>Gate 1: solution play or stop</a:t>
            </a:r>
            <a:endParaRPr lang="en-US" sz="1200" dirty="0"/>
          </a:p>
        </p:txBody>
      </p:sp>
      <p:sp>
        <p:nvSpPr>
          <p:cNvPr id="9" name="text-106"/>
          <p:cNvSpPr txBox="1"/>
          <p:nvPr/>
        </p:nvSpPr>
        <p:spPr>
          <a:xfrm>
            <a:off x="667512" y="3566160"/>
            <a:ext cx="3300984" cy="274320"/>
          </a:xfrm>
          <a:prstGeom prst="rect">
            <a:avLst/>
          </a:prstGeom>
          <a:noFill/>
          <a:ln/>
        </p:spPr>
        <p:txBody>
          <a:bodyPr wrap="square" lIns="0" tIns="0" rIns="0" bIns="0" rtlCol="0" anchor="t"/>
          <a:lstStyle/>
          <a:p>
            <a:pPr indent="0" marL="0">
              <a:buNone/>
            </a:pPr>
            <a:r>
              <a:rPr lang="en-US" sz="1100" i="1" dirty="0">
                <a:solidFill>
                  <a:schemeClr val="accent1"/>
                </a:solidFill>
              </a:rPr>
              <a:t>Default: stop</a:t>
            </a:r>
            <a:endParaRPr lang="en-US" sz="1100" dirty="0"/>
          </a:p>
        </p:txBody>
      </p:sp>
      <p:sp>
        <p:nvSpPr>
          <p:cNvPr id="10" name="card-107"/>
          <p:cNvSpPr/>
          <p:nvPr/>
        </p:nvSpPr>
        <p:spPr>
          <a:xfrm>
            <a:off x="4279392" y="1325880"/>
            <a:ext cx="3630168" cy="2697480"/>
          </a:xfrm>
          <a:prstGeom prst="roundRect">
            <a:avLst>
              <a:gd name="adj" fmla="val 2034"/>
            </a:avLst>
          </a:prstGeom>
          <a:solidFill>
            <a:schemeClr val="bg2"/>
          </a:solidFill>
          <a:ln/>
        </p:spPr>
      </p:sp>
      <p:sp>
        <p:nvSpPr>
          <p:cNvPr id="11" name="text-108"/>
          <p:cNvSpPr txBox="1"/>
          <p:nvPr/>
        </p:nvSpPr>
        <p:spPr>
          <a:xfrm>
            <a:off x="4443984" y="1417320"/>
            <a:ext cx="3300984" cy="292608"/>
          </a:xfrm>
          <a:prstGeom prst="rect">
            <a:avLst/>
          </a:prstGeom>
          <a:noFill/>
          <a:ln/>
        </p:spPr>
        <p:txBody>
          <a:bodyPr wrap="square" lIns="0" tIns="0" rIns="0" bIns="0" rtlCol="0" anchor="t"/>
          <a:lstStyle/>
          <a:p>
            <a:pPr indent="0" marL="0">
              <a:buNone/>
            </a:pPr>
            <a:r>
              <a:rPr lang="en-US" sz="1500" b="1" dirty="0">
                <a:solidFill>
                  <a:schemeClr val="accent1"/>
                </a:solidFill>
              </a:rPr>
              <a:t>B · Solution play</a:t>
            </a:r>
            <a:endParaRPr lang="en-US" sz="1500" dirty="0"/>
          </a:p>
        </p:txBody>
      </p:sp>
      <p:sp>
        <p:nvSpPr>
          <p:cNvPr id="12" name="text-109"/>
          <p:cNvSpPr txBox="1"/>
          <p:nvPr/>
        </p:nvSpPr>
        <p:spPr>
          <a:xfrm>
            <a:off x="4443984" y="1755648"/>
            <a:ext cx="3300984" cy="274320"/>
          </a:xfrm>
          <a:prstGeom prst="rect">
            <a:avLst/>
          </a:prstGeom>
          <a:noFill/>
          <a:ln/>
        </p:spPr>
        <p:txBody>
          <a:bodyPr wrap="square" lIns="0" tIns="0" rIns="0" bIns="0" rtlCol="0" anchor="t"/>
          <a:lstStyle/>
          <a:p>
            <a:pPr indent="0" marL="0">
              <a:buNone/>
            </a:pPr>
            <a:r>
              <a:rPr lang="en-US" sz="1200" b="1" dirty="0">
                <a:solidFill>
                  <a:schemeClr val="tx1"/>
                </a:solidFill>
              </a:rPr>
              <a:t>Apr – Dec 2027 (only if Go)  ·  </a:t>
            </a:r>
            <a:pPr indent="0" marL="0">
              <a:buNone/>
            </a:pPr>
            <a:r>
              <a:rPr lang="en-US" sz="1200" dirty="0">
                <a:solidFill>
                  <a:schemeClr val="tx1"/>
                </a:solidFill>
              </a:rPr>
              <a:t>cap ≈ $0.3M</a:t>
            </a:r>
            <a:endParaRPr lang="en-US" sz="1200" dirty="0"/>
          </a:p>
        </p:txBody>
      </p:sp>
      <p:sp>
        <p:nvSpPr>
          <p:cNvPr id="13" name="text-110"/>
          <p:cNvSpPr txBox="1"/>
          <p:nvPr/>
        </p:nvSpPr>
        <p:spPr>
          <a:xfrm>
            <a:off x="4443984" y="2103120"/>
            <a:ext cx="3300984" cy="777240"/>
          </a:xfrm>
          <a:prstGeom prst="rect">
            <a:avLst/>
          </a:prstGeom>
          <a:noFill/>
          <a:ln/>
        </p:spPr>
        <p:txBody>
          <a:bodyPr wrap="square" lIns="0" tIns="0" rIns="0" bIns="0" rtlCol="0" anchor="t"/>
          <a:lstStyle/>
          <a:p>
            <a:pPr indent="0" marL="0">
              <a:buNone/>
            </a:pPr>
            <a:r>
              <a:rPr lang="en-US" sz="1200" dirty="0">
                <a:solidFill>
                  <a:schemeClr val="tx2"/>
                </a:solidFill>
              </a:rPr>
              <a:t>Templates, data providers, partner listing; existing AEs at a variable cost; no vertical lead</a:t>
            </a:r>
            <a:endParaRPr lang="en-US" sz="1200" dirty="0"/>
          </a:p>
        </p:txBody>
      </p:sp>
      <p:sp>
        <p:nvSpPr>
          <p:cNvPr id="14" name="text-111"/>
          <p:cNvSpPr txBox="1"/>
          <p:nvPr/>
        </p:nvSpPr>
        <p:spPr>
          <a:xfrm>
            <a:off x="4443984" y="2926080"/>
            <a:ext cx="3300984" cy="566928"/>
          </a:xfrm>
          <a:prstGeom prst="rect">
            <a:avLst/>
          </a:prstGeom>
          <a:noFill/>
          <a:ln/>
        </p:spPr>
        <p:txBody>
          <a:bodyPr wrap="square" lIns="0" tIns="0" rIns="0" bIns="0" rtlCol="0" anchor="t"/>
          <a:lstStyle/>
          <a:p>
            <a:pPr indent="0" marL="0">
              <a:buNone/>
            </a:pPr>
            <a:r>
              <a:rPr lang="en-US" sz="1200" b="1" dirty="0">
                <a:solidFill>
                  <a:schemeClr val="tx1"/>
                </a:solidFill>
              </a:rPr>
              <a:t>Gate 2: continue only on the Upside track (≥ 40 opps, ≥ 7 customers, ACV ≥ $10K)</a:t>
            </a:r>
            <a:endParaRPr lang="en-US" sz="1200" dirty="0"/>
          </a:p>
        </p:txBody>
      </p:sp>
      <p:sp>
        <p:nvSpPr>
          <p:cNvPr id="15" name="text-112"/>
          <p:cNvSpPr txBox="1"/>
          <p:nvPr/>
        </p:nvSpPr>
        <p:spPr>
          <a:xfrm>
            <a:off x="4443984" y="3566160"/>
            <a:ext cx="3300984" cy="274320"/>
          </a:xfrm>
          <a:prstGeom prst="rect">
            <a:avLst/>
          </a:prstGeom>
          <a:noFill/>
          <a:ln/>
        </p:spPr>
        <p:txBody>
          <a:bodyPr wrap="square" lIns="0" tIns="0" rIns="0" bIns="0" rtlCol="0" anchor="t"/>
          <a:lstStyle/>
          <a:p>
            <a:pPr indent="0" marL="0">
              <a:buNone/>
            </a:pPr>
            <a:r>
              <a:rPr lang="en-US" sz="1100" i="1" dirty="0">
                <a:solidFill>
                  <a:schemeClr val="accent1"/>
                </a:solidFill>
              </a:rPr>
              <a:t>Default: stop</a:t>
            </a:r>
            <a:endParaRPr lang="en-US" sz="1100" dirty="0"/>
          </a:p>
        </p:txBody>
      </p:sp>
      <p:sp>
        <p:nvSpPr>
          <p:cNvPr id="16" name="card-113"/>
          <p:cNvSpPr/>
          <p:nvPr/>
        </p:nvSpPr>
        <p:spPr>
          <a:xfrm>
            <a:off x="8055864" y="1325880"/>
            <a:ext cx="3630168" cy="2697480"/>
          </a:xfrm>
          <a:prstGeom prst="roundRect">
            <a:avLst>
              <a:gd name="adj" fmla="val 2034"/>
            </a:avLst>
          </a:prstGeom>
          <a:solidFill>
            <a:schemeClr val="bg2"/>
          </a:solidFill>
          <a:ln/>
        </p:spPr>
      </p:sp>
      <p:sp>
        <p:nvSpPr>
          <p:cNvPr id="17" name="text-114"/>
          <p:cNvSpPr txBox="1"/>
          <p:nvPr/>
        </p:nvSpPr>
        <p:spPr>
          <a:xfrm>
            <a:off x="8220456" y="1417320"/>
            <a:ext cx="3300984" cy="292608"/>
          </a:xfrm>
          <a:prstGeom prst="rect">
            <a:avLst/>
          </a:prstGeom>
          <a:noFill/>
          <a:ln/>
        </p:spPr>
        <p:txBody>
          <a:bodyPr wrap="square" lIns="0" tIns="0" rIns="0" bIns="0" rtlCol="0" anchor="t"/>
          <a:lstStyle/>
          <a:p>
            <a:pPr indent="0" marL="0">
              <a:buNone/>
            </a:pPr>
            <a:r>
              <a:rPr lang="en-US" sz="1500" b="1" dirty="0">
                <a:solidFill>
                  <a:schemeClr val="accent1"/>
                </a:solidFill>
              </a:rPr>
              <a:t>C · Lean pilot</a:t>
            </a:r>
            <a:endParaRPr lang="en-US" sz="1500" dirty="0"/>
          </a:p>
        </p:txBody>
      </p:sp>
      <p:sp>
        <p:nvSpPr>
          <p:cNvPr id="18" name="text-115"/>
          <p:cNvSpPr txBox="1"/>
          <p:nvPr/>
        </p:nvSpPr>
        <p:spPr>
          <a:xfrm>
            <a:off x="8220456" y="1755648"/>
            <a:ext cx="3300984" cy="274320"/>
          </a:xfrm>
          <a:prstGeom prst="rect">
            <a:avLst/>
          </a:prstGeom>
          <a:noFill/>
          <a:ln/>
        </p:spPr>
        <p:txBody>
          <a:bodyPr wrap="square" lIns="0" tIns="0" rIns="0" bIns="0" rtlCol="0" anchor="t"/>
          <a:lstStyle/>
          <a:p>
            <a:pPr indent="0" marL="0">
              <a:buNone/>
            </a:pPr>
            <a:r>
              <a:rPr lang="en-US" sz="1200" b="1" dirty="0">
                <a:solidFill>
                  <a:schemeClr val="tx1"/>
                </a:solidFill>
              </a:rPr>
              <a:t>2028 at the earliest  ·  </a:t>
            </a:r>
            <a:pPr indent="0" marL="0">
              <a:buNone/>
            </a:pPr>
            <a:r>
              <a:rPr lang="en-US" sz="1200" dirty="0">
                <a:solidFill>
                  <a:schemeClr val="tx1"/>
                </a:solidFill>
              </a:rPr>
              <a:t>cap re-planned at Gate 2</a:t>
            </a:r>
            <a:endParaRPr lang="en-US" sz="1200" dirty="0"/>
          </a:p>
        </p:txBody>
      </p:sp>
      <p:sp>
        <p:nvSpPr>
          <p:cNvPr id="19" name="text-116"/>
          <p:cNvSpPr txBox="1"/>
          <p:nvPr/>
        </p:nvSpPr>
        <p:spPr>
          <a:xfrm>
            <a:off x="8220456" y="2103120"/>
            <a:ext cx="3300984" cy="777240"/>
          </a:xfrm>
          <a:prstGeom prst="rect">
            <a:avLst/>
          </a:prstGeom>
          <a:noFill/>
          <a:ln/>
        </p:spPr>
        <p:txBody>
          <a:bodyPr wrap="square" lIns="0" tIns="0" rIns="0" bIns="0" rtlCol="0" anchor="t"/>
          <a:lstStyle/>
          <a:p>
            <a:pPr indent="0" marL="0">
              <a:buNone/>
            </a:pPr>
            <a:r>
              <a:rPr lang="en-US" sz="1200" dirty="0">
                <a:solidFill>
                  <a:schemeClr val="tx2"/>
                </a:solidFill>
              </a:rPr>
              <a:t>Only if the play is on track and borrowed AE capacity binds</a:t>
            </a:r>
            <a:endParaRPr lang="en-US" sz="1200" dirty="0"/>
          </a:p>
        </p:txBody>
      </p:sp>
      <p:sp>
        <p:nvSpPr>
          <p:cNvPr id="20" name="text-117"/>
          <p:cNvSpPr txBox="1"/>
          <p:nvPr/>
        </p:nvSpPr>
        <p:spPr>
          <a:xfrm>
            <a:off x="8220456" y="2926080"/>
            <a:ext cx="3300984" cy="566928"/>
          </a:xfrm>
          <a:prstGeom prst="rect">
            <a:avLst/>
          </a:prstGeom>
          <a:noFill/>
          <a:ln/>
        </p:spPr>
        <p:txBody>
          <a:bodyPr wrap="square" lIns="0" tIns="0" rIns="0" bIns="0" rtlCol="0" anchor="t"/>
          <a:lstStyle/>
          <a:p>
            <a:pPr indent="0" marL="0">
              <a:buNone/>
            </a:pPr>
            <a:r>
              <a:rPr lang="en-US" sz="1200" b="1" dirty="0">
                <a:solidFill>
                  <a:schemeClr val="tx1"/>
                </a:solidFill>
              </a:rPr>
              <a:t>Re-run the model; fund only if NPV beats Option 0</a:t>
            </a:r>
            <a:endParaRPr lang="en-US" sz="1200" dirty="0"/>
          </a:p>
        </p:txBody>
      </p:sp>
      <p:sp>
        <p:nvSpPr>
          <p:cNvPr id="21" name="text-118"/>
          <p:cNvSpPr txBox="1"/>
          <p:nvPr/>
        </p:nvSpPr>
        <p:spPr>
          <a:xfrm>
            <a:off x="8220456" y="3566160"/>
            <a:ext cx="3300984" cy="274320"/>
          </a:xfrm>
          <a:prstGeom prst="rect">
            <a:avLst/>
          </a:prstGeom>
          <a:noFill/>
          <a:ln/>
        </p:spPr>
        <p:txBody>
          <a:bodyPr wrap="square" lIns="0" tIns="0" rIns="0" bIns="0" rtlCol="0" anchor="t"/>
          <a:lstStyle/>
          <a:p>
            <a:pPr indent="0" marL="0">
              <a:buNone/>
            </a:pPr>
            <a:r>
              <a:rPr lang="en-US" sz="1100" i="1" dirty="0">
                <a:solidFill>
                  <a:schemeClr val="accent1"/>
                </a:solidFill>
              </a:rPr>
              <a:t>Default: fold into horizontal</a:t>
            </a:r>
            <a:endParaRPr lang="en-US" sz="1100" dirty="0"/>
          </a:p>
        </p:txBody>
      </p:sp>
      <p:sp>
        <p:nvSpPr>
          <p:cNvPr id="22" name="text-119"/>
          <p:cNvSpPr txBox="1"/>
          <p:nvPr/>
        </p:nvSpPr>
        <p:spPr>
          <a:xfrm>
            <a:off x="502920" y="4206240"/>
            <a:ext cx="7315200" cy="292608"/>
          </a:xfrm>
          <a:prstGeom prst="rect">
            <a:avLst/>
          </a:prstGeom>
          <a:noFill/>
          <a:ln/>
        </p:spPr>
        <p:txBody>
          <a:bodyPr wrap="square" lIns="0" tIns="0" rIns="0" bIns="0" rtlCol="0" anchor="t"/>
          <a:lstStyle/>
          <a:p>
            <a:pPr indent="0" marL="0">
              <a:buNone/>
            </a:pPr>
            <a:r>
              <a:rPr lang="en-US" sz="1400" b="1" dirty="0">
                <a:solidFill>
                  <a:schemeClr val="tx1"/>
                </a:solidFill>
              </a:rPr>
              <a:t>If the answer is Go — how to go to market</a:t>
            </a:r>
            <a:endParaRPr lang="en-US" sz="1400" dirty="0"/>
          </a:p>
        </p:txBody>
      </p:sp>
      <p:sp>
        <p:nvSpPr>
          <p:cNvPr id="23" name="text-120"/>
          <p:cNvSpPr txBox="1"/>
          <p:nvPr/>
        </p:nvSpPr>
        <p:spPr>
          <a:xfrm>
            <a:off x="502920" y="4572000"/>
            <a:ext cx="1097280" cy="640080"/>
          </a:xfrm>
          <a:prstGeom prst="rect">
            <a:avLst/>
          </a:prstGeom>
          <a:noFill/>
          <a:ln/>
        </p:spPr>
        <p:txBody>
          <a:bodyPr wrap="square" lIns="0" tIns="0" rIns="0" bIns="0" rtlCol="0" anchor="t"/>
          <a:lstStyle/>
          <a:p>
            <a:pPr indent="0" marL="0">
              <a:buNone/>
            </a:pPr>
            <a:r>
              <a:rPr lang="en-US" sz="1200" b="1" dirty="0">
                <a:solidFill>
                  <a:schemeClr val="accent1"/>
                </a:solidFill>
              </a:rPr>
              <a:t>ICP</a:t>
            </a:r>
            <a:endParaRPr lang="en-US" sz="1200" dirty="0"/>
          </a:p>
        </p:txBody>
      </p:sp>
      <p:sp>
        <p:nvSpPr>
          <p:cNvPr id="24" name="text-121"/>
          <p:cNvSpPr txBox="1"/>
          <p:nvPr/>
        </p:nvSpPr>
        <p:spPr>
          <a:xfrm>
            <a:off x="1645920" y="4572000"/>
            <a:ext cx="4389120" cy="640080"/>
          </a:xfrm>
          <a:prstGeom prst="rect">
            <a:avLst/>
          </a:prstGeom>
          <a:noFill/>
          <a:ln/>
        </p:spPr>
        <p:txBody>
          <a:bodyPr wrap="square" lIns="0" tIns="0" rIns="0" bIns="0" rtlCol="0" anchor="t"/>
          <a:lstStyle/>
          <a:p>
            <a:pPr indent="0" marL="0">
              <a:buNone/>
            </a:pPr>
            <a:r>
              <a:rPr lang="en-US" sz="1100" dirty="0">
                <a:solidFill>
                  <a:schemeClr val="tx2"/>
                </a:solidFill>
              </a:rPr>
              <a:t>100–499 employees, multi-branch, 15+ territory sellers, CRM in place, selling to contractors and plants; SMB self-serve only</a:t>
            </a:r>
            <a:endParaRPr lang="en-US" sz="1100" dirty="0"/>
          </a:p>
        </p:txBody>
      </p:sp>
      <p:sp>
        <p:nvSpPr>
          <p:cNvPr id="25" name="text-122"/>
          <p:cNvSpPr txBox="1"/>
          <p:nvPr/>
        </p:nvSpPr>
        <p:spPr>
          <a:xfrm>
            <a:off x="6144768" y="4572000"/>
            <a:ext cx="1097280" cy="640080"/>
          </a:xfrm>
          <a:prstGeom prst="rect">
            <a:avLst/>
          </a:prstGeom>
          <a:noFill/>
          <a:ln/>
        </p:spPr>
        <p:txBody>
          <a:bodyPr wrap="square" lIns="0" tIns="0" rIns="0" bIns="0" rtlCol="0" anchor="t"/>
          <a:lstStyle/>
          <a:p>
            <a:pPr indent="0" marL="0">
              <a:buNone/>
            </a:pPr>
            <a:r>
              <a:rPr lang="en-US" sz="1200" b="1" dirty="0">
                <a:solidFill>
                  <a:schemeClr val="accent1"/>
                </a:solidFill>
              </a:rPr>
              <a:t>Motion</a:t>
            </a:r>
            <a:endParaRPr lang="en-US" sz="1200" dirty="0"/>
          </a:p>
        </p:txBody>
      </p:sp>
      <p:sp>
        <p:nvSpPr>
          <p:cNvPr id="26" name="text-123"/>
          <p:cNvSpPr txBox="1"/>
          <p:nvPr/>
        </p:nvSpPr>
        <p:spPr>
          <a:xfrm>
            <a:off x="7287768" y="4572000"/>
            <a:ext cx="4389120" cy="640080"/>
          </a:xfrm>
          <a:prstGeom prst="rect">
            <a:avLst/>
          </a:prstGeom>
          <a:noFill/>
          <a:ln/>
        </p:spPr>
        <p:txBody>
          <a:bodyPr wrap="square" lIns="0" tIns="0" rIns="0" bIns="0" rtlCol="0" anchor="t"/>
          <a:lstStyle/>
          <a:p>
            <a:pPr indent="0" marL="0">
              <a:buNone/>
            </a:pPr>
            <a:r>
              <a:rPr lang="en-US" sz="1100" dirty="0">
                <a:solidFill>
                  <a:schemeClr val="tx2"/>
                </a:solidFill>
              </a:rPr>
              <a:t>Clay-run outbound + templates + listed partners; existing AEs close; no dedicated AEs until capacity binds</a:t>
            </a:r>
            <a:endParaRPr lang="en-US" sz="1100" dirty="0"/>
          </a:p>
        </p:txBody>
      </p:sp>
      <p:sp>
        <p:nvSpPr>
          <p:cNvPr id="27" name="text-124"/>
          <p:cNvSpPr txBox="1"/>
          <p:nvPr/>
        </p:nvSpPr>
        <p:spPr>
          <a:xfrm>
            <a:off x="502920" y="5285232"/>
            <a:ext cx="1097280" cy="640080"/>
          </a:xfrm>
          <a:prstGeom prst="rect">
            <a:avLst/>
          </a:prstGeom>
          <a:noFill/>
          <a:ln/>
        </p:spPr>
        <p:txBody>
          <a:bodyPr wrap="square" lIns="0" tIns="0" rIns="0" bIns="0" rtlCol="0" anchor="t"/>
          <a:lstStyle/>
          <a:p>
            <a:pPr indent="0" marL="0">
              <a:buNone/>
            </a:pPr>
            <a:r>
              <a:rPr lang="en-US" sz="1200" b="1" dirty="0">
                <a:solidFill>
                  <a:schemeClr val="accent1"/>
                </a:solidFill>
              </a:rPr>
              <a:t>Pricing</a:t>
            </a:r>
            <a:endParaRPr lang="en-US" sz="1200" dirty="0"/>
          </a:p>
        </p:txBody>
      </p:sp>
      <p:sp>
        <p:nvSpPr>
          <p:cNvPr id="28" name="text-125"/>
          <p:cNvSpPr txBox="1"/>
          <p:nvPr/>
        </p:nvSpPr>
        <p:spPr>
          <a:xfrm>
            <a:off x="1645920" y="5285232"/>
            <a:ext cx="4389120" cy="640080"/>
          </a:xfrm>
          <a:prstGeom prst="rect">
            <a:avLst/>
          </a:prstGeom>
          <a:noFill/>
          <a:ln/>
        </p:spPr>
        <p:txBody>
          <a:bodyPr wrap="square" lIns="0" tIns="0" rIns="0" bIns="0" rtlCol="0" anchor="t"/>
          <a:lstStyle/>
          <a:p>
            <a:pPr indent="0" marL="0">
              <a:buNone/>
            </a:pPr>
            <a:r>
              <a:rPr lang="en-US" sz="1100" dirty="0">
                <a:solidFill>
                  <a:schemeClr val="tx2"/>
                </a:solidFill>
              </a:rPr>
              <a:t>List price, Growth annual, no vertical discount; credit sizing by territory; promotional credits, not price cuts</a:t>
            </a:r>
            <a:endParaRPr lang="en-US" sz="1100" dirty="0"/>
          </a:p>
        </p:txBody>
      </p:sp>
      <p:sp>
        <p:nvSpPr>
          <p:cNvPr id="29" name="text-126"/>
          <p:cNvSpPr txBox="1"/>
          <p:nvPr/>
        </p:nvSpPr>
        <p:spPr>
          <a:xfrm>
            <a:off x="6144768" y="5285232"/>
            <a:ext cx="1097280" cy="640080"/>
          </a:xfrm>
          <a:prstGeom prst="rect">
            <a:avLst/>
          </a:prstGeom>
          <a:noFill/>
          <a:ln/>
        </p:spPr>
        <p:txBody>
          <a:bodyPr wrap="square" lIns="0" tIns="0" rIns="0" bIns="0" rtlCol="0" anchor="t"/>
          <a:lstStyle/>
          <a:p>
            <a:pPr indent="0" marL="0">
              <a:buNone/>
            </a:pPr>
            <a:r>
              <a:rPr lang="en-US" sz="1200" b="1" dirty="0">
                <a:solidFill>
                  <a:schemeClr val="accent1"/>
                </a:solidFill>
              </a:rPr>
              <a:t>Not funded</a:t>
            </a:r>
            <a:endParaRPr lang="en-US" sz="1200" dirty="0"/>
          </a:p>
        </p:txBody>
      </p:sp>
      <p:sp>
        <p:nvSpPr>
          <p:cNvPr id="30" name="text-127"/>
          <p:cNvSpPr txBox="1"/>
          <p:nvPr/>
        </p:nvSpPr>
        <p:spPr>
          <a:xfrm>
            <a:off x="7287768" y="5285232"/>
            <a:ext cx="4389120" cy="640080"/>
          </a:xfrm>
          <a:prstGeom prst="rect">
            <a:avLst/>
          </a:prstGeom>
          <a:noFill/>
          <a:ln/>
        </p:spPr>
        <p:txBody>
          <a:bodyPr wrap="square" lIns="0" tIns="0" rIns="0" bIns="0" rtlCol="0" anchor="t"/>
          <a:lstStyle/>
          <a:p>
            <a:pPr indent="0" marL="0">
              <a:buNone/>
            </a:pPr>
            <a:r>
              <a:rPr lang="en-US" sz="1100" dirty="0">
                <a:solidFill>
                  <a:schemeClr val="tx2"/>
                </a:solidFill>
              </a:rPr>
              <a:t>Vertical lead, dedicated AEs, native ERP connector, separate vertical marketing — before Gate 2</a:t>
            </a:r>
            <a:endParaRPr lang="en-US" sz="11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The sprint tests five assumptions against thresholds set in advance — the default outcome is stop</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Sources: 09_Implementation_Roadmap v2; thresholds sit at the Upside values of 07_Financial_Model v2 [E]; owners are business functions, not Clay's actual org structure.</a:t>
            </a:r>
            <a:endParaRPr lang="en-US" sz="1000" dirty="0"/>
          </a:p>
        </p:txBody>
      </p:sp>
      <p:graphicFrame>
        <p:nvGraphicFramePr>
          <p:cNvPr id="13" name="table-128"/>
          <p:cNvGraphicFramePr>
            <a:graphicFrameLocks noGrp="1"/>
          </p:cNvGraphicFramePr>
          <p:nvPr>
            <p:extLst>
              <p:ext uri="{D42A27DB-BD31-4B8C-83A1-F6EECF244321}">
                <p14:modId xmlns:p14="http://schemas.microsoft.com/office/powerpoint/2010/main" val="1579011935"/>
              </p:ext>
            </p:extLst>
          </p:nvPr>
        </p:nvGraphicFramePr>
        <p:xfrm>
          <a:off x="502920" y="1325880"/>
          <a:ext cx="11183112" cy="914400"/>
        </p:xfrm>
        <a:graphic>
          <a:graphicData uri="http://schemas.openxmlformats.org/drawingml/2006/table">
            <a:tbl>
              <a:tblPr/>
              <a:tblGrid>
                <a:gridCol w="1920240"/>
                <a:gridCol w="4434840"/>
                <a:gridCol w="1691640"/>
                <a:gridCol w="1463040"/>
                <a:gridCol w="1673352"/>
              </a:tblGrid>
              <a:tr h="457200">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Test</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What it measures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Base → Upside (model)</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Pass threshold</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Owner (function)</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r>
              <a:tr h="457200">
                <a:tc>
                  <a:txBody>
                    <a:bodyPr/>
                    <a:lstStyle/>
                    <a:p>
                      <a:pPr indent="0" marL="0">
                        <a:buNone/>
                      </a:pPr>
                      <a:r>
                        <a:rPr lang="en-US" sz="1200" b="1" dirty="0">
                          <a:solidFill>
                            <a:srgbClr val="1B2433"/>
                          </a:solidFill>
                          <a:latin typeface="Arial" pitchFamily="34" charset="0"/>
                          <a:ea typeface="Arial" pitchFamily="34" charset="-122"/>
                          <a:cs typeface="Arial" pitchFamily="34" charset="-120"/>
                        </a:rPr>
                        <a:t>T1 Coverage</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Verified decision-maker contacts on 200 contractor/plant accounts vs best single database</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 1.5×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GTM eng., data partnerships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57200">
                <a:tc>
                  <a:txBody>
                    <a:bodyPr/>
                    <a:lstStyle/>
                    <a:p>
                      <a:pPr indent="0" marL="0">
                        <a:buNone/>
                      </a:pPr>
                      <a:r>
                        <a:rPr lang="en-US" sz="1200" b="1" dirty="0">
                          <a:solidFill>
                            <a:srgbClr val="1B2433"/>
                          </a:solidFill>
                          <a:latin typeface="Arial" pitchFamily="34" charset="0"/>
                          <a:ea typeface="Arial" pitchFamily="34" charset="-122"/>
                          <a:cs typeface="Arial" pitchFamily="34" charset="-120"/>
                        </a:rPr>
                        <a:t>T2 Demand</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Clay-run outbound to ≥ 600 ICP accounts (300 per sub-industry)</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3.0% → 4.5%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 4.0% meetings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Marketing ops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57200">
                <a:tc>
                  <a:txBody>
                    <a:bodyPr/>
                    <a:lstStyle/>
                    <a:p>
                      <a:pPr indent="0" marL="0">
                        <a:buNone/>
                      </a:pPr>
                      <a:r>
                        <a:rPr lang="en-US" sz="1200" b="1" dirty="0">
                          <a:solidFill>
                            <a:srgbClr val="1B2433"/>
                          </a:solidFill>
                          <a:latin typeface="Arial" pitchFamily="34" charset="0"/>
                          <a:ea typeface="Arial" pitchFamily="34" charset="-122"/>
                          <a:cs typeface="Arial" pitchFamily="34" charset="-120"/>
                        </a:rPr>
                        <a:t>T3 Conversion</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Meetings that become qualified opportunities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40% → 50%</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 45%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Sales leadership</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57200">
                <a:tc>
                  <a:txBody>
                    <a:bodyPr/>
                    <a:lstStyle/>
                    <a:p>
                      <a:pPr indent="0" marL="0">
                        <a:buNone/>
                      </a:pPr>
                      <a:r>
                        <a:rPr lang="en-US" sz="1200" b="1" dirty="0">
                          <a:solidFill>
                            <a:srgbClr val="B5532A"/>
                          </a:solidFill>
                          <a:latin typeface="Arial" pitchFamily="34" charset="0"/>
                          <a:ea typeface="Arial" pitchFamily="34" charset="-122"/>
                          <a:cs typeface="Arial" pitchFamily="34" charset="-120"/>
                        </a:rPr>
                        <a:t>T4 Value (mandatory)</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Committed annual credits of ≥ 5 paid design partners at list</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$9.8K → $14.6K</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b="1" dirty="0">
                          <a:solidFill>
                            <a:srgbClr val="1B2433"/>
                          </a:solidFill>
                          <a:latin typeface="Arial" pitchFamily="34" charset="0"/>
                          <a:ea typeface="Arial" pitchFamily="34" charset="-122"/>
                          <a:cs typeface="Arial" pitchFamily="34" charset="-120"/>
                        </a:rPr>
                        <a:t>MM ACV ≥ $14.6K</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Deal desk</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57200">
                <a:tc>
                  <a:txBody>
                    <a:bodyPr/>
                    <a:lstStyle/>
                    <a:p>
                      <a:pPr indent="0" marL="0">
                        <a:buNone/>
                      </a:pPr>
                      <a:r>
                        <a:rPr lang="en-US" sz="1200" b="1" dirty="0">
                          <a:solidFill>
                            <a:srgbClr val="1B2433"/>
                          </a:solidFill>
                          <a:latin typeface="Arial" pitchFamily="34" charset="0"/>
                          <a:ea typeface="Arial" pitchFamily="34" charset="-122"/>
                          <a:cs typeface="Arial" pitchFamily="34" charset="-120"/>
                        </a:rPr>
                        <a:t>T5 Delivery</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Implementation partners committing named consultants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2 → 3</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200" dirty="0">
                          <a:solidFill>
                            <a:srgbClr val="1B2433"/>
                          </a:solidFill>
                          <a:latin typeface="Arial" pitchFamily="34" charset="0"/>
                          <a:ea typeface="Arial" pitchFamily="34" charset="-122"/>
                          <a:cs typeface="Arial" pitchFamily="34" charset="-120"/>
                        </a:rPr>
                        <a:t>≥ 3</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Partnerships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5" name="panel-129"/>
          <p:cNvSpPr/>
          <p:nvPr/>
        </p:nvSpPr>
        <p:spPr>
          <a:xfrm>
            <a:off x="502920" y="4251960"/>
            <a:ext cx="5486400" cy="1691640"/>
          </a:xfrm>
          <a:prstGeom prst="rect">
            <a:avLst/>
          </a:prstGeom>
          <a:solidFill>
            <a:schemeClr val="accent1">
              <a:alpha val="9000"/>
            </a:schemeClr>
          </a:solidFill>
          <a:ln/>
        </p:spPr>
      </p:sp>
      <p:sp>
        <p:nvSpPr>
          <p:cNvPr id="6" name="text-130"/>
          <p:cNvSpPr txBox="1"/>
          <p:nvPr/>
        </p:nvSpPr>
        <p:spPr>
          <a:xfrm>
            <a:off x="685800" y="4361688"/>
            <a:ext cx="5120640" cy="1508760"/>
          </a:xfrm>
          <a:prstGeom prst="rect">
            <a:avLst/>
          </a:prstGeom>
          <a:noFill/>
          <a:ln/>
        </p:spPr>
        <p:txBody>
          <a:bodyPr wrap="square" lIns="0" tIns="0" rIns="0" bIns="0" rtlCol="0" anchor="t"/>
          <a:lstStyle/>
          <a:p>
            <a:pPr indent="0" marL="0">
              <a:buNone/>
            </a:pPr>
            <a:r>
              <a:rPr lang="en-US" sz="1200" b="1" dirty="0">
                <a:solidFill>
                  <a:schemeClr val="accent1"/>
                </a:solidFill>
              </a:rPr>
              <a:t>Decision rule (end of March 2027)</a:t>
            </a:r>
            <a:endParaRPr lang="en-US" sz="1200" dirty="0"/>
          </a:p>
          <a:p>
            <a:pPr indent="0" marL="0">
              <a:buNone/>
            </a:pPr>
            <a:r>
              <a:rPr lang="en-US" sz="1200" dirty="0">
                <a:solidFill>
                  <a:schemeClr val="tx1"/>
                </a:solidFill>
              </a:rPr>
              <a:t>Go to the solution play if T4 passes and at least three of T1, T2, T3, T5 pass. One more quarter (no extra cap) if T4 passes and only two others do. Otherwise stop: templates and data sources stay in the horizontal library.</a:t>
            </a:r>
            <a:endParaRPr lang="en-US" sz="1200" dirty="0"/>
          </a:p>
        </p:txBody>
      </p:sp>
      <p:sp>
        <p:nvSpPr>
          <p:cNvPr id="7" name="panel-131"/>
          <p:cNvSpPr/>
          <p:nvPr/>
        </p:nvSpPr>
        <p:spPr>
          <a:xfrm>
            <a:off x="6199632" y="4251960"/>
            <a:ext cx="5486400" cy="1691640"/>
          </a:xfrm>
          <a:prstGeom prst="rect">
            <a:avLst/>
          </a:prstGeom>
          <a:solidFill>
            <a:schemeClr val="bg2"/>
          </a:solidFill>
          <a:ln/>
        </p:spPr>
      </p:sp>
      <p:sp>
        <p:nvSpPr>
          <p:cNvPr id="8" name="text-132"/>
          <p:cNvSpPr txBox="1"/>
          <p:nvPr/>
        </p:nvSpPr>
        <p:spPr>
          <a:xfrm>
            <a:off x="6382512" y="4361688"/>
            <a:ext cx="5120640" cy="1508760"/>
          </a:xfrm>
          <a:prstGeom prst="rect">
            <a:avLst/>
          </a:prstGeom>
          <a:noFill/>
          <a:ln/>
        </p:spPr>
        <p:txBody>
          <a:bodyPr wrap="square" lIns="0" tIns="0" rIns="0" bIns="0" rtlCol="0" anchor="t"/>
          <a:lstStyle/>
          <a:p>
            <a:pPr indent="0" marL="0">
              <a:buNone/>
            </a:pPr>
            <a:r>
              <a:rPr lang="en-US" sz="1200" b="1" dirty="0">
                <a:solidFill>
                  <a:schemeClr val="tx1"/>
                </a:solidFill>
              </a:rPr>
              <a:t>Why these tests  </a:t>
            </a:r>
            <a:endParaRPr lang="en-US" sz="1200" dirty="0"/>
          </a:p>
          <a:p>
            <a:pPr indent="0" marL="0">
              <a:buNone/>
            </a:pPr>
            <a:r>
              <a:rPr lang="en-US" sz="1200" dirty="0">
                <a:solidFill>
                  <a:schemeClr val="tx2"/>
                </a:solidFill>
              </a:rPr>
              <a:t>They are the inputs public data cannot pin down and the largest NPV swings in the model (usage, win and conversion rates, demand). Samples are small — 600 accounts give ~18 vs ~27 meetings at 3% vs 4.5% — so several tests must pass together.</a:t>
            </a:r>
            <a:endParaRPr lang="en-US" sz="12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02920" y="2194560"/>
            <a:ext cx="10515600" cy="914400"/>
          </a:xfrm>
          <a:prstGeom prst="rect">
            <a:avLst/>
          </a:prstGeom>
          <a:noFill/>
          <a:ln/>
        </p:spPr>
        <p:txBody>
          <a:bodyPr wrap="square" lIns="0" tIns="0" rIns="0" bIns="0" rtlCol="0" anchor="b"/>
          <a:lstStyle/>
          <a:p>
            <a:pPr algn="l" indent="0" marL="0">
              <a:buNone/>
            </a:pPr>
            <a:r>
              <a:rPr lang="en-US" sz="4000" b="1" dirty="0">
                <a:solidFill>
                  <a:schemeClr val="tx1"/>
                </a:solidFill>
                <a:latin typeface="Cambria" pitchFamily="34" charset="0"/>
                <a:ea typeface="Cambria" pitchFamily="34" charset="-122"/>
                <a:cs typeface="Cambria" pitchFamily="34" charset="-120"/>
              </a:rPr>
              <a:t>Appendix</a:t>
            </a:r>
            <a:endParaRPr lang="en-US" sz="4000" dirty="0"/>
          </a:p>
        </p:txBody>
      </p:sp>
      <p:sp>
        <p:nvSpPr>
          <p:cNvPr id="3" name="Text 0"/>
          <p:cNvSpPr/>
          <p:nvPr>
            <p:ph idx="101" type="body" hasCustomPrompt="1"/>
          </p:nvPr>
        </p:nvSpPr>
        <p:spPr>
          <a:xfrm>
            <a:off x="502920" y="3291840"/>
            <a:ext cx="10515600" cy="2377440"/>
          </a:xfrm>
          <a:prstGeom prst="rect">
            <a:avLst/>
          </a:prstGeom>
          <a:noFill/>
          <a:ln/>
        </p:spPr>
        <p:txBody>
          <a:bodyPr wrap="square" lIns="0" tIns="0" rIns="0" bIns="0" rtlCol="0" anchor="t"/>
          <a:lstStyle/>
          <a:p>
            <a:pPr indent="0" marL="0">
              <a:buNone/>
            </a:pPr>
            <a:r>
              <a:rPr lang="en-US" sz="1600" dirty="0">
                <a:solidFill>
                  <a:schemeClr val="tx2"/>
                </a:solidFill>
              </a:rPr>
              <a:t>A1  What changed after the partner review (v1 → v2)</a:t>
            </a:r>
            <a:endParaRPr lang="en-US" sz="1600" dirty="0"/>
          </a:p>
          <a:p>
            <a:pPr indent="0" marL="0">
              <a:buNone/>
            </a:pPr>
            <a:r>
              <a:rPr lang="en-US" sz="1600" dirty="0">
                <a:solidFill>
                  <a:schemeClr val="tx2"/>
                </a:solidFill>
              </a:rPr>
              <a:t>A2  Hypothesis verdicts</a:t>
            </a:r>
            <a:endParaRPr lang="en-US" sz="1600" dirty="0"/>
          </a:p>
          <a:p>
            <a:pPr indent="0" marL="0">
              <a:buNone/>
            </a:pPr>
            <a:r>
              <a:rPr lang="en-US" sz="1600" dirty="0">
                <a:solidFill>
                  <a:schemeClr val="tx2"/>
                </a:solidFill>
              </a:rPr>
              <a:t>A3  How the market was sized: firms, not establishments</a:t>
            </a:r>
            <a:endParaRPr lang="en-US" sz="1600" dirty="0"/>
          </a:p>
          <a:p>
            <a:pPr indent="0" marL="0">
              <a:buNone/>
            </a:pPr>
            <a:r>
              <a:rPr lang="en-US" sz="1600" dirty="0">
                <a:solidFill>
                  <a:schemeClr val="tx2"/>
                </a:solidFill>
              </a:rPr>
              <a:t>A4  What moves NPV: sensitivity</a:t>
            </a:r>
            <a:endParaRPr lang="en-US" sz="1600" dirty="0"/>
          </a:p>
          <a:p>
            <a:pPr indent="0" marL="0">
              <a:buNone/>
            </a:pPr>
            <a:r>
              <a:rPr lang="en-US" sz="1600" dirty="0">
                <a:solidFill>
                  <a:schemeClr val="tx2"/>
                </a:solidFill>
              </a:rPr>
              <a:t>A5  Arguments for doing more — and what would change the recommendation</a:t>
            </a:r>
            <a:endParaRPr lang="en-US" sz="1600" dirty="0"/>
          </a:p>
          <a:p>
            <a:pPr indent="0" marL="0">
              <a:buNone/>
            </a:pPr>
            <a:r>
              <a:rPr lang="en-US" sz="1600" dirty="0">
                <a:solidFill>
                  <a:schemeClr val="tx2"/>
                </a:solidFill>
              </a:rPr>
              <a:t>A6  Key scenario assumptions</a:t>
            </a:r>
            <a:endParaRPr lang="en-US" sz="1600" dirty="0"/>
          </a:p>
          <a:p>
            <a:pPr indent="0" marL="0">
              <a:buNone/>
            </a:pPr>
            <a:r>
              <a:rPr lang="en-US" sz="1600" dirty="0">
                <a:solidFill>
                  <a:schemeClr val="tx2"/>
                </a:solidFill>
              </a:rPr>
              <a:t>A7  Limitations and principal sources</a:t>
            </a:r>
            <a:endParaRPr lang="en-US" sz="16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A1 · A partner review found five critical flaws; fixing them reversed the recommendation</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Sources: review/Partner_Review_2026-10-19.md; Change Log sheets in 06 and 07 v2. v1 deck, workbooks and documents archived in appendix/archive/.</a:t>
            </a:r>
            <a:endParaRPr lang="en-US" sz="1000" dirty="0"/>
          </a:p>
        </p:txBody>
      </p:sp>
      <p:graphicFrame>
        <p:nvGraphicFramePr>
          <p:cNvPr id="15" name="table-133"/>
          <p:cNvGraphicFramePr>
            <a:graphicFrameLocks noGrp="1"/>
          </p:cNvGraphicFramePr>
          <p:nvPr>
            <p:extLst>
              <p:ext uri="{D42A27DB-BD31-4B8C-83A1-F6EECF244321}">
                <p14:modId xmlns:p14="http://schemas.microsoft.com/office/powerpoint/2010/main" val="1579011935"/>
              </p:ext>
            </p:extLst>
          </p:nvPr>
        </p:nvGraphicFramePr>
        <p:xfrm>
          <a:off x="502920" y="1325880"/>
          <a:ext cx="11183112" cy="914400"/>
        </p:xfrm>
        <a:graphic>
          <a:graphicData uri="http://schemas.openxmlformats.org/drawingml/2006/table">
            <a:tbl>
              <a:tblPr/>
              <a:tblGrid>
                <a:gridCol w="2011680"/>
                <a:gridCol w="3291840"/>
                <a:gridCol w="2926080"/>
                <a:gridCol w="2953512"/>
              </a:tblGrid>
              <a:tr h="566928">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Issue</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v1</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v2</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Effect</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r>
              <a:tr h="566928">
                <a:tc>
                  <a:txBody>
                    <a:bodyPr/>
                    <a:lstStyle/>
                    <a:p>
                      <a:pPr indent="0" marL="0">
                        <a:buNone/>
                      </a:pPr>
                      <a:r>
                        <a:rPr lang="en-US" sz="1200" b="1" dirty="0">
                          <a:solidFill>
                            <a:srgbClr val="1B2433"/>
                          </a:solidFill>
                          <a:latin typeface="Arial" pitchFamily="34" charset="0"/>
                          <a:ea typeface="Arial" pitchFamily="34" charset="-122"/>
                          <a:cs typeface="Arial" pitchFamily="34" charset="-120"/>
                        </a:rPr>
                        <a:t>C1 Sales-led comparison</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AEs could not create pipeline — result true by construction</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AEs prospect; program spend buys MQLs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Sales-led adds ARR ($0.82M vs $0.51M) but NPV −$5.4M</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66928">
                <a:tc>
                  <a:txBody>
                    <a:bodyPr/>
                    <a:lstStyle/>
                    <a:p>
                      <a:pPr indent="0" marL="0">
                        <a:buNone/>
                      </a:pPr>
                      <a:r>
                        <a:rPr lang="en-US" sz="1200" b="1" dirty="0">
                          <a:solidFill>
                            <a:srgbClr val="1B2433"/>
                          </a:solidFill>
                          <a:latin typeface="Arial" pitchFamily="34" charset="0"/>
                          <a:ea typeface="Arial" pitchFamily="34" charset="-122"/>
                          <a:cs typeface="Arial" pitchFamily="34" charset="-120"/>
                        </a:rPr>
                        <a:t>C2 Win mix</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Fixed 50/38/12; enterprise accounts converting 5.4× SMB</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Derived from the account base</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ACV $13.8K → $8.8K</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66928">
                <a:tc>
                  <a:txBody>
                    <a:bodyPr/>
                    <a:lstStyle/>
                    <a:p>
                      <a:pPr indent="0" marL="0">
                        <a:buNone/>
                      </a:pPr>
                      <a:r>
                        <a:rPr lang="en-US" sz="1200" b="1" dirty="0">
                          <a:solidFill>
                            <a:srgbClr val="1B2433"/>
                          </a:solidFill>
                          <a:latin typeface="Arial" pitchFamily="34" charset="0"/>
                          <a:ea typeface="Arial" pitchFamily="34" charset="-122"/>
                          <a:cs typeface="Arial" pitchFamily="34" charset="-120"/>
                        </a:rPr>
                        <a:t>C3 Valuation</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Undiscounted; 20% weight on an all-favorable case; perfect gate</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NPV at 12%; incrementality; Monte Carlo; noisy gate</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P(NPV &gt; 0) ≈ 0% for staffed options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66928">
                <a:tc>
                  <a:txBody>
                    <a:bodyPr/>
                    <a:lstStyle/>
                    <a:p>
                      <a:pPr indent="0" marL="0">
                        <a:buNone/>
                      </a:pPr>
                      <a:r>
                        <a:rPr lang="en-US" sz="1200" b="1" dirty="0">
                          <a:solidFill>
                            <a:srgbClr val="1B2433"/>
                          </a:solidFill>
                          <a:latin typeface="Arial" pitchFamily="34" charset="0"/>
                          <a:ea typeface="Arial" pitchFamily="34" charset="-122"/>
                          <a:cs typeface="Arial" pitchFamily="34" charset="-120"/>
                        </a:rPr>
                        <a:t>C4 Alternatives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Distribution vs zero only</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Prof. services, Option 0, solution play on one engine</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Every staffed option loses to Option 0</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66928">
                <a:tc>
                  <a:txBody>
                    <a:bodyPr/>
                    <a:lstStyle/>
                    <a:p>
                      <a:pPr indent="0" marL="0">
                        <a:buNone/>
                      </a:pPr>
                      <a:r>
                        <a:rPr lang="en-US" sz="1200" b="1" dirty="0">
                          <a:solidFill>
                            <a:srgbClr val="1B2433"/>
                          </a:solidFill>
                          <a:latin typeface="Arial" pitchFamily="34" charset="0"/>
                          <a:ea typeface="Arial" pitchFamily="34" charset="-122"/>
                          <a:cs typeface="Arial" pitchFamily="34" charset="-120"/>
                        </a:rPr>
                        <a:t>C5 Scorecard</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Seller density counted 3×, coverage proxy 2×</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One indicator per criterion</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Lead +0.56 → tie (−0.06)</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66928">
                <a:tc>
                  <a:txBody>
                    <a:bodyPr/>
                    <a:lstStyle/>
                    <a:p>
                      <a:pPr indent="0" marL="0">
                        <a:buNone/>
                      </a:pPr>
                      <a:r>
                        <a:rPr lang="en-US" sz="1200" b="1" dirty="0">
                          <a:solidFill>
                            <a:srgbClr val="1B2433"/>
                          </a:solidFill>
                          <a:latin typeface="Arial" pitchFamily="34" charset="0"/>
                          <a:ea typeface="Arial" pitchFamily="34" charset="-122"/>
                          <a:cs typeface="Arial" pitchFamily="34" charset="-120"/>
                        </a:rPr>
                        <a:t>M1/M2 Sizing</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Uniform ACV; CRM-ready 65%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Usage-based ACV; CRM in use 56%</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TAM/SAM −30% to −45%</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A2 · Hypothesis verdicts after v2: the case for a vertical now fails on economics, not on need</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Sources: 01_Project_Charter (hypotheses set before research); verdicts from 03, 05, 06 and 07 v2. Evidence classes: A fact · B benchmark · C estimate · D assumption · E recommendation.</a:t>
            </a:r>
            <a:endParaRPr lang="en-US" sz="1000" dirty="0"/>
          </a:p>
        </p:txBody>
      </p:sp>
      <p:graphicFrame>
        <p:nvGraphicFramePr>
          <p:cNvPr id="16" name="table-134"/>
          <p:cNvGraphicFramePr>
            <a:graphicFrameLocks noGrp="1"/>
          </p:cNvGraphicFramePr>
          <p:nvPr>
            <p:extLst>
              <p:ext uri="{D42A27DB-BD31-4B8C-83A1-F6EECF244321}">
                <p14:modId xmlns:p14="http://schemas.microsoft.com/office/powerpoint/2010/main" val="1579011935"/>
              </p:ext>
            </p:extLst>
          </p:nvPr>
        </p:nvGraphicFramePr>
        <p:xfrm>
          <a:off x="502920" y="1325880"/>
          <a:ext cx="11183112" cy="914400"/>
        </p:xfrm>
        <a:graphic>
          <a:graphicData uri="http://schemas.openxmlformats.org/drawingml/2006/table">
            <a:tbl>
              <a:tblPr/>
              <a:tblGrid>
                <a:gridCol w="548640"/>
                <a:gridCol w="4480560"/>
                <a:gridCol w="2286000"/>
                <a:gridCol w="3867912"/>
              </a:tblGrid>
              <a:tr h="41148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ID</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Hypothesis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Verdict</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Key evidence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H1</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“B2B manufacturing” is too broad; narrow to core subsectors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b="1" dirty="0">
                          <a:solidFill>
                            <a:srgbClr val="2E6F5E"/>
                          </a:solidFill>
                          <a:latin typeface="Arial" pitchFamily="34" charset="0"/>
                          <a:ea typeface="Arial" pitchFamily="34" charset="-122"/>
                          <a:cs typeface="Arial" pitchFamily="34" charset="-120"/>
                        </a:rPr>
                        <a:t>Supported</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Core 4 subsectors ≈ 39% of 20+ manufacturers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H2</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Distribution's mid-market pool is ≥ 50% of professional services'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b="1" dirty="0">
                          <a:solidFill>
                            <a:srgbClr val="9B2C2C"/>
                          </a:solidFill>
                          <a:latin typeface="Arial" pitchFamily="34" charset="0"/>
                          <a:ea typeface="Arial" pitchFamily="34" charset="-122"/>
                          <a:cs typeface="Arial" pitchFamily="34" charset="-120"/>
                        </a:rPr>
                        <a:t>Rejected</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35% of professional services' 20–499 pool</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H3</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Industrial buyer personas are poorly covered by LinkedIn-based data</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b="1" dirty="0">
                          <a:solidFill>
                            <a:srgbClr val="2E6F5E"/>
                          </a:solidFill>
                          <a:latin typeface="Arial" pitchFamily="34" charset="0"/>
                          <a:ea typeface="Arial" pitchFamily="34" charset="-122"/>
                          <a:cs typeface="Arial" pitchFamily="34" charset="-120"/>
                        </a:rPr>
                        <a:t>Supported (proxy)</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26% vs 42% est. presence; sprint T1 to measure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H4</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Builder capacity, not need, is the binding constraint</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b="1" dirty="0">
                          <a:solidFill>
                            <a:srgbClr val="2E6F5E"/>
                          </a:solidFill>
                          <a:latin typeface="Arial" pitchFamily="34" charset="0"/>
                          <a:ea typeface="Arial" pitchFamily="34" charset="-122"/>
                          <a:cs typeface="Arial" pitchFamily="34" charset="-120"/>
                        </a:rPr>
                        <a:t>Supported</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Computer occupations 0.69× average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H5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Clay's edge is complementary, not substitutive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b="1" dirty="0">
                          <a:solidFill>
                            <a:srgbClr val="2E6F5E"/>
                          </a:solidFill>
                          <a:latin typeface="Arial" pitchFamily="34" charset="0"/>
                          <a:ea typeface="Arial" pitchFamily="34" charset="-122"/>
                          <a:cs typeface="Arial" pitchFamily="34" charset="-120"/>
                        </a:rPr>
                        <a:t>Supported</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Layers on CRM; no CRM/ERP of its own</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H6</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Industrial ACV sits in the Growth-tier range (~$5–25K)</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b="1" dirty="0">
                          <a:solidFill>
                            <a:srgbClr val="2E6F5E"/>
                          </a:solidFill>
                          <a:latin typeface="Arial" pitchFamily="34" charset="0"/>
                          <a:ea typeface="Arial" pitchFamily="34" charset="-122"/>
                          <a:cs typeface="Arial" pitchFamily="34" charset="-120"/>
                        </a:rPr>
                        <a:t>Supported</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$5.4K SMB · $9.7K mid-market (usage build)</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H7</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Sales-led fails 24-month payback; partner-led can</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b="1" dirty="0">
                          <a:solidFill>
                            <a:srgbClr val="9B2C2C"/>
                          </a:solidFill>
                          <a:latin typeface="Arial" pitchFamily="34" charset="0"/>
                          <a:ea typeface="Arial" pitchFamily="34" charset="-122"/>
                          <a:cs typeface="Arial" pitchFamily="34" charset="-120"/>
                        </a:rPr>
                        <a:t>Rejected (2nd half)</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Both fail: lean pilot NPV −$1.89M; sales-led −$5.44M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H8</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Even Upside is a small share of Clay ARR</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b="1" dirty="0">
                          <a:solidFill>
                            <a:srgbClr val="2E6F5E"/>
                          </a:solidFill>
                          <a:latin typeface="Arial" pitchFamily="34" charset="0"/>
                          <a:ea typeface="Arial" pitchFamily="34" charset="-122"/>
                          <a:cs typeface="Arial" pitchFamily="34" charset="-120"/>
                        </a:rPr>
                        <a:t>Supported</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Upside exit ARR $3.0M ≈ 1.5% of est. $200M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H9</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Professional services has better risk-adjusted returns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b="1" dirty="0">
                          <a:solidFill>
                            <a:srgbClr val="B5532A"/>
                          </a:solidFill>
                          <a:latin typeface="Arial" pitchFamily="34" charset="0"/>
                          <a:ea typeface="Arial" pitchFamily="34" charset="-122"/>
                          <a:cs typeface="Arial" pitchFamily="34" charset="-120"/>
                        </a:rPr>
                        <a:t>Tie on score; worse on economics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Both 3.8, ranges overlap; NPV −$2.04M vs −$1.89M</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H10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Manufacturers are best reached through distribution</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b="1" dirty="0">
                          <a:solidFill>
                            <a:srgbClr val="B5532A"/>
                          </a:solidFill>
                          <a:latin typeface="Arial" pitchFamily="34" charset="0"/>
                          <a:ea typeface="Arial" pitchFamily="34" charset="-122"/>
                          <a:cs typeface="Arial" pitchFamily="34" charset="-120"/>
                        </a:rPr>
                        <a:t>Directional</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Manufacturing sales share 0.32× average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A3 · Sizing counts firms, not establishments — among distributors with 20+ employees, establishments would overstate buyers 4.4×</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Sources: Census 2022 Economic Census, Employment Size of Firms (S14) and Type of Operation (S58); 02_Market_Sizing v2 › Firm_Counts Blocks 3–7 (de-duplication, imputation, establishments, sales branches) and TAM_SAM_SOM [C/D]; 07_Financial_Model v2 Market Sizing.</a:t>
            </a:r>
            <a:endParaRPr lang="en-US" sz="1000" dirty="0"/>
          </a:p>
        </p:txBody>
      </p:sp>
      <p:graphicFrame>
        <p:nvGraphicFramePr>
          <p:cNvPr id="4" name="chart-135" descr=""/>
          <p:cNvGraphicFramePr/>
          <p:nvPr/>
        </p:nvGraphicFramePr>
        <p:xfrm>
          <a:off x="502920" y="1325880"/>
          <a:ext cx="6675120" cy="4526280"/>
        </p:xfrm>
        <a:graphic xmlns:a="http://schemas.openxmlformats.org/drawingml/2006/main">
          <a:graphicData uri="http://schemas.openxmlformats.org/drawingml/2006/chart">
            <c:chart xmlns:c="http://schemas.openxmlformats.org/drawingml/2006/chart" r:id="rId1"/>
          </a:graphicData>
        </a:graphic>
      </p:graphicFrame>
      <p:sp>
        <p:nvSpPr>
          <p:cNvPr id="5" name="panel-136"/>
          <p:cNvSpPr/>
          <p:nvPr/>
        </p:nvSpPr>
        <p:spPr>
          <a:xfrm>
            <a:off x="7452360" y="1325880"/>
            <a:ext cx="4233672" cy="4526280"/>
          </a:xfrm>
          <a:prstGeom prst="rect">
            <a:avLst/>
          </a:prstGeom>
          <a:solidFill>
            <a:schemeClr val="bg2"/>
          </a:solidFill>
          <a:ln/>
        </p:spPr>
      </p:sp>
      <p:sp>
        <p:nvSpPr>
          <p:cNvPr id="6" name="text-137"/>
          <p:cNvSpPr txBox="1"/>
          <p:nvPr/>
        </p:nvSpPr>
        <p:spPr>
          <a:xfrm>
            <a:off x="7635240" y="1463040"/>
            <a:ext cx="3840480" cy="292608"/>
          </a:xfrm>
          <a:prstGeom prst="rect">
            <a:avLst/>
          </a:prstGeom>
          <a:noFill/>
          <a:ln/>
        </p:spPr>
        <p:txBody>
          <a:bodyPr wrap="square" lIns="0" tIns="0" rIns="0" bIns="0" rtlCol="0" anchor="t"/>
          <a:lstStyle/>
          <a:p>
            <a:pPr indent="0" marL="0">
              <a:buNone/>
            </a:pPr>
            <a:r>
              <a:rPr lang="en-US" sz="1400" b="1" dirty="0">
                <a:solidFill>
                  <a:schemeClr val="tx1"/>
                </a:solidFill>
              </a:rPr>
              <a:t>Method choices</a:t>
            </a:r>
            <a:endParaRPr lang="en-US" sz="1400" dirty="0"/>
          </a:p>
        </p:txBody>
      </p:sp>
      <p:sp>
        <p:nvSpPr>
          <p:cNvPr id="7" name="text-138"/>
          <p:cNvSpPr txBox="1"/>
          <p:nvPr/>
        </p:nvSpPr>
        <p:spPr>
          <a:xfrm>
            <a:off x="7635240" y="1828800"/>
            <a:ext cx="3886200" cy="39319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2"/>
                </a:solidFill>
              </a:rPr>
              <a:t>Like for like: both bars cover firms with 20+ employees, the sizing scope. All sizes: 102,922 establishments vs 61,065 unique firms (1.69×)</a:t>
            </a:r>
            <a:endParaRPr lang="en-US" sz="1200" dirty="0"/>
          </a:p>
          <a:p>
            <a:pPr marL="342900" indent="-342900">
              <a:spcAft>
                <a:spcPts val="600"/>
              </a:spcAft>
              <a:buSzPct val="100000"/>
              <a:buChar char="•"/>
            </a:pPr>
            <a:r>
              <a:rPr lang="en-US" sz="1200" dirty="0">
                <a:solidFill>
                  <a:schemeClr val="tx2"/>
                </a:solidFill>
              </a:rPr>
              <a:t>A de-duplication factor (sector ÷ Σ sub-industries) removes firms counted in several sub-industries, by size band (~1–3% in distribution)</a:t>
            </a:r>
            <a:endParaRPr lang="en-US" sz="1200" dirty="0"/>
          </a:p>
          <a:p>
            <a:pPr marL="342900" indent="-342900">
              <a:spcAft>
                <a:spcPts val="600"/>
              </a:spcAft>
              <a:buSzPct val="100000"/>
              <a:buChar char="•"/>
            </a:pPr>
            <a:r>
              <a:rPr lang="en-US" sz="1200" dirty="0">
                <a:solidFill>
                  <a:schemeClr val="tx2"/>
                </a:solidFill>
              </a:rPr>
              <a:t>Suppressed 4235 cells (475 firms; their establishments) recovered as residuals from published totals [C]</a:t>
            </a:r>
            <a:endParaRPr lang="en-US" sz="1200" dirty="0"/>
          </a:p>
          <a:p>
            <a:pPr marL="342900" indent="-342900">
              <a:spcAft>
                <a:spcPts val="600"/>
              </a:spcAft>
              <a:buSzPct val="100000"/>
              <a:buChar char="•"/>
            </a:pPr>
            <a:r>
              <a:rPr lang="en-US" sz="1200" dirty="0">
                <a:solidFill>
                  <a:schemeClr val="tx2"/>
                </a:solidFill>
              </a:rPr>
              <a:t>SAM filters: active outbound motion (80%) × CRM in use (56%, 2026 survey)</a:t>
            </a:r>
            <a:endParaRPr lang="en-US" sz="1200" dirty="0"/>
          </a:p>
          <a:p>
            <a:pPr marL="342900" indent="-342900">
              <a:spcAft>
                <a:spcPts val="600"/>
              </a:spcAft>
              <a:buSzPct val="100000"/>
              <a:buChar char="•"/>
            </a:pPr>
            <a:r>
              <a:rPr lang="en-US" sz="1200" dirty="0">
                <a:solidFill>
                  <a:schemeClr val="tx2"/>
                </a:solidFill>
              </a:rPr>
              <a:t>Manufacturers' sales branches are 4–22% of the 500+ band (Census type of operation); removing them changes no conclusion</a:t>
            </a:r>
            <a:endParaRPr lang="en-US" sz="12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A4 · Usage intensity and win rate move NPV most — but no single input turns it positive</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 07_Financial_Model v2 › Sensitivity — distribution lean pilot, Base; one input at a time between its Downside and Upside values (ICP tilt 1×↔3×, discount 15%↔8%) [C/D].</a:t>
            </a:r>
            <a:endParaRPr lang="en-US" sz="1000" dirty="0"/>
          </a:p>
        </p:txBody>
      </p:sp>
      <p:graphicFrame>
        <p:nvGraphicFramePr>
          <p:cNvPr id="4" name="chart-139" descr=""/>
          <p:cNvGraphicFramePr/>
          <p:nvPr/>
        </p:nvGraphicFramePr>
        <p:xfrm>
          <a:off x="502920" y="1325880"/>
          <a:ext cx="6400800" cy="4526280"/>
        </p:xfrm>
        <a:graphic xmlns:a="http://schemas.openxmlformats.org/drawingml/2006/main">
          <a:graphicData uri="http://schemas.openxmlformats.org/drawingml/2006/chart">
            <c:chart xmlns:c="http://schemas.openxmlformats.org/drawingml/2006/chart" r:id="rId1"/>
          </a:graphicData>
        </a:graphic>
      </p:graphicFrame>
      <p:sp>
        <p:nvSpPr>
          <p:cNvPr id="5" name="panel-140"/>
          <p:cNvSpPr/>
          <p:nvPr/>
        </p:nvSpPr>
        <p:spPr>
          <a:xfrm>
            <a:off x="7223760" y="1325880"/>
            <a:ext cx="4462272" cy="4526280"/>
          </a:xfrm>
          <a:prstGeom prst="rect">
            <a:avLst/>
          </a:prstGeom>
          <a:solidFill>
            <a:schemeClr val="bg2"/>
          </a:solidFill>
          <a:ln/>
        </p:spPr>
      </p:sp>
      <p:sp>
        <p:nvSpPr>
          <p:cNvPr id="6" name="text-141"/>
          <p:cNvSpPr txBox="1"/>
          <p:nvPr/>
        </p:nvSpPr>
        <p:spPr>
          <a:xfrm>
            <a:off x="7406640" y="1463040"/>
            <a:ext cx="4114800" cy="292608"/>
          </a:xfrm>
          <a:prstGeom prst="rect">
            <a:avLst/>
          </a:prstGeom>
          <a:noFill/>
          <a:ln/>
        </p:spPr>
        <p:txBody>
          <a:bodyPr wrap="square" lIns="0" tIns="0" rIns="0" bIns="0" rtlCol="0" anchor="t"/>
          <a:lstStyle/>
          <a:p>
            <a:pPr indent="0" marL="0">
              <a:buNone/>
            </a:pPr>
            <a:r>
              <a:rPr lang="en-US" sz="1400" b="1" dirty="0">
                <a:solidFill>
                  <a:schemeClr val="tx1"/>
                </a:solidFill>
              </a:rPr>
              <a:t>What would have to be true</a:t>
            </a:r>
            <a:endParaRPr lang="en-US" sz="1400" dirty="0"/>
          </a:p>
        </p:txBody>
      </p:sp>
      <p:sp>
        <p:nvSpPr>
          <p:cNvPr id="7" name="text-142"/>
          <p:cNvSpPr txBox="1"/>
          <p:nvPr/>
        </p:nvSpPr>
        <p:spPr>
          <a:xfrm>
            <a:off x="7406640" y="1828800"/>
            <a:ext cx="4114800" cy="393192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chemeClr val="tx2"/>
                </a:solidFill>
              </a:rPr>
              <a:t>Even a 40% win rate with 3× the base usage (ACV ~$20K) leaves the lean pilot at −$0.44M and the solution play at +$0.16M — still below Option 0</a:t>
            </a:r>
            <a:endParaRPr lang="en-US" sz="1200" dirty="0"/>
          </a:p>
          <a:p>
            <a:pPr marL="342900" indent="-342900">
              <a:spcAft>
                <a:spcPts val="800"/>
              </a:spcAft>
              <a:buSzPct val="100000"/>
              <a:buChar char="•"/>
            </a:pPr>
            <a:r>
              <a:rPr lang="en-US" sz="1200" dirty="0">
                <a:solidFill>
                  <a:schemeClr val="tx2"/>
                </a:solidFill>
              </a:rPr>
              <a:t>Usage alone would need ~6.4× the base build for the lean pilot to break even</a:t>
            </a:r>
            <a:endParaRPr lang="en-US" sz="1200" dirty="0"/>
          </a:p>
          <a:p>
            <a:pPr marL="342900" indent="-342900">
              <a:spcAft>
                <a:spcPts val="800"/>
              </a:spcAft>
              <a:buSzPct val="100000"/>
              <a:buChar char="•"/>
            </a:pPr>
            <a:r>
              <a:rPr lang="en-US" sz="1200" dirty="0">
                <a:solidFill>
                  <a:schemeClr val="tx2"/>
                </a:solidFill>
              </a:rPr>
              <a:t>The Option 0 hurdle would have to fall to ~0.08× benchmark efficiency for the Base pilot to tie it</a:t>
            </a:r>
            <a:endParaRPr lang="en-US" sz="1200" dirty="0"/>
          </a:p>
          <a:p>
            <a:pPr marL="342900" indent="-342900">
              <a:spcAft>
                <a:spcPts val="800"/>
              </a:spcAft>
              <a:buSzPct val="100000"/>
              <a:buChar char="•"/>
            </a:pPr>
            <a:r>
              <a:rPr lang="en-US" sz="1200" dirty="0">
                <a:solidFill>
                  <a:schemeClr val="tx2"/>
                </a:solidFill>
              </a:rPr>
              <a:t>So the sprint tests several inputs together; no single good number can carry the case</a:t>
            </a:r>
            <a:endParaRPr lang="en-US" sz="1200" dirty="0"/>
          </a:p>
        </p:txBody>
      </p:sp>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A5 · Arguments for doing more — and what would change the recommendation</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Sources: Business Wire / Clay (S02); Clay case study (S07); 07_Financial_Model v2 Sensitivity and Monte Carlo; review/Partner_Review_2026-10-19.md.</a:t>
            </a:r>
            <a:endParaRPr lang="en-US" sz="1000" dirty="0"/>
          </a:p>
        </p:txBody>
      </p:sp>
      <p:graphicFrame>
        <p:nvGraphicFramePr>
          <p:cNvPr id="19" name="table-143"/>
          <p:cNvGraphicFramePr>
            <a:graphicFrameLocks noGrp="1"/>
          </p:cNvGraphicFramePr>
          <p:nvPr>
            <p:extLst>
              <p:ext uri="{D42A27DB-BD31-4B8C-83A1-F6EECF244321}">
                <p14:modId xmlns:p14="http://schemas.microsoft.com/office/powerpoint/2010/main" val="1579011935"/>
              </p:ext>
            </p:extLst>
          </p:nvPr>
        </p:nvGraphicFramePr>
        <p:xfrm>
          <a:off x="502920" y="1325880"/>
          <a:ext cx="11183112" cy="914400"/>
        </p:xfrm>
        <a:graphic>
          <a:graphicData uri="http://schemas.openxmlformats.org/drawingml/2006/table">
            <a:tbl>
              <a:tblPr/>
              <a:tblGrid>
                <a:gridCol w="3566160"/>
                <a:gridCol w="4206240"/>
                <a:gridCol w="3410712"/>
              </a:tblGrid>
              <a:tr h="713232">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Argument for a bigger bet</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Why it does not change the call (yet)</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What would change it</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r>
              <a:tr h="713232">
                <a:tc>
                  <a:txBody>
                    <a:bodyPr/>
                    <a:lstStyle/>
                    <a:p>
                      <a:pPr indent="0" marL="0">
                        <a:buNone/>
                      </a:pPr>
                      <a:r>
                        <a:rPr lang="en-US" sz="1200" dirty="0">
                          <a:solidFill>
                            <a:srgbClr val="1B2433"/>
                          </a:solidFill>
                          <a:latin typeface="Arial" pitchFamily="34" charset="0"/>
                          <a:ea typeface="Arial" pitchFamily="34" charset="-122"/>
                          <a:cs typeface="Arial" pitchFamily="34" charset="-120"/>
                        </a:rPr>
                        <a:t>Clay reports enterprise NRR &gt; 200% (S02)</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Company-wide figure, driven by software and AI customers; the model already assumes 115% for enterprise distributors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Design partners expanding usage ≥ 1.5× within two quarters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713232">
                <a:tc>
                  <a:txBody>
                    <a:bodyPr/>
                    <a:lstStyle/>
                    <a:p>
                      <a:pPr indent="0" marL="0">
                        <a:buNone/>
                      </a:pPr>
                      <a:r>
                        <a:rPr lang="en-US" sz="1200" dirty="0">
                          <a:solidFill>
                            <a:srgbClr val="1B2433"/>
                          </a:solidFill>
                          <a:latin typeface="Arial" pitchFamily="34" charset="0"/>
                          <a:ea typeface="Arial" pitchFamily="34" charset="-122"/>
                          <a:cs typeface="Arial" pitchFamily="34" charset="-120"/>
                        </a:rPr>
                        <a:t>Regency Supply shows real distributor value (S07)</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One self-selected case study; its builder was unusually technical</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T1 coverage uplift and T4 committed usage across 5+ design partners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713232">
                <a:tc>
                  <a:txBody>
                    <a:bodyPr/>
                    <a:lstStyle/>
                    <a:p>
                      <a:pPr indent="0" marL="0">
                        <a:buNone/>
                      </a:pPr>
                      <a:r>
                        <a:rPr lang="en-US" sz="1200" dirty="0">
                          <a:solidFill>
                            <a:srgbClr val="1B2433"/>
                          </a:solidFill>
                          <a:latin typeface="Arial" pitchFamily="34" charset="0"/>
                          <a:ea typeface="Arial" pitchFamily="34" charset="-122"/>
                          <a:cs typeface="Arial" pitchFamily="34" charset="-120"/>
                        </a:rPr>
                        <a:t>A vertical data moat (contractor, permit, project data) has strategic value beyond 2029</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Not priced in the model; also available through a data-led play at near-zero GTM cost</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Evidence that vertical data drives retention or pricing power in Clay's core</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713232">
                <a:tc>
                  <a:txBody>
                    <a:bodyPr/>
                    <a:lstStyle/>
                    <a:p>
                      <a:pPr indent="0" marL="0">
                        <a:buNone/>
                      </a:pPr>
                      <a:r>
                        <a:rPr lang="en-US" sz="1200" dirty="0">
                          <a:solidFill>
                            <a:srgbClr val="1B2433"/>
                          </a:solidFill>
                          <a:latin typeface="Arial" pitchFamily="34" charset="0"/>
                          <a:ea typeface="Arial" pitchFamily="34" charset="-122"/>
                          <a:cs typeface="Arial" pitchFamily="34" charset="-120"/>
                        </a:rPr>
                        <a:t>The model's negatives rest on assumed inputs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True — which is exactly why the recommendation is a sprint, not a flat no</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Sprint results at the Upside thresholds</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713232">
                <a:tc>
                  <a:txBody>
                    <a:bodyPr/>
                    <a:lstStyle/>
                    <a:p>
                      <a:pPr indent="0" marL="0">
                        <a:buNone/>
                      </a:pPr>
                      <a:r>
                        <a:rPr lang="en-US" sz="1200" dirty="0">
                          <a:solidFill>
                            <a:srgbClr val="1B2433"/>
                          </a:solidFill>
                          <a:latin typeface="Arial" pitchFamily="34" charset="0"/>
                          <a:ea typeface="Arial" pitchFamily="34" charset="-122"/>
                          <a:cs typeface="Arial" pitchFamily="34" charset="-120"/>
                        </a:rPr>
                        <a:t>Option 0's efficiency (0.6×) may be too generous to the core</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The Base pilot ties Option 0 only at ~0.08×; even against zero it is NPV-negative</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200" dirty="0">
                          <a:solidFill>
                            <a:srgbClr val="1B2433"/>
                          </a:solidFill>
                          <a:latin typeface="Arial" pitchFamily="34" charset="0"/>
                          <a:ea typeface="Arial" pitchFamily="34" charset="-122"/>
                          <a:cs typeface="Arial" pitchFamily="34" charset="-120"/>
                        </a:rPr>
                        <a:t>Clay data showing marginal core spend is far below benchmark</a:t>
                      </a:r>
                      <a:endParaRPr lang="en-US" sz="12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A6 · Key scenario assumptions (distribution: Downside / Base / Upside)</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Source: 07_Financial_Model v2 › Assumptions — every input carries its evidence class, Monte Carlo group and source. Benchmarks: SaaS Capital 2025 (S43), Bridge Group 2026 (S44), HubSpot via S48, Digital Bloom (S49), partner margins (S50), CPL (S55).</a:t>
            </a:r>
            <a:endParaRPr lang="en-US" sz="1000" dirty="0"/>
          </a:p>
        </p:txBody>
      </p:sp>
      <p:graphicFrame>
        <p:nvGraphicFramePr>
          <p:cNvPr id="20" name="table-144"/>
          <p:cNvGraphicFramePr>
            <a:graphicFrameLocks noGrp="1"/>
          </p:cNvGraphicFramePr>
          <p:nvPr>
            <p:extLst>
              <p:ext uri="{D42A27DB-BD31-4B8C-83A1-F6EECF244321}">
                <p14:modId xmlns:p14="http://schemas.microsoft.com/office/powerpoint/2010/main" val="1579011935"/>
              </p:ext>
            </p:extLst>
          </p:nvPr>
        </p:nvGraphicFramePr>
        <p:xfrm>
          <a:off x="502920" y="1325880"/>
          <a:ext cx="11183112" cy="914400"/>
        </p:xfrm>
        <a:graphic>
          <a:graphicData uri="http://schemas.openxmlformats.org/drawingml/2006/table">
            <a:tbl>
              <a:tblPr/>
              <a:tblGrid>
                <a:gridCol w="3291840"/>
                <a:gridCol w="1371600"/>
                <a:gridCol w="1371600"/>
                <a:gridCol w="1371600"/>
                <a:gridCol w="640080"/>
                <a:gridCol w="3136392"/>
              </a:tblGrid>
              <a:tr h="402336">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Input</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Downside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Base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Upside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Class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Basis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r>
              <a:tr h="402336">
                <a:tc>
                  <a:txBody>
                    <a:bodyPr/>
                    <a:lstStyle/>
                    <a:p>
                      <a:pPr indent="0" marL="0">
                        <a:buNone/>
                      </a:pPr>
                      <a:r>
                        <a:rPr lang="en-US" sz="1100" dirty="0">
                          <a:solidFill>
                            <a:srgbClr val="1B2433"/>
                          </a:solidFill>
                          <a:latin typeface="Arial" pitchFamily="34" charset="0"/>
                          <a:ea typeface="Arial" pitchFamily="34" charset="-122"/>
                          <a:cs typeface="Arial" pitchFamily="34" charset="-120"/>
                        </a:rPr>
                        <a:t>SAM filters (outbound × CRM in use) — fixed</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80% × 56%</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80% × 56%</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80% × 56%</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D/B</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Phase 1; Phocas/DSG 2026 (S25)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02336">
                <a:tc>
                  <a:txBody>
                    <a:bodyPr/>
                    <a:lstStyle/>
                    <a:p>
                      <a:pPr indent="0" marL="0">
                        <a:buNone/>
                      </a:pPr>
                      <a:r>
                        <a:rPr lang="en-US" sz="1100" dirty="0">
                          <a:solidFill>
                            <a:srgbClr val="1B2433"/>
                          </a:solidFill>
                          <a:latin typeface="Arial" pitchFamily="34" charset="0"/>
                          <a:ea typeface="Arial" pitchFamily="34" charset="-122"/>
                          <a:cs typeface="Arial" pitchFamily="34" charset="-120"/>
                        </a:rPr>
                        <a:t>Meeting rate (automated outbound)</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2.0%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3.0%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4.5%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D</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Cold outbound 1–5% [K]</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02336">
                <a:tc>
                  <a:txBody>
                    <a:bodyPr/>
                    <a:lstStyle/>
                    <a:p>
                      <a:pPr indent="0" marL="0">
                        <a:buNone/>
                      </a:pPr>
                      <a:r>
                        <a:rPr lang="en-US" sz="1100" dirty="0">
                          <a:solidFill>
                            <a:srgbClr val="1B2433"/>
                          </a:solidFill>
                          <a:latin typeface="Arial" pitchFamily="34" charset="0"/>
                          <a:ea typeface="Arial" pitchFamily="34" charset="-122"/>
                          <a:cs typeface="Arial" pitchFamily="34" charset="-120"/>
                        </a:rPr>
                        <a:t>Meeting → opportunity / win rate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30% / 15%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40% / 21%</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50% / 30%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B/D</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SQL→opp 42% (S49); HubSpot avg win 21% (S48)</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02336">
                <a:tc>
                  <a:txBody>
                    <a:bodyPr/>
                    <a:lstStyle/>
                    <a:p>
                      <a:pPr indent="0" marL="0">
                        <a:buNone/>
                      </a:pPr>
                      <a:r>
                        <a:rPr lang="en-US" sz="1100" dirty="0">
                          <a:solidFill>
                            <a:srgbClr val="1B2433"/>
                          </a:solidFill>
                          <a:latin typeface="Arial" pitchFamily="34" charset="0"/>
                          <a:ea typeface="Arial" pitchFamily="34" charset="-122"/>
                          <a:cs typeface="Arial" pitchFamily="34" charset="-120"/>
                        </a:rPr>
                        <a:t>Enterprise opportunity propensity (SMB = 1)</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0.5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0.7</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0.9</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D</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Win mix derived, not assumed</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02336">
                <a:tc>
                  <a:txBody>
                    <a:bodyPr/>
                    <a:lstStyle/>
                    <a:p>
                      <a:pPr indent="0" marL="0">
                        <a:buNone/>
                      </a:pPr>
                      <a:r>
                        <a:rPr lang="en-US" sz="1100" dirty="0">
                          <a:solidFill>
                            <a:srgbClr val="1B2433"/>
                          </a:solidFill>
                          <a:latin typeface="Arial" pitchFamily="34" charset="0"/>
                          <a:ea typeface="Arial" pitchFamily="34" charset="-122"/>
                          <a:cs typeface="Arial" pitchFamily="34" charset="-120"/>
                        </a:rPr>
                        <a:t>Usage intensity (sets ACV)</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0.75×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1.0×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1.5×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D</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Usage build at list prices (S01)</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02336">
                <a:tc>
                  <a:txBody>
                    <a:bodyPr/>
                    <a:lstStyle/>
                    <a:p>
                      <a:pPr indent="0" marL="0">
                        <a:buNone/>
                      </a:pPr>
                      <a:r>
                        <a:rPr lang="en-US" sz="1100" dirty="0">
                          <a:solidFill>
                            <a:srgbClr val="1B2433"/>
                          </a:solidFill>
                          <a:latin typeface="Arial" pitchFamily="34" charset="0"/>
                          <a:ea typeface="Arial" pitchFamily="34" charset="-122"/>
                          <a:cs typeface="Arial" pitchFamily="34" charset="-120"/>
                        </a:rPr>
                        <a:t>GRR / NRR, mid-market</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86% / 98%</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90% / 106%</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93% / 115%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B</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SaaS Capital 2025 (S43)</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02336">
                <a:tc>
                  <a:txBody>
                    <a:bodyPr/>
                    <a:lstStyle/>
                    <a:p>
                      <a:pPr indent="0" marL="0">
                        <a:buNone/>
                      </a:pPr>
                      <a:r>
                        <a:rPr lang="en-US" sz="1100" dirty="0">
                          <a:solidFill>
                            <a:srgbClr val="1B2433"/>
                          </a:solidFill>
                          <a:latin typeface="Arial" pitchFamily="34" charset="0"/>
                          <a:ea typeface="Arial" pitchFamily="34" charset="-122"/>
                          <a:cs typeface="Arial" pitchFamily="34" charset="-120"/>
                        </a:rPr>
                        <a:t>Gross margin</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55%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65%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72%</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D</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Data-heavy margins below 80% (S52)</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02336">
                <a:tc>
                  <a:txBody>
                    <a:bodyPr/>
                    <a:lstStyle/>
                    <a:p>
                      <a:pPr indent="0" marL="0">
                        <a:buNone/>
                      </a:pPr>
                      <a:r>
                        <a:rPr lang="en-US" sz="1100" dirty="0">
                          <a:solidFill>
                            <a:srgbClr val="1B2433"/>
                          </a:solidFill>
                          <a:latin typeface="Arial" pitchFamily="34" charset="0"/>
                          <a:ea typeface="Arial" pitchFamily="34" charset="-122"/>
                          <a:cs typeface="Arial" pitchFamily="34" charset="-120"/>
                        </a:rPr>
                        <a:t>Incrementality haircut (wins that would happen anyway)</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30%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20%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10%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D</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Prof. services 60% / 45% / 30%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02336">
                <a:tc>
                  <a:txBody>
                    <a:bodyPr/>
                    <a:lstStyle/>
                    <a:p>
                      <a:pPr indent="0" marL="0">
                        <a:buNone/>
                      </a:pPr>
                      <a:r>
                        <a:rPr lang="en-US" sz="1100" dirty="0">
                          <a:solidFill>
                            <a:srgbClr val="1B2433"/>
                          </a:solidFill>
                          <a:latin typeface="Arial" pitchFamily="34" charset="0"/>
                          <a:ea typeface="Arial" pitchFamily="34" charset="-122"/>
                          <a:cs typeface="Arial" pitchFamily="34" charset="-120"/>
                        </a:rPr>
                        <a:t>Discount rate / Option 0 marginal efficiency</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12% / 0.6×</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12% / 0.6×</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12% / 0.6×</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D</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Payback benchmark 14–18 months (S47)</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02336">
                <a:tc>
                  <a:txBody>
                    <a:bodyPr/>
                    <a:lstStyle/>
                    <a:p>
                      <a:pPr indent="0" marL="0">
                        <a:buNone/>
                      </a:pPr>
                      <a:r>
                        <a:rPr lang="en-US" sz="1100" dirty="0">
                          <a:solidFill>
                            <a:srgbClr val="1B2433"/>
                          </a:solidFill>
                          <a:latin typeface="Arial" pitchFamily="34" charset="0"/>
                          <a:ea typeface="Arial" pitchFamily="34" charset="-122"/>
                          <a:cs typeface="Arial" pitchFamily="34" charset="-120"/>
                        </a:rPr>
                        <a:t>Cost per extra MQL (program spend above base)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$600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b="1" dirty="0">
                          <a:solidFill>
                            <a:srgbClr val="1B2433"/>
                          </a:solidFill>
                          <a:latin typeface="Arial" pitchFamily="34" charset="0"/>
                          <a:ea typeface="Arial" pitchFamily="34" charset="-122"/>
                          <a:cs typeface="Arial" pitchFamily="34" charset="-120"/>
                        </a:rPr>
                        <a:t>$400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$250</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B/D</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SaaS CPL $200–350 (S55)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83112" cy="868680"/>
          </a:xfrm>
          <a:prstGeom prst="rect">
            <a:avLst/>
          </a:prstGeom>
          <a:noFill/>
          <a:ln/>
        </p:spPr>
        <p:txBody>
          <a:bodyPr wrap="square" lIns="0" tIns="0" rIns="0" bIns="0"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A7 · Limitations and principal sources</a:t>
            </a:r>
            <a:endParaRPr lang="en-US" sz="2400" dirty="0"/>
          </a:p>
        </p:txBody>
      </p:sp>
      <p:sp>
        <p:nvSpPr>
          <p:cNvPr id="3" name="Text 0"/>
          <p:cNvSpPr/>
          <p:nvPr>
            <p:ph idx="101" type="body" hasCustomPrompt="1"/>
          </p:nvPr>
        </p:nvSpPr>
        <p:spPr>
          <a:xfrm>
            <a:off x="502920" y="6108192"/>
            <a:ext cx="10424160" cy="329184"/>
          </a:xfrm>
          <a:prstGeom prst="rect">
            <a:avLst/>
          </a:prstGeom>
          <a:noFill/>
          <a:ln/>
        </p:spPr>
        <p:txBody>
          <a:bodyPr wrap="square" lIns="0" tIns="0" rIns="0" bIns="0" rtlCol="0" anchor="t"/>
          <a:lstStyle/>
          <a:p>
            <a:pPr indent="0" marL="0">
              <a:buNone/>
            </a:pPr>
            <a:r>
              <a:rPr lang="en-US" sz="1000" dirty="0">
                <a:solidFill>
                  <a:schemeClr val="accent2"/>
                </a:solidFill>
              </a:rPr>
              <a:t>Full register (59 entries with dates, reliability and limitations): Research_Sources.csv. Workbooks, build scripts and the Python engine: 02, 04, 06, 07 and appendix/.</a:t>
            </a:r>
            <a:endParaRPr lang="en-US" sz="1000" dirty="0"/>
          </a:p>
        </p:txBody>
      </p:sp>
      <p:sp>
        <p:nvSpPr>
          <p:cNvPr id="4" name="text-145"/>
          <p:cNvSpPr txBox="1"/>
          <p:nvPr/>
        </p:nvSpPr>
        <p:spPr>
          <a:xfrm>
            <a:off x="502920" y="1325880"/>
            <a:ext cx="5303520" cy="320040"/>
          </a:xfrm>
          <a:prstGeom prst="rect">
            <a:avLst/>
          </a:prstGeom>
          <a:noFill/>
          <a:ln/>
        </p:spPr>
        <p:txBody>
          <a:bodyPr wrap="square" lIns="0" tIns="0" rIns="0" bIns="0" rtlCol="0" anchor="t"/>
          <a:lstStyle/>
          <a:p>
            <a:pPr indent="0" marL="0">
              <a:buNone/>
            </a:pPr>
            <a:r>
              <a:rPr lang="en-US" sz="1600" b="1" dirty="0">
                <a:solidFill>
                  <a:schemeClr val="tx1"/>
                </a:solidFill>
              </a:rPr>
              <a:t>Limitations</a:t>
            </a:r>
            <a:endParaRPr lang="en-US" sz="1600" dirty="0"/>
          </a:p>
        </p:txBody>
      </p:sp>
      <p:sp>
        <p:nvSpPr>
          <p:cNvPr id="5" name="text-146"/>
          <p:cNvSpPr txBox="1"/>
          <p:nvPr/>
        </p:nvSpPr>
        <p:spPr>
          <a:xfrm>
            <a:off x="502920" y="1737360"/>
            <a:ext cx="5303520" cy="4206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No interviews, surveys or Clay internal data; win rates, margins, partner economics and Option 0 efficiency are benchmarks or assumptions</a:t>
            </a:r>
            <a:endParaRPr lang="en-US" sz="1300" dirty="0"/>
          </a:p>
          <a:p>
            <a:pPr marL="342900" indent="-342900">
              <a:spcAft>
                <a:spcPts val="600"/>
              </a:spcAft>
              <a:buSzPct val="100000"/>
              <a:buChar char="•"/>
            </a:pPr>
            <a:r>
              <a:rPr lang="en-US" sz="1300" dirty="0">
                <a:solidFill>
                  <a:schemeClr val="tx2"/>
                </a:solidFill>
              </a:rPr>
              <a:t>Database-coverage gap is an education-based proxy; a 100-firm CSLB coverage test is designed and sampled but not yet run</a:t>
            </a:r>
            <a:endParaRPr lang="en-US" sz="1300" dirty="0"/>
          </a:p>
          <a:p>
            <a:pPr marL="342900" indent="-342900">
              <a:spcAft>
                <a:spcPts val="600"/>
              </a:spcAft>
              <a:buSzPct val="100000"/>
              <a:buChar char="•"/>
            </a:pPr>
            <a:r>
              <a:rPr lang="en-US" sz="1300" dirty="0">
                <a:solidFill>
                  <a:schemeClr val="tx2"/>
                </a:solidFill>
              </a:rPr>
              <a:t>ACV is a list-price usage build; Clay pricing changed in March 2026 and may change again</a:t>
            </a:r>
            <a:endParaRPr lang="en-US" sz="1300" dirty="0"/>
          </a:p>
          <a:p>
            <a:pPr marL="342900" indent="-342900">
              <a:spcAft>
                <a:spcPts val="600"/>
              </a:spcAft>
              <a:buSzPct val="100000"/>
              <a:buChar char="•"/>
            </a:pPr>
            <a:r>
              <a:rPr lang="en-US" sz="1300" dirty="0">
                <a:solidFill>
                  <a:schemeClr val="tx2"/>
                </a:solidFill>
              </a:rPr>
              <a:t>Monte Carlo results depend on the input ranges and correlation (robustness reported)</a:t>
            </a:r>
            <a:endParaRPr lang="en-US" sz="1300" dirty="0"/>
          </a:p>
          <a:p>
            <a:pPr marL="342900" indent="-342900">
              <a:spcAft>
                <a:spcPts val="600"/>
              </a:spcAft>
              <a:buSzPct val="100000"/>
              <a:buChar char="•"/>
            </a:pPr>
            <a:r>
              <a:rPr lang="en-US" sz="1300" dirty="0">
                <a:solidFill>
                  <a:schemeClr val="tx2"/>
                </a:solidFill>
              </a:rPr>
              <a:t>Census firm counts are for 2022; manufacturers' sales branches (4–22% of 500+ distributors) are bounded, not removed</a:t>
            </a:r>
            <a:endParaRPr lang="en-US" sz="1300" dirty="0"/>
          </a:p>
          <a:p>
            <a:pPr marL="342900" indent="-342900">
              <a:spcAft>
                <a:spcPts val="600"/>
              </a:spcAft>
              <a:buSzPct val="100000"/>
              <a:buChar char="•"/>
            </a:pPr>
            <a:r>
              <a:rPr lang="en-US" sz="1300" dirty="0">
                <a:solidFill>
                  <a:schemeClr val="tx2"/>
                </a:solidFill>
              </a:rPr>
              <a:t>Persona-vertical and data-led alternatives are named but not yet modeled</a:t>
            </a:r>
            <a:endParaRPr lang="en-US" sz="1300" dirty="0"/>
          </a:p>
        </p:txBody>
      </p:sp>
      <p:graphicFrame>
        <p:nvGraphicFramePr>
          <p:cNvPr id="21" name="table-147"/>
          <p:cNvGraphicFramePr>
            <a:graphicFrameLocks noGrp="1"/>
          </p:cNvGraphicFramePr>
          <p:nvPr>
            <p:extLst>
              <p:ext uri="{D42A27DB-BD31-4B8C-83A1-F6EECF244321}">
                <p14:modId xmlns:p14="http://schemas.microsoft.com/office/powerpoint/2010/main" val="1579011935"/>
              </p:ext>
            </p:extLst>
          </p:nvPr>
        </p:nvGraphicFramePr>
        <p:xfrm>
          <a:off x="6172200" y="1371600"/>
          <a:ext cx="5513832" cy="914400"/>
        </p:xfrm>
        <a:graphic>
          <a:graphicData uri="http://schemas.openxmlformats.org/drawingml/2006/table">
            <a:tbl>
              <a:tblPr/>
              <a:tblGrid>
                <a:gridCol w="548640"/>
                <a:gridCol w="3776472"/>
                <a:gridCol w="1188720"/>
              </a:tblGrid>
              <a:tr h="41148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ID</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Source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Date</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D4A5C"/>
                    </a:solidFill>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S01</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Clay pricing page (plans, credits, actions)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Oct 2026</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S14</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U.S. Census Bureau, 2022 Economic Census — Employment Size of Firms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Ref. 2022</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S15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U.S. BLS, OEWS industry-specific estimates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May 2025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S16</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Vendr, Clay buyer pricing data</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Feb 2026</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S23</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Sacra, Apollo and Clay revenue estimates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Sep 2026</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S25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Phocas / DSG, State of Sales in Distribution</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2026</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S43</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SaaS Capital, B2B SaaS Retention Benchmarks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Sep 2025</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S44</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Bridge Group, AE Models, Motions &amp; Metrics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Jun 2026</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11480">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S47</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100" dirty="0">
                          <a:solidFill>
                            <a:srgbClr val="1B2433"/>
                          </a:solidFill>
                          <a:latin typeface="Arial" pitchFamily="34" charset="0"/>
                          <a:ea typeface="Arial" pitchFamily="34" charset="-122"/>
                          <a:cs typeface="Arial" pitchFamily="34" charset="-120"/>
                        </a:rPr>
                        <a:t>SaaS Hero (Maxio et al.), CAC payback benchmarks</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100" dirty="0">
                          <a:solidFill>
                            <a:srgbClr val="1B2433"/>
                          </a:solidFill>
                          <a:latin typeface="Arial" pitchFamily="34" charset="0"/>
                          <a:ea typeface="Arial" pitchFamily="34" charset="-122"/>
                          <a:cs typeface="Arial" pitchFamily="34" charset="-120"/>
                        </a:rPr>
                        <a:t>Jul 2026</a:t>
                      </a:r>
                      <a:endParaRPr lang="en-US" sz="1100" dirty="0">
                        <a:latin typeface="Arial" charset="0"/>
                        <a:ea typeface="Arial" charset="0"/>
                        <a:cs typeface="Arial" charset="0"/>
                      </a:endParaRPr>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92240"/>
            <a:ext cx="50292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Clay Case Study">
  <a:themeElements>
    <a:clrScheme name="Clay Case Study">
      <a:dk1>
        <a:srgbClr val="1B2433"/>
      </a:dk1>
      <a:lt1>
        <a:srgbClr val="FFFFFF"/>
      </a:lt1>
      <a:dk2>
        <a:srgbClr val="3D4A5C"/>
      </a:dk2>
      <a:lt2>
        <a:srgbClr val="F2F4F7"/>
      </a:lt2>
      <a:accent1>
        <a:srgbClr val="B5532A"/>
      </a:accent1>
      <a:accent2>
        <a:srgbClr val="5B6B82"/>
      </a:accent2>
      <a:accent3>
        <a:srgbClr val="A9B4C2"/>
      </a:accent3>
      <a:accent4>
        <a:srgbClr val="2E6F5E"/>
      </a:accent4>
      <a:accent5>
        <a:srgbClr val="B7862B"/>
      </a:accent5>
      <a:accent6>
        <a:srgbClr val="9B2C2C"/>
      </a:accent6>
      <a:hlink>
        <a:srgbClr val="B5532A"/>
      </a:hlink>
      <a:folHlink>
        <a:srgbClr val="5B6B82"/>
      </a:folHlink>
    </a:clrScheme>
    <a:fontScheme name="Clay Case Stud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Independent case study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Vertical Expansion and GTM Strategy for Clay — Executive Deck (v2)</dc:title>
  <dc:subject>PptxGenJS Presentation</dc:subject>
  <dc:creator>Zhuoran (Zora) Wang</dc:creator>
  <cp:lastModifiedBy>Zhuoran (Zora) Wang</cp:lastModifiedBy>
  <cp:revision>1</cp:revision>
  <dcterms:created xsi:type="dcterms:W3CDTF">2026-10-20T05:39:11Z</dcterms:created>
  <dcterms:modified xsi:type="dcterms:W3CDTF">2026-10-20T05:39:11Z</dcterms:modified>
</cp:coreProperties>
</file>