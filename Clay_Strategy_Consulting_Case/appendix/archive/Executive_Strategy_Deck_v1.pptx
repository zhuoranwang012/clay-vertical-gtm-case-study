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ision" id="{7379c9ed-3ad8-0781-baf1-fbbda4acbfdf}">
          <p14:sldIdLst>
            <p14:sldId id="256"/>
            <p14:sldId id="257"/>
          </p14:sldIdLst>
        </p14:section>
        <p14:section name="Market &amp; customers" id="{4e1eed9b-c27b-f497-4190-75669c3b2dec}">
          <p14:sldIdLst>
            <p14:sldId id="258"/>
            <p14:sldId id="259"/>
            <p14:sldId id="260"/>
          </p14:sldIdLst>
        </p14:section>
        <p14:section name="Competition &amp; value proposition" id="{bd6cd9ea-53b5-e673-1305-a4720bf098e1}">
          <p14:sldIdLst>
            <p14:sldId id="261"/>
            <p14:sldId id="262"/>
          </p14:sldIdLst>
        </p14:section>
        <p14:section name="Prioritization &amp; strategy" id="{34b844de-e829-fa18-0cdb-eac676975baf}">
          <p14:sldIdLst>
            <p14:sldId id="263"/>
            <p14:sldId id="264"/>
            <p14:sldId id="265"/>
          </p14:sldIdLst>
        </p14:section>
        <p14:section name="Risks &amp; execution" id="{2eb62d24-7678-4de4-cc60-241eaaa8bf85}">
          <p14:sldIdLst>
            <p14:sldId id="266"/>
            <p14:sldId id="267"/>
          </p14:sldIdLst>
        </p14:section>
        <p14:section name="Appendix" id="{65309b8b-2d1f-eae2-6ae3-86a4b1a8c6e3}">
          <p14:sldIdLst>
            <p14:sldId id="268"/>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Unique U.S. firms, 20+ employees (2022)</a:t>
            </a:r>
          </a:p>
        </c:rich>
      </c:tx>
      <c:layout/>
      <c:overlay val="0"/>
    </c:title>
    <c:autoTitleDeleted val="0"/>
    <c:plotArea>
      <c:layout/>
      <c:barChart>
        <c:barDir val="col"/>
        <c:grouping val="clustered"/>
        <c:varyColors val="0"/>
        <c:ser>
          <c:idx val="0"/>
          <c:order val="0"/>
          <c:tx>
            <c:strRef>
              <c:f>Sheet1!$B$1</c:f>
              <c:strCache>
                <c:ptCount val="1"/>
                <c:pt idx="0">
                  <c:v>Unique U.S. firms, 20+ employees (2022)</c:v>
                </c:pt>
              </c:strCache>
            </c:strRef>
          </c:tx>
          <c:spPr>
            <a:solidFill>
              <a:srgbClr val="B5532A"/>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B5532A"/>
              </a:solidFill>
              <a:effectLst/>
            </c:spPr>
          </c:dPt>
          <c:dPt>
            <c:idx val="1"/>
            <c:invertIfNegative val="0"/>
            <c:bubble3D val="0"/>
            <c:spPr>
              <a:solidFill>
                <a:srgbClr val="5B6B82"/>
              </a:solidFill>
              <a:effectLst/>
            </c:spPr>
          </c:dPt>
          <c:dPt>
            <c:idx val="2"/>
            <c:invertIfNegative val="0"/>
            <c:bubble3D val="0"/>
            <c:spPr>
              <a:solidFill>
                <a:srgbClr val="5B6B82"/>
              </a:solidFill>
              <a:effectLst/>
            </c:spPr>
          </c:dPt>
          <c:cat>
            <c:multiLvlStrRef>
              <c:f>Sheet1!$A$2:$A$4</c:f>
              <c:multiLvlStrCache>
                <c:ptCount val="3"/>
                <c:lvl>
                  <c:pt idx="0">
                    <c:v>Distribution</c:v>
                  </c:pt>
                  <c:pt idx="1">
                    <c:v>Manufacturing</c:v>
                  </c:pt>
                  <c:pt idx="2">
                    <c:v>Prof. services</c:v>
                  </c:pt>
                </c:lvl>
              </c:multiLvlStrCache>
            </c:multiLvlStrRef>
          </c:cat>
          <c:val>
            <c:numRef>
              <c:f>Sheet1!$B$2:$B$4</c:f>
              <c:numCache>
                <c:formatCode>General</c:formatCode>
                <c:ptCount val="3"/>
                <c:pt idx="0">
                  <c:v>11494</c:v>
                </c:pt>
                <c:pt idx="1">
                  <c:v>23785</c:v>
                </c:pt>
                <c:pt idx="2">
                  <c:v>33035</c:v>
                </c:pt>
              </c:numCache>
            </c:numRef>
          </c:val>
        </c:ser>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Sales jobs, % of employment (all industries 8.6%)</a:t>
            </a:r>
          </a:p>
        </c:rich>
      </c:tx>
      <c:layout/>
      <c:overlay val="0"/>
    </c:title>
    <c:autoTitleDeleted val="0"/>
    <c:plotArea>
      <c:layout/>
      <c:barChart>
        <c:barDir val="col"/>
        <c:grouping val="clustered"/>
        <c:varyColors val="0"/>
        <c:ser>
          <c:idx val="0"/>
          <c:order val="0"/>
          <c:tx>
            <c:strRef>
              <c:f>Sheet1!$B$1</c:f>
              <c:strCache>
                <c:ptCount val="1"/>
                <c:pt idx="0">
                  <c:v>Sales jobs, % of employment (all industries 8.6%)</c:v>
                </c:pt>
              </c:strCache>
            </c:strRef>
          </c:tx>
          <c:spPr>
            <a:solidFill>
              <a:srgbClr val="B5532A"/>
            </a:solidFill>
            <a:effectLst/>
          </c:spPr>
          <c:invertIfNegative val="0"/>
          <c:dLbls>
            <c:numFmt formatCode="0.0&quot;%&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B5532A"/>
              </a:solidFill>
              <a:effectLst/>
            </c:spPr>
          </c:dPt>
          <c:dPt>
            <c:idx val="1"/>
            <c:invertIfNegative val="0"/>
            <c:bubble3D val="0"/>
            <c:spPr>
              <a:solidFill>
                <a:srgbClr val="5B6B82"/>
              </a:solidFill>
              <a:effectLst/>
            </c:spPr>
          </c:dPt>
          <c:dPt>
            <c:idx val="2"/>
            <c:invertIfNegative val="0"/>
            <c:bubble3D val="0"/>
            <c:spPr>
              <a:solidFill>
                <a:srgbClr val="5B6B82"/>
              </a:solidFill>
              <a:effectLst/>
            </c:spPr>
          </c:dPt>
          <c:cat>
            <c:multiLvlStrRef>
              <c:f>Sheet1!$A$2:$A$4</c:f>
              <c:multiLvlStrCache>
                <c:ptCount val="3"/>
                <c:lvl>
                  <c:pt idx="0">
                    <c:v>Distribution</c:v>
                  </c:pt>
                  <c:pt idx="1">
                    <c:v>Manufacturing</c:v>
                  </c:pt>
                  <c:pt idx="2">
                    <c:v>Prof. services</c:v>
                  </c:pt>
                </c:lvl>
              </c:multiLvlStrCache>
            </c:multiLvlStrRef>
          </c:cat>
          <c:val>
            <c:numRef>
              <c:f>Sheet1!$B$2:$B$4</c:f>
              <c:numCache>
                <c:formatCode>General</c:formatCode>
                <c:ptCount val="3"/>
                <c:pt idx="0">
                  <c:v>22</c:v>
                </c:pt>
                <c:pt idx="1">
                  <c:v>2.7</c:v>
                </c:pt>
                <c:pt idx="2">
                  <c:v>6.2</c:v>
                </c:pt>
              </c:numCache>
            </c:numRef>
          </c:val>
        </c:ser>
        <c:dLbls>
          <c:numFmt formatCode="0.0&quot;%&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Sales staff per firm, 20+ employees</a:t>
            </a:r>
          </a:p>
        </c:rich>
      </c:tx>
      <c:layout/>
      <c:overlay val="0"/>
    </c:title>
    <c:autoTitleDeleted val="0"/>
    <c:plotArea>
      <c:layout/>
      <c:barChart>
        <c:barDir val="col"/>
        <c:grouping val="clustered"/>
        <c:varyColors val="0"/>
        <c:ser>
          <c:idx val="0"/>
          <c:order val="0"/>
          <c:tx>
            <c:strRef>
              <c:f>Sheet1!$B$1</c:f>
              <c:strCache>
                <c:ptCount val="1"/>
                <c:pt idx="0">
                  <c:v>Sales staff per firm, 20+ employees</c:v>
                </c:pt>
              </c:strCache>
            </c:strRef>
          </c:tx>
          <c:spPr>
            <a:solidFill>
              <a:srgbClr val="B5532A"/>
            </a:solidFill>
            <a:effectLst/>
          </c:spPr>
          <c:invertIfNegative val="0"/>
          <c:dLbls>
            <c:numFmt formatCode="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B5532A"/>
              </a:solidFill>
              <a:effectLst/>
            </c:spPr>
          </c:dPt>
          <c:dPt>
            <c:idx val="1"/>
            <c:invertIfNegative val="0"/>
            <c:bubble3D val="0"/>
            <c:spPr>
              <a:solidFill>
                <a:srgbClr val="5B6B82"/>
              </a:solidFill>
              <a:effectLst/>
            </c:spPr>
          </c:dPt>
          <c:dPt>
            <c:idx val="2"/>
            <c:invertIfNegative val="0"/>
            <c:bubble3D val="0"/>
            <c:spPr>
              <a:solidFill>
                <a:srgbClr val="5B6B82"/>
              </a:solidFill>
              <a:effectLst/>
            </c:spPr>
          </c:dPt>
          <c:cat>
            <c:multiLvlStrRef>
              <c:f>Sheet1!$A$2:$A$4</c:f>
              <c:multiLvlStrCache>
                <c:ptCount val="3"/>
                <c:lvl>
                  <c:pt idx="0">
                    <c:v>Distribution</c:v>
                  </c:pt>
                  <c:pt idx="1">
                    <c:v>Manufacturing</c:v>
                  </c:pt>
                  <c:pt idx="2">
                    <c:v>Prof. services</c:v>
                  </c:pt>
                </c:lvl>
              </c:multiLvlStrCache>
            </c:multiLvlStrRef>
          </c:cat>
          <c:val>
            <c:numRef>
              <c:f>Sheet1!$B$2:$B$4</c:f>
              <c:numCache>
                <c:formatCode>General</c:formatCode>
                <c:ptCount val="3"/>
                <c:pt idx="0">
                  <c:v>27.7</c:v>
                </c:pt>
                <c:pt idx="1">
                  <c:v>3.65</c:v>
                </c:pt>
                <c:pt idx="2">
                  <c:v>9.32</c:v>
                </c:pt>
              </c:numCache>
            </c:numRef>
          </c:val>
        </c:ser>
        <c:dLbls>
          <c:numFmt formatCode="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TAM and SAM by segment, Base case ($M per year)</a:t>
            </a:r>
          </a:p>
        </c:rich>
      </c:tx>
      <c:layout/>
      <c:overlay val="0"/>
    </c:title>
    <c:autoTitleDeleted val="0"/>
    <c:plotArea>
      <c:layout/>
      <c:barChart>
        <c:barDir val="col"/>
        <c:grouping val="clustered"/>
        <c:varyColors val="0"/>
        <c:ser>
          <c:idx val="0"/>
          <c:order val="0"/>
          <c:tx>
            <c:strRef>
              <c:f>Sheet1!$B$1</c:f>
              <c:strCache>
                <c:ptCount val="1"/>
                <c:pt idx="0">
                  <c:v>TAM</c:v>
                </c:pt>
              </c:strCache>
            </c:strRef>
          </c:tx>
          <c:spPr>
            <a:solidFill>
              <a:srgbClr val="A9B4C2"/>
            </a:solidFill>
            <a:effectLst/>
          </c:spPr>
          <c:invertIfNegative val="0"/>
          <c:dLbls>
            <c:numFmt formatCode="&quot;$&quot;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Distribution</c:v>
                  </c:pt>
                  <c:pt idx="1">
                    <c:v>Manufacturing</c:v>
                  </c:pt>
                  <c:pt idx="2">
                    <c:v>Prof. services</c:v>
                  </c:pt>
                </c:lvl>
              </c:multiLvlStrCache>
            </c:multiLvlStrRef>
          </c:cat>
          <c:val>
            <c:numRef>
              <c:f>Sheet1!$B$2:$B$4</c:f>
              <c:numCache>
                <c:formatCode>General</c:formatCode>
                <c:ptCount val="3"/>
                <c:pt idx="0">
                  <c:v>131.1</c:v>
                </c:pt>
                <c:pt idx="1">
                  <c:v>280.9</c:v>
                </c:pt>
                <c:pt idx="2">
                  <c:v>385</c:v>
                </c:pt>
              </c:numCache>
            </c:numRef>
          </c:val>
        </c:ser>
        <c:ser>
          <c:idx val="1"/>
          <c:order val="1"/>
          <c:tx>
            <c:strRef>
              <c:f>Sheet1!$C$1</c:f>
              <c:strCache>
                <c:ptCount val="1"/>
                <c:pt idx="0">
                  <c:v>SAM</c:v>
                </c:pt>
              </c:strCache>
            </c:strRef>
          </c:tx>
          <c:spPr>
            <a:solidFill>
              <a:srgbClr val="5B6B82"/>
            </a:solidFill>
            <a:effectLst/>
          </c:spPr>
          <c:invertIfNegative val="0"/>
          <c:dLbls>
            <c:numFmt formatCode="&quot;$&quot;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Distribution</c:v>
                  </c:pt>
                  <c:pt idx="1">
                    <c:v>Manufacturing</c:v>
                  </c:pt>
                  <c:pt idx="2">
                    <c:v>Prof. services</c:v>
                  </c:pt>
                </c:lvl>
              </c:multiLvlStrCache>
            </c:multiLvlStrRef>
          </c:cat>
          <c:val>
            <c:numRef>
              <c:f>Sheet1!$C$2:$C$4</c:f>
              <c:numCache>
                <c:formatCode>General</c:formatCode>
                <c:ptCount val="3"/>
                <c:pt idx="0">
                  <c:v>68.2</c:v>
                </c:pt>
                <c:pt idx="1">
                  <c:v>75.8</c:v>
                </c:pt>
                <c:pt idx="2">
                  <c:v>148.2</c:v>
                </c:pt>
              </c:numCache>
            </c:numRef>
          </c:val>
        </c:ser>
        <c:dLbls>
          <c:numFmt formatCode="&quot;$&quot;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Weighted score by criterion (maximum 5.0)</a:t>
            </a:r>
          </a:p>
        </c:rich>
      </c:tx>
      <c:layout/>
      <c:overlay val="0"/>
    </c:title>
    <c:autoTitleDeleted val="0"/>
    <c:plotArea>
      <c:layout/>
      <c:barChart>
        <c:barDir val="bar"/>
        <c:grouping val="stacked"/>
        <c:varyColors val="0"/>
        <c:ser>
          <c:idx val="0"/>
          <c:order val="0"/>
          <c:tx>
            <c:strRef>
              <c:f>Sheet1!$B$1</c:f>
              <c:strCache>
                <c:ptCount val="1"/>
                <c:pt idx="0">
                  <c:v>Market attractiveness (20%)</c:v>
                </c:pt>
              </c:strCache>
            </c:strRef>
          </c:tx>
          <c:spPr>
            <a:solidFill>
              <a:srgbClr val="1B2433"/>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Sheet1!$A$2:$A$4</c:f>
              <c:multiLvlStrCache>
                <c:ptCount val="3"/>
                <c:lvl>
                  <c:pt idx="0">
                    <c:v>Manufacturing · 2.70</c:v>
                  </c:pt>
                  <c:pt idx="1">
                    <c:v>Prof. services · 3.41</c:v>
                  </c:pt>
                  <c:pt idx="2">
                    <c:v>Distribution · 3.97</c:v>
                  </c:pt>
                </c:lvl>
              </c:multiLvlStrCache>
            </c:multiLvlStrRef>
          </c:cat>
          <c:val>
            <c:numRef>
              <c:f>Sheet1!$B$2:$B$4</c:f>
              <c:numCache>
                <c:formatCode>General</c:formatCode>
                <c:ptCount val="3"/>
                <c:pt idx="0">
                  <c:v>0.8</c:v>
                </c:pt>
                <c:pt idx="1">
                  <c:v>0.7</c:v>
                </c:pt>
                <c:pt idx="2">
                  <c:v>0.78</c:v>
                </c:pt>
              </c:numCache>
            </c:numRef>
          </c:val>
        </c:ser>
        <c:ser>
          <c:idx val="1"/>
          <c:order val="1"/>
          <c:tx>
            <c:strRef>
              <c:f>Sheet1!$C$1</c:f>
              <c:strCache>
                <c:ptCount val="1"/>
                <c:pt idx="0">
                  <c:v>Customer need (20%)</c:v>
                </c:pt>
              </c:strCache>
            </c:strRef>
          </c:tx>
          <c:spPr>
            <a:solidFill>
              <a:srgbClr val="5B6B82"/>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Sheet1!$A$2:$A$4</c:f>
              <c:multiLvlStrCache>
                <c:ptCount val="3"/>
                <c:lvl>
                  <c:pt idx="0">
                    <c:v>Manufacturing · 2.70</c:v>
                  </c:pt>
                  <c:pt idx="1">
                    <c:v>Prof. services · 3.41</c:v>
                  </c:pt>
                  <c:pt idx="2">
                    <c:v>Distribution · 3.97</c:v>
                  </c:pt>
                </c:lvl>
              </c:multiLvlStrCache>
            </c:multiLvlStrRef>
          </c:cat>
          <c:val>
            <c:numRef>
              <c:f>Sheet1!$C$2:$C$4</c:f>
              <c:numCache>
                <c:formatCode>General</c:formatCode>
                <c:ptCount val="3"/>
                <c:pt idx="0">
                  <c:v>0.51</c:v>
                </c:pt>
                <c:pt idx="1">
                  <c:v>0.56</c:v>
                </c:pt>
                <c:pt idx="2">
                  <c:v>1</c:v>
                </c:pt>
              </c:numCache>
            </c:numRef>
          </c:val>
        </c:ser>
        <c:ser>
          <c:idx val="2"/>
          <c:order val="2"/>
          <c:tx>
            <c:strRef>
              <c:f>Sheet1!$D$1</c:f>
              <c:strCache>
                <c:ptCount val="1"/>
                <c:pt idx="0">
                  <c:v>Product-market fit (20%)</c:v>
                </c:pt>
              </c:strCache>
            </c:strRef>
          </c:tx>
          <c:spPr>
            <a:solidFill>
              <a:srgbClr val="A9B4C2"/>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Sheet1!$A$2:$A$4</c:f>
              <c:multiLvlStrCache>
                <c:ptCount val="3"/>
                <c:lvl>
                  <c:pt idx="0">
                    <c:v>Manufacturing · 2.70</c:v>
                  </c:pt>
                  <c:pt idx="1">
                    <c:v>Prof. services · 3.41</c:v>
                  </c:pt>
                  <c:pt idx="2">
                    <c:v>Distribution · 3.97</c:v>
                  </c:pt>
                </c:lvl>
              </c:multiLvlStrCache>
            </c:multiLvlStrRef>
          </c:cat>
          <c:val>
            <c:numRef>
              <c:f>Sheet1!$D$2:$D$4</c:f>
              <c:numCache>
                <c:formatCode>General</c:formatCode>
                <c:ptCount val="3"/>
                <c:pt idx="0">
                  <c:v>0.4</c:v>
                </c:pt>
                <c:pt idx="1">
                  <c:v>0.8</c:v>
                </c:pt>
                <c:pt idx="2">
                  <c:v>0.8</c:v>
                </c:pt>
              </c:numCache>
            </c:numRef>
          </c:val>
        </c:ser>
        <c:ser>
          <c:idx val="3"/>
          <c:order val="3"/>
          <c:tx>
            <c:strRef>
              <c:f>Sheet1!$E$1</c:f>
              <c:strCache>
                <c:ptCount val="1"/>
                <c:pt idx="0">
                  <c:v>Revenue potential (15%)</c:v>
                </c:pt>
              </c:strCache>
            </c:strRef>
          </c:tx>
          <c:spPr>
            <a:solidFill>
              <a:srgbClr val="B5532A"/>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Sheet1!$A$2:$A$4</c:f>
              <c:multiLvlStrCache>
                <c:ptCount val="3"/>
                <c:lvl>
                  <c:pt idx="0">
                    <c:v>Manufacturing · 2.70</c:v>
                  </c:pt>
                  <c:pt idx="1">
                    <c:v>Prof. services · 3.41</c:v>
                  </c:pt>
                  <c:pt idx="2">
                    <c:v>Distribution · 3.97</c:v>
                  </c:pt>
                </c:lvl>
              </c:multiLvlStrCache>
            </c:multiLvlStrRef>
          </c:cat>
          <c:val>
            <c:numRef>
              <c:f>Sheet1!$E$2:$E$4</c:f>
              <c:numCache>
                <c:formatCode>General</c:formatCode>
                <c:ptCount val="3"/>
                <c:pt idx="0">
                  <c:v>0.34</c:v>
                </c:pt>
                <c:pt idx="1">
                  <c:v>0.55</c:v>
                </c:pt>
                <c:pt idx="2">
                  <c:v>0.58</c:v>
                </c:pt>
              </c:numCache>
            </c:numRef>
          </c:val>
        </c:ser>
        <c:ser>
          <c:idx val="4"/>
          <c:order val="4"/>
          <c:tx>
            <c:strRef>
              <c:f>Sheet1!$F$1</c:f>
              <c:strCache>
                <c:ptCount val="1"/>
                <c:pt idx="0">
                  <c:v>Competitive position (15%)</c:v>
                </c:pt>
              </c:strCache>
            </c:strRef>
          </c:tx>
          <c:spPr>
            <a:solidFill>
              <a:srgbClr val="D9A48A"/>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Sheet1!$A$2:$A$4</c:f>
              <c:multiLvlStrCache>
                <c:ptCount val="3"/>
                <c:lvl>
                  <c:pt idx="0">
                    <c:v>Manufacturing · 2.70</c:v>
                  </c:pt>
                  <c:pt idx="1">
                    <c:v>Prof. services · 3.41</c:v>
                  </c:pt>
                  <c:pt idx="2">
                    <c:v>Distribution · 3.97</c:v>
                  </c:pt>
                </c:lvl>
              </c:multiLvlStrCache>
            </c:multiLvlStrRef>
          </c:cat>
          <c:val>
            <c:numRef>
              <c:f>Sheet1!$F$2:$F$4</c:f>
              <c:numCache>
                <c:formatCode>General</c:formatCode>
                <c:ptCount val="3"/>
                <c:pt idx="0">
                  <c:v>0.5</c:v>
                </c:pt>
                <c:pt idx="1">
                  <c:v>0.35</c:v>
                </c:pt>
                <c:pt idx="2">
                  <c:v>0.6</c:v>
                </c:pt>
              </c:numCache>
            </c:numRef>
          </c:val>
        </c:ser>
        <c:ser>
          <c:idx val="5"/>
          <c:order val="5"/>
          <c:tx>
            <c:strRef>
              <c:f>Sheet1!$G$1</c:f>
              <c:strCache>
                <c:ptCount val="1"/>
                <c:pt idx="0">
                  <c:v>Ease of execution (10%)</c:v>
                </c:pt>
              </c:strCache>
            </c:strRef>
          </c:tx>
          <c:spPr>
            <a:solidFill>
              <a:srgbClr val="7E9C8F"/>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Sheet1!$A$2:$A$4</c:f>
              <c:multiLvlStrCache>
                <c:ptCount val="3"/>
                <c:lvl>
                  <c:pt idx="0">
                    <c:v>Manufacturing · 2.70</c:v>
                  </c:pt>
                  <c:pt idx="1">
                    <c:v>Prof. services · 3.41</c:v>
                  </c:pt>
                  <c:pt idx="2">
                    <c:v>Distribution · 3.97</c:v>
                  </c:pt>
                </c:lvl>
              </c:multiLvlStrCache>
            </c:multiLvlStrRef>
          </c:cat>
          <c:val>
            <c:numRef>
              <c:f>Sheet1!$G$2:$G$4</c:f>
              <c:numCache>
                <c:formatCode>General</c:formatCode>
                <c:ptCount val="3"/>
                <c:pt idx="0">
                  <c:v>0.15</c:v>
                </c:pt>
                <c:pt idx="1">
                  <c:v>0.45</c:v>
                </c:pt>
                <c:pt idx="2">
                  <c:v>0.2</c:v>
                </c:pt>
              </c:numCache>
            </c:numRef>
          </c:val>
        </c:ser>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9525" cap="flat">
              <a:solidFill>
                <a:srgbClr val="E3E7E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Program ARR by quarter ($M)</a:t>
            </a:r>
          </a:p>
        </c:rich>
      </c:tx>
      <c:layout/>
      <c:overlay val="0"/>
    </c:title>
    <c:autoTitleDeleted val="0"/>
    <c:plotArea>
      <c:layout/>
      <c:lineChart>
        <c:varyColors val="0"/>
        <c:ser>
          <c:idx val="0"/>
          <c:order val="0"/>
          <c:tx>
            <c:strRef>
              <c:f>Sheet1!$B$1</c:f>
              <c:strCache>
                <c:ptCount val="1"/>
                <c:pt idx="0">
                  <c:v>Upside + 2 AEs after gate</c:v>
                </c:pt>
              </c:strCache>
            </c:strRef>
          </c:tx>
          <c:spPr>
            <a:solidFill>
              <a:srgbClr val="B5532A"/>
            </a:solidFill>
            <a:ln w="31750" cap="flat">
              <a:solidFill>
                <a:srgbClr val="B5532A"/>
              </a:solidFill>
              <a:prstDash val="solid"/>
              <a:round/>
            </a:ln>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marker>
            <c:symbol val="none"/>
            <c:size val="6"/>
            <c:spPr>
              <a:solidFill>
                <a:srgbClr val="B5532A"/>
              </a:solidFill>
              <a:ln w="9525" cap="flat">
                <a:solidFill>
                  <a:srgbClr val="B5532A"/>
                </a:solidFill>
                <a:prstDash val="solid"/>
                <a:round/>
              </a:ln>
              <a:effectLst/>
            </c:spPr>
          </c:marker>
          <c:cat>
            <c:multiLvlStrRef>
              <c:f>Sheet1!$A$2:$A$13</c:f>
              <c:multiLvlStrCache>
                <c:ptCount val="12"/>
                <c:lvl>
                  <c:pt idx="0">
                    <c:v>Q1 27</c:v>
                  </c:pt>
                  <c:pt idx="1">
                    <c:v>Q2 27</c:v>
                  </c:pt>
                  <c:pt idx="2">
                    <c:v>Q3 27</c:v>
                  </c:pt>
                  <c:pt idx="3">
                    <c:v>Q4 27</c:v>
                  </c:pt>
                  <c:pt idx="4">
                    <c:v>Q1 28</c:v>
                  </c:pt>
                  <c:pt idx="5">
                    <c:v>Q2 28</c:v>
                  </c:pt>
                  <c:pt idx="6">
                    <c:v>Q3 28</c:v>
                  </c:pt>
                  <c:pt idx="7">
                    <c:v>Q4 28</c:v>
                  </c:pt>
                  <c:pt idx="8">
                    <c:v>Q1 29</c:v>
                  </c:pt>
                  <c:pt idx="9">
                    <c:v>Q2 29</c:v>
                  </c:pt>
                  <c:pt idx="10">
                    <c:v>Q3 29</c:v>
                  </c:pt>
                  <c:pt idx="11">
                    <c:v>Q4 29</c:v>
                  </c:pt>
                </c:lvl>
              </c:multiLvlStrCache>
            </c:multiLvlStrRef>
          </c:cat>
          <c:val>
            <c:numRef>
              <c:f>Sheet1!$B$2:$B$13</c:f>
              <c:numCache>
                <c:formatCode>General</c:formatCode>
                <c:ptCount val="12"/>
                <c:pt idx="0">
                  <c:v>0</c:v>
                </c:pt>
                <c:pt idx="1">
                  <c:v>0.1</c:v>
                </c:pt>
                <c:pt idx="2">
                  <c:v>0.28</c:v>
                </c:pt>
                <c:pt idx="3">
                  <c:v>0.5</c:v>
                </c:pt>
                <c:pt idx="4">
                  <c:v>0.79</c:v>
                </c:pt>
                <c:pt idx="5">
                  <c:v>1.17</c:v>
                </c:pt>
                <c:pt idx="6">
                  <c:v>1.74</c:v>
                </c:pt>
                <c:pt idx="7">
                  <c:v>2.51</c:v>
                </c:pt>
                <c:pt idx="8">
                  <c:v>3.32</c:v>
                </c:pt>
                <c:pt idx="9">
                  <c:v>4.17</c:v>
                </c:pt>
                <c:pt idx="10">
                  <c:v>5.07</c:v>
                </c:pt>
                <c:pt idx="11">
                  <c:v>6.01</c:v>
                </c:pt>
              </c:numCache>
            </c:numRef>
          </c:val>
          <c:smooth val="0"/>
        </c:ser>
        <c:ser>
          <c:idx val="1"/>
          <c:order val="1"/>
          <c:tx>
            <c:strRef>
              <c:f>Sheet1!$C$1</c:f>
              <c:strCache>
                <c:ptCount val="1"/>
                <c:pt idx="0">
                  <c:v>Base (sales-led team: identical)</c:v>
                </c:pt>
              </c:strCache>
            </c:strRef>
          </c:tx>
          <c:spPr>
            <a:solidFill>
              <a:srgbClr val="1B2433"/>
            </a:solidFill>
            <a:ln w="31750" cap="flat">
              <a:solidFill>
                <a:srgbClr val="1B2433"/>
              </a:solidFill>
              <a:prstDash val="solid"/>
              <a:round/>
            </a:ln>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marker>
            <c:symbol val="none"/>
            <c:size val="6"/>
            <c:spPr>
              <a:solidFill>
                <a:srgbClr val="1B2433"/>
              </a:solidFill>
              <a:ln w="9525" cap="flat">
                <a:solidFill>
                  <a:srgbClr val="1B2433"/>
                </a:solidFill>
                <a:prstDash val="solid"/>
                <a:round/>
              </a:ln>
              <a:effectLst/>
            </c:spPr>
          </c:marker>
          <c:cat>
            <c:multiLvlStrRef>
              <c:f>Sheet1!$A$2:$A$13</c:f>
              <c:multiLvlStrCache>
                <c:ptCount val="12"/>
                <c:lvl>
                  <c:pt idx="0">
                    <c:v>Q1 27</c:v>
                  </c:pt>
                  <c:pt idx="1">
                    <c:v>Q2 27</c:v>
                  </c:pt>
                  <c:pt idx="2">
                    <c:v>Q3 27</c:v>
                  </c:pt>
                  <c:pt idx="3">
                    <c:v>Q4 27</c:v>
                  </c:pt>
                  <c:pt idx="4">
                    <c:v>Q1 28</c:v>
                  </c:pt>
                  <c:pt idx="5">
                    <c:v>Q2 28</c:v>
                  </c:pt>
                  <c:pt idx="6">
                    <c:v>Q3 28</c:v>
                  </c:pt>
                  <c:pt idx="7">
                    <c:v>Q4 28</c:v>
                  </c:pt>
                  <c:pt idx="8">
                    <c:v>Q1 29</c:v>
                  </c:pt>
                  <c:pt idx="9">
                    <c:v>Q2 29</c:v>
                  </c:pt>
                  <c:pt idx="10">
                    <c:v>Q3 29</c:v>
                  </c:pt>
                  <c:pt idx="11">
                    <c:v>Q4 29</c:v>
                  </c:pt>
                </c:lvl>
              </c:multiLvlStrCache>
            </c:multiLvlStrRef>
          </c:cat>
          <c:val>
            <c:numRef>
              <c:f>Sheet1!$C$2:$C$13</c:f>
              <c:numCache>
                <c:formatCode>General</c:formatCode>
                <c:ptCount val="12"/>
                <c:pt idx="0">
                  <c:v>0</c:v>
                </c:pt>
                <c:pt idx="1">
                  <c:v>0.02</c:v>
                </c:pt>
                <c:pt idx="2">
                  <c:v>0.05</c:v>
                </c:pt>
                <c:pt idx="3">
                  <c:v>0.08</c:v>
                </c:pt>
                <c:pt idx="4">
                  <c:v>0.12</c:v>
                </c:pt>
                <c:pt idx="5">
                  <c:v>0.18</c:v>
                </c:pt>
                <c:pt idx="6">
                  <c:v>0.24</c:v>
                </c:pt>
                <c:pt idx="7">
                  <c:v>0.33</c:v>
                </c:pt>
                <c:pt idx="8">
                  <c:v>0.46</c:v>
                </c:pt>
                <c:pt idx="9">
                  <c:v>0.59</c:v>
                </c:pt>
                <c:pt idx="10">
                  <c:v>0.72</c:v>
                </c:pt>
                <c:pt idx="11">
                  <c:v>0.86</c:v>
                </c:pt>
              </c:numCache>
            </c:numRef>
          </c:val>
          <c:smooth val="0"/>
        </c:ser>
        <c:ser>
          <c:idx val="2"/>
          <c:order val="2"/>
          <c:tx>
            <c:strRef>
              <c:f>Sheet1!$D$1</c:f>
              <c:strCache>
                <c:ptCount val="1"/>
                <c:pt idx="0">
                  <c:v>Downside (ungated)</c:v>
                </c:pt>
              </c:strCache>
            </c:strRef>
          </c:tx>
          <c:spPr>
            <a:solidFill>
              <a:srgbClr val="A9B4C2"/>
            </a:solidFill>
            <a:ln w="31750" cap="flat">
              <a:solidFill>
                <a:srgbClr val="A9B4C2"/>
              </a:solidFill>
              <a:prstDash val="solid"/>
              <a:round/>
            </a:ln>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marker>
            <c:symbol val="none"/>
            <c:size val="6"/>
            <c:spPr>
              <a:solidFill>
                <a:srgbClr val="A9B4C2"/>
              </a:solidFill>
              <a:ln w="9525" cap="flat">
                <a:solidFill>
                  <a:srgbClr val="A9B4C2"/>
                </a:solidFill>
                <a:prstDash val="solid"/>
                <a:round/>
              </a:ln>
              <a:effectLst/>
            </c:spPr>
          </c:marker>
          <c:cat>
            <c:multiLvlStrRef>
              <c:f>Sheet1!$A$2:$A$13</c:f>
              <c:multiLvlStrCache>
                <c:ptCount val="12"/>
                <c:lvl>
                  <c:pt idx="0">
                    <c:v>Q1 27</c:v>
                  </c:pt>
                  <c:pt idx="1">
                    <c:v>Q2 27</c:v>
                  </c:pt>
                  <c:pt idx="2">
                    <c:v>Q3 27</c:v>
                  </c:pt>
                  <c:pt idx="3">
                    <c:v>Q4 27</c:v>
                  </c:pt>
                  <c:pt idx="4">
                    <c:v>Q1 28</c:v>
                  </c:pt>
                  <c:pt idx="5">
                    <c:v>Q2 28</c:v>
                  </c:pt>
                  <c:pt idx="6">
                    <c:v>Q3 28</c:v>
                  </c:pt>
                  <c:pt idx="7">
                    <c:v>Q4 28</c:v>
                  </c:pt>
                  <c:pt idx="8">
                    <c:v>Q1 29</c:v>
                  </c:pt>
                  <c:pt idx="9">
                    <c:v>Q2 29</c:v>
                  </c:pt>
                  <c:pt idx="10">
                    <c:v>Q3 29</c:v>
                  </c:pt>
                  <c:pt idx="11">
                    <c:v>Q4 29</c:v>
                  </c:pt>
                </c:lvl>
              </c:multiLvlStrCache>
            </c:multiLvlStrRef>
          </c:cat>
          <c:val>
            <c:numRef>
              <c:f>Sheet1!$D$2:$D$13</c:f>
              <c:numCache>
                <c:formatCode>General</c:formatCode>
                <c:ptCount val="12"/>
                <c:pt idx="0">
                  <c:v>0</c:v>
                </c:pt>
                <c:pt idx="1">
                  <c:v>0</c:v>
                </c:pt>
                <c:pt idx="2">
                  <c:v>0</c:v>
                </c:pt>
                <c:pt idx="3">
                  <c:v>0.01</c:v>
                </c:pt>
                <c:pt idx="4">
                  <c:v>0.01</c:v>
                </c:pt>
                <c:pt idx="5">
                  <c:v>0.02</c:v>
                </c:pt>
                <c:pt idx="6">
                  <c:v>0.02</c:v>
                </c:pt>
                <c:pt idx="7">
                  <c:v>0.03</c:v>
                </c:pt>
                <c:pt idx="8">
                  <c:v>0.04</c:v>
                </c:pt>
                <c:pt idx="9">
                  <c:v>0.04</c:v>
                </c:pt>
                <c:pt idx="10">
                  <c:v>0.05</c:v>
                </c:pt>
                <c:pt idx="11">
                  <c:v>0.06</c:v>
                </c:pt>
              </c:numCache>
            </c:numRef>
          </c:val>
          <c:smooth val="0"/>
        </c:ser>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EC"/>
              </a:solidFill>
              <a:prstDash val="solid"/>
              <a:round/>
            </a:ln>
          </c:spPr>
        </c:majorGridlines>
        <c:numFmt formatCode="&quot;$&quot;0.0&quot;M&quot;"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Swing in total value, Downside → Upside value of one input ($M; Base = −$1.04M)</a:t>
            </a:r>
          </a:p>
        </c:rich>
      </c:tx>
      <c:layout/>
      <c:overlay val="0"/>
    </c:title>
    <c:autoTitleDeleted val="0"/>
    <c:plotArea>
      <c:layout/>
      <c:barChart>
        <c:barDir val="bar"/>
        <c:grouping val="clustered"/>
        <c:varyColors val="0"/>
        <c:ser>
          <c:idx val="0"/>
          <c:order val="0"/>
          <c:tx>
            <c:strRef>
              <c:f>Sheet1!$B$1</c:f>
              <c:strCache>
                <c:ptCount val="1"/>
                <c:pt idx="0">
                  <c:v>Swing</c:v>
                </c:pt>
              </c:strCache>
            </c:strRef>
          </c:tx>
          <c:spPr>
            <a:solidFill>
              <a:srgbClr val="5B6B82"/>
            </a:solidFill>
            <a:effectLst/>
          </c:spPr>
          <c:invertIfNegative val="0"/>
          <c:dLbls>
            <c:numFmt formatCode="&quot;$&quot;0.00&quot;M&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Sheet1!$A$2:$A$11</c:f>
              <c:multiLvlStrCache>
                <c:ptCount val="10"/>
                <c:lvl>
                  <c:pt idx="0">
                    <c:v>Net revenue retention</c:v>
                  </c:pt>
                  <c:pt idx="1">
                    <c:v>Inbound lead rate</c:v>
                  </c:pt>
                  <c:pt idx="2">
                    <c:v>Outbound meeting rate</c:v>
                  </c:pt>
                  <c:pt idx="3">
                    <c:v>Wave timing</c:v>
                  </c:pt>
                  <c:pt idx="4">
                    <c:v>Partner network</c:v>
                  </c:pt>
                  <c:pt idx="5">
                    <c:v>Qualification rates</c:v>
                  </c:pt>
                  <c:pt idx="6">
                    <c:v>SQL → opportunity</c:v>
                  </c:pt>
                  <c:pt idx="7">
                    <c:v>Gross margin</c:v>
                  </c:pt>
                  <c:pt idx="8">
                    <c:v>Win rate</c:v>
                  </c:pt>
                  <c:pt idx="9">
                    <c:v>Usage intensity (ACV)</c:v>
                  </c:pt>
                </c:lvl>
              </c:multiLvlStrCache>
            </c:multiLvlStrRef>
          </c:cat>
          <c:val>
            <c:numRef>
              <c:f>Sheet1!$B$2:$B$11</c:f>
              <c:numCache>
                <c:formatCode>General</c:formatCode>
                <c:ptCount val="10"/>
                <c:pt idx="0">
                  <c:v>0.42</c:v>
                </c:pt>
                <c:pt idx="1">
                  <c:v>0.5</c:v>
                </c:pt>
                <c:pt idx="2">
                  <c:v>0.5</c:v>
                </c:pt>
                <c:pt idx="3">
                  <c:v>0.57</c:v>
                </c:pt>
                <c:pt idx="4">
                  <c:v>0.62</c:v>
                </c:pt>
                <c:pt idx="5">
                  <c:v>0.64</c:v>
                </c:pt>
                <c:pt idx="6">
                  <c:v>0.68</c:v>
                </c:pt>
                <c:pt idx="7">
                  <c:v>0.69</c:v>
                </c:pt>
                <c:pt idx="8">
                  <c:v>0.82</c:v>
                </c:pt>
                <c:pt idx="9">
                  <c:v>1.31</c:v>
                </c:pt>
              </c:numCache>
            </c:numRef>
          </c:val>
        </c:ser>
        <c:dLbls>
          <c:numFmt formatCode="&quot;$&quot;0.00&quot;M&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Industrial distribution (NAICS 4235–4238): from establishments to the pilot's market</a:t>
            </a:r>
          </a:p>
        </c:rich>
      </c:tx>
      <c:layout/>
      <c:overlay val="0"/>
    </c:title>
    <c:autoTitleDeleted val="0"/>
    <c:plotArea>
      <c:layout/>
      <c:barChart>
        <c:barDir val="col"/>
        <c:grouping val="clustered"/>
        <c:varyColors val="0"/>
        <c:ser>
          <c:idx val="0"/>
          <c:order val="0"/>
          <c:tx>
            <c:strRef>
              <c:f>Sheet1!$B$1</c:f>
              <c:strCache>
                <c:ptCount val="1"/>
                <c:pt idx="0">
                  <c:v>Distribution buyer universe</c:v>
                </c:pt>
              </c:strCache>
            </c:strRef>
          </c:tx>
          <c:spPr>
            <a:solidFill>
              <a:srgbClr val="A9B4C2"/>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A9B4C2"/>
              </a:solidFill>
              <a:effectLst/>
            </c:spPr>
          </c:dPt>
          <c:dPt>
            <c:idx val="1"/>
            <c:invertIfNegative val="0"/>
            <c:bubble3D val="0"/>
            <c:spPr>
              <a:solidFill>
                <a:srgbClr val="A9B4C2"/>
              </a:solidFill>
              <a:effectLst/>
            </c:spPr>
          </c:dPt>
          <c:dPt>
            <c:idx val="2"/>
            <c:invertIfNegative val="0"/>
            <c:bubble3D val="0"/>
            <c:spPr>
              <a:solidFill>
                <a:srgbClr val="5B6B82"/>
              </a:solidFill>
              <a:effectLst/>
            </c:spPr>
          </c:dPt>
          <c:dPt>
            <c:idx val="3"/>
            <c:invertIfNegative val="0"/>
            <c:bubble3D val="0"/>
            <c:spPr>
              <a:solidFill>
                <a:srgbClr val="5B6B82"/>
              </a:solidFill>
              <a:effectLst/>
            </c:spPr>
          </c:dPt>
          <c:dPt>
            <c:idx val="4"/>
            <c:invertIfNegative val="0"/>
            <c:bubble3D val="0"/>
            <c:spPr>
              <a:solidFill>
                <a:srgbClr val="B5532A"/>
              </a:solidFill>
              <a:effectLst/>
            </c:spPr>
          </c:dPt>
          <c:cat>
            <c:multiLvlStrRef>
              <c:f>Sheet1!$A$2:$A$6</c:f>
              <c:multiLvlStrCache>
                <c:ptCount val="5"/>
                <c:lvl>
                  <c:pt idx="0">
                    <c:v>Establishments, all sizes</c:v>
                  </c:pt>
                  <c:pt idx="1">
                    <c:v>Firms, all sizes</c:v>
                  </c:pt>
                  <c:pt idx="2">
                    <c:v>Unique firms, 20+ employees</c:v>
                  </c:pt>
                  <c:pt idx="3">
                    <c:v>SAM firms (Phase 1, 4235–4238)</c:v>
                  </c:pt>
                  <c:pt idx="4">
                    <c:v>Pilot SAM (Phase 4, 4236–4238)</c:v>
                  </c:pt>
                </c:lvl>
              </c:multiLvlStrCache>
            </c:multiLvlStrRef>
          </c:cat>
          <c:val>
            <c:numRef>
              <c:f>Sheet1!$B$2:$B$6</c:f>
              <c:numCache>
                <c:formatCode>General</c:formatCode>
                <c:ptCount val="5"/>
                <c:pt idx="0">
                  <c:v>102922</c:v>
                </c:pt>
                <c:pt idx="1">
                  <c:v>61863</c:v>
                </c:pt>
                <c:pt idx="2">
                  <c:v>11494</c:v>
                </c:pt>
                <c:pt idx="3">
                  <c:v>5977</c:v>
                </c:pt>
                <c:pt idx="4">
                  <c:v>5168</c:v>
                </c:pt>
              </c:numCache>
            </c:numRef>
          </c:val>
        </c:ser>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Annual value per distributor, Base ($K)</a:t>
            </a:r>
          </a:p>
        </c:rich>
      </c:tx>
      <c:layout/>
      <c:overlay val="0"/>
    </c:title>
    <c:autoTitleDeleted val="0"/>
    <c:plotArea>
      <c:layout/>
      <c:barChart>
        <c:barDir val="col"/>
        <c:grouping val="clustered"/>
        <c:varyColors val="0"/>
        <c:ser>
          <c:idx val="0"/>
          <c:order val="0"/>
          <c:tx>
            <c:strRef>
              <c:f>Sheet1!$B$1</c:f>
              <c:strCache>
                <c:ptCount val="1"/>
                <c:pt idx="0">
                  <c:v>Usage at list price</c:v>
                </c:pt>
              </c:strCache>
            </c:strRef>
          </c:tx>
          <c:spPr>
            <a:solidFill>
              <a:srgbClr val="A9B4C2"/>
            </a:solidFill>
            <a:effectLst/>
          </c:spPr>
          <c:invertIfNegative val="0"/>
          <c:dLbls>
            <c:numFmt formatCode="&quot;$&quot;0.0&quot;K&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SMB (20–99)</c:v>
                  </c:pt>
                  <c:pt idx="1">
                    <c:v>Mid-market (100–499)</c:v>
                  </c:pt>
                  <c:pt idx="2">
                    <c:v>Enterprise (500+)</c:v>
                  </c:pt>
                </c:lvl>
              </c:multiLvlStrCache>
            </c:multiLvlStrRef>
          </c:cat>
          <c:val>
            <c:numRef>
              <c:f>Sheet1!$B$2:$B$4</c:f>
              <c:numCache>
                <c:formatCode>General</c:formatCode>
                <c:ptCount val="3"/>
                <c:pt idx="0">
                  <c:v>1.95</c:v>
                </c:pt>
                <c:pt idx="1">
                  <c:v>9.77</c:v>
                </c:pt>
                <c:pt idx="2">
                  <c:v>88.25</c:v>
                </c:pt>
              </c:numCache>
            </c:numRef>
          </c:val>
        </c:ser>
        <c:ser>
          <c:idx val="1"/>
          <c:order val="1"/>
          <c:tx>
            <c:strRef>
              <c:f>Sheet1!$C$1</c:f>
              <c:strCache>
                <c:ptCount val="1"/>
                <c:pt idx="0">
                  <c:v>First-year ACV used in model</c:v>
                </c:pt>
              </c:strCache>
            </c:strRef>
          </c:tx>
          <c:spPr>
            <a:solidFill>
              <a:srgbClr val="B5532A"/>
            </a:solidFill>
            <a:effectLst/>
          </c:spPr>
          <c:invertIfNegative val="0"/>
          <c:dLbls>
            <c:numFmt formatCode="&quot;$&quot;0.0&quot;K&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SMB (20–99)</c:v>
                  </c:pt>
                  <c:pt idx="1">
                    <c:v>Mid-market (100–499)</c:v>
                  </c:pt>
                  <c:pt idx="2">
                    <c:v>Enterprise (500+)</c:v>
                  </c:pt>
                </c:lvl>
              </c:multiLvlStrCache>
            </c:multiLvlStrRef>
          </c:cat>
          <c:val>
            <c:numRef>
              <c:f>Sheet1!$C$2:$C$4</c:f>
              <c:numCache>
                <c:formatCode>General</c:formatCode>
                <c:ptCount val="3"/>
                <c:pt idx="0">
                  <c:v>5.35</c:v>
                </c:pt>
                <c:pt idx="1">
                  <c:v>9.77</c:v>
                </c:pt>
                <c:pt idx="2">
                  <c:v>61.78</c:v>
                </c:pt>
              </c:numCache>
            </c:numRef>
          </c:val>
        </c:ser>
        <c:dLbls>
          <c:numFmt formatCode="&quot;$&quot;0.0&quot;K&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decision first. Five options were evaluated against an explicit baseline (Option 0). The recommendation is Option 4: a staged, partner-led pilot in distribution, with gates that decide whether it ever becomes Option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first. Distribution wins the segment comparison and Clay has a genuine data-coverage edge there. The financial model shows the market is small at list prices, so the right commitment is an option with a hard stop, not a vertical build-out.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is the smallest pool by firm count, but its employment is dominated by sellers. That density is what makes a seat-free data and workflow tool attractive. Counts are firms, not establishments; establishments would overstate distribution by about two-thirds.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Professional services is the largest pool on size alone, which is why size cannot decide the question. Every segment's three-year ARR potential is one to two percent of Clay's estimated ARR, so this is an option-value decision, consistent with H8.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tension of the case: the segment where Clay is most differentiated is also the hardest to adopt in. That is why the prioritization had to be stress-tested on the weight given to ease of execution, and why delivery partners sit at the center of the GTM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distribution, the realistic alternative is spreadsheets plus a generic database. Clay is the only option that combines broad data with automation, and its unlimited-seat pricing beats per-seat tools for seller-dense teams. Its weakness is implementation, which shapes the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proposition leads with what generic databases cannot do, and avoids the crowded AI-copilot story where Proton.ai and ERP vendors own the order-history data. Each pillar lists the proof available today and the proof the pilot must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wins on customer need, competitive position and revenue potential, and loses on ease of execution. The ranking flips only when ease carries more than about a quarter of the weight, or when every distribution downside coincides with every professional-services upside.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element answers a constraint found earlier: Clay-run outbound answers thin demand, borrowed AEs answer the small market, partners and templates answer low builder capacity, and the ICP tilt to mid-market answers the low SMB ACV.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the key surprise of the analysis. The sales-led build produces exactly the same ARR as the lean pilot in Base, because pipeline, not closing capacity, binds. The lean pilot still does not pay back in Base within three years; it pays back in roughly a year only in Upside.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Usage intensity, which sets ACV, moves total value more than any funnel rate, so the pilot must prove ACV first. With explicit probability weights the staged pilot is positive in expectation, but only because the gate truncates the Downside and the Upside is large. If the gate cannot separate Downside from Base, the case weakens sharply.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converts the business case into decisions with thresholds. Gate 0 costs only staff time. Gate 1 thresholds sit between the model's Downside and Base paths for stopping, and at the Upside path for scaling, using several indicators because early samples will be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rtlCol="0"/>
          <a:lstStyle>
            <a:lvl1pPr algn="l" indent="0" marL="0">
              <a:buNone/>
              <a:defRPr lang="en-US" sz="2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rtlCol="0"/>
          <a:lstStyle>
            <a:lvl1pPr indent="0" marL="0">
              <a:buNone/>
              <a:defRPr lang="en-US" sz="1000" dirty="0">
                <a:solidFill>
                  <a:schemeClr val="accent2"/>
                </a:solidFill>
              </a:defRPr>
            </a:lvl1pPr>
          </a:lstStyle>
          <a:p>
            <a:pPr indent="0" marL="0">
              <a:buNone/>
            </a:pPr>
            <a:endParaRPr lang="en-US" sz="1000" dirty="0"/>
          </a:p>
        </p:txBody>
      </p:sp>
      <p:sp>
        <p:nvSpPr>
          <p:cNvPr id="4" name="Text 0"/>
          <p:cNvSpPr/>
          <p:nvPr/>
        </p:nvSpPr>
        <p:spPr>
          <a:xfrm>
            <a:off x="502920" y="6492240"/>
            <a:ext cx="10058400" cy="219456"/>
          </a:xfrm>
          <a:prstGeom prst="rect">
            <a:avLst/>
          </a:prstGeom>
          <a:noFill/>
          <a:ln/>
        </p:spPr>
        <p:txBody>
          <a:bodyPr wrap="square" lIns="0" tIns="0" rIns="0" bIns="0" rtlCol="0" anchor="ctr"/>
          <a:lstStyle/>
          <a:p>
            <a:pPr indent="0" marL="0">
              <a:buNone/>
            </a:pPr>
            <a:r>
              <a:rPr lang="en-US" sz="1000" dirty="0">
                <a:solidFill>
                  <a:schemeClr val="accent2"/>
                </a:solidFill>
              </a:rPr>
              <a:t>Independent case study · not commissioned by or affiliated with Clay Labs Inc. · scenario figures are estimates, not Clay forecasts</a:t>
            </a:r>
            <a:endParaRPr lang="en-US" sz="10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868680"/>
            <a:ext cx="10515600" cy="1371600"/>
          </a:xfrm>
          <a:prstGeom prst="rect">
            <a:avLst/>
          </a:prstGeom>
          <a:noFill/>
          <a:ln/>
        </p:spPr>
        <p:txBody>
          <a:bodyPr wrap="square" rtlCol="0"/>
          <a:lstStyle>
            <a:lvl1pPr algn="l" indent="0" marL="0">
              <a:buNone/>
              <a:defRPr lang="en-US" sz="4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02920" y="2377440"/>
            <a:ext cx="10515600" cy="548640"/>
          </a:xfrm>
          <a:prstGeom prst="rect">
            <a:avLst/>
          </a:prstGeom>
          <a:noFill/>
          <a:ln/>
        </p:spPr>
        <p:txBody>
          <a:bodyPr wrap="square" rtlCol="0"/>
          <a:lstStyle>
            <a:lvl1pPr indent="0" marL="0">
              <a:buNone/>
              <a:defRPr lang="en-US" sz="2000" dirty="0">
                <a:solidFill>
                  <a:schemeClr val="tx2"/>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194560"/>
            <a:ext cx="10515600" cy="914400"/>
          </a:xfrm>
          <a:prstGeom prst="rect">
            <a:avLst/>
          </a:prstGeom>
          <a:noFill/>
          <a:ln/>
        </p:spPr>
        <p:txBody>
          <a:bodyPr wrap="square" rtlCol="0"/>
          <a:lstStyle>
            <a:lvl1pPr algn="l" indent="0" marL="0">
              <a:buNone/>
              <a:defRPr lang="en-US" sz="4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02920" y="3291840"/>
            <a:ext cx="10515600" cy="2194560"/>
          </a:xfrm>
          <a:prstGeom prst="rect">
            <a:avLst/>
          </a:prstGeom>
          <a:noFill/>
          <a:ln/>
        </p:spPr>
        <p:txBody>
          <a:bodyPr wrap="square" rtlCol="0"/>
          <a:lstStyle>
            <a:lvl1pPr indent="0" marL="0">
              <a:buNone/>
              <a:defRPr lang="en-US" sz="1600" dirty="0">
                <a:solidFill>
                  <a:schemeClr val="tx2"/>
                </a:solidFill>
              </a:defRPr>
            </a:lvl1pPr>
          </a:lstStyle>
          <a:p>
            <a:pPr indent="0" marL="0">
              <a:buNone/>
            </a:pPr>
            <a:endParaRPr lang="en-US" sz="1600" dirty="0"/>
          </a:p>
        </p:txBody>
      </p:sp>
      <p:sp>
        <p:nvSpPr>
          <p:cNvPr id="4" name="Text 0"/>
          <p:cNvSpPr/>
          <p:nvPr/>
        </p:nvSpPr>
        <p:spPr>
          <a:xfrm>
            <a:off x="502920" y="6492240"/>
            <a:ext cx="10058400" cy="219456"/>
          </a:xfrm>
          <a:prstGeom prst="rect">
            <a:avLst/>
          </a:prstGeom>
          <a:noFill/>
          <a:ln/>
        </p:spPr>
        <p:txBody>
          <a:bodyPr wrap="square" lIns="0" tIns="0" rIns="0" bIns="0" rtlCol="0" anchor="ctr"/>
          <a:lstStyle/>
          <a:p>
            <a:pPr indent="0" marL="0">
              <a:buNone/>
            </a:pPr>
            <a:r>
              <a:rPr lang="en-US" sz="1000" dirty="0">
                <a:solidFill>
                  <a:schemeClr val="accent2"/>
                </a:solidFill>
              </a:rPr>
              <a:t>Independent case study · not commissioned by or affiliated with Clay Labs Inc. · scenario figures are estimates, not Clay forecasts</a:t>
            </a:r>
            <a:endParaRPr lang="en-US" sz="10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02920" y="868680"/>
            <a:ext cx="10515600" cy="1371600"/>
          </a:xfrm>
          <a:prstGeom prst="rect">
            <a:avLst/>
          </a:prstGeom>
          <a:noFill/>
          <a:ln/>
        </p:spPr>
        <p:txBody>
          <a:bodyPr wrap="square" lIns="0" tIns="0" rIns="0" bIns="0" rtlCol="0" anchor="b"/>
          <a:lstStyle/>
          <a:p>
            <a:pPr algn="l" indent="0" marL="0">
              <a:buNone/>
            </a:pPr>
            <a:r>
              <a:rPr lang="en-US" sz="4000" b="1" dirty="0">
                <a:solidFill>
                  <a:schemeClr val="tx1"/>
                </a:solidFill>
                <a:latin typeface="Cambria" pitchFamily="34" charset="0"/>
                <a:ea typeface="Cambria" pitchFamily="34" charset="-122"/>
                <a:cs typeface="Cambria" pitchFamily="34" charset="-120"/>
              </a:rPr>
              <a:t>Should Clay go deeper into U.S. industrial distribution?</a:t>
            </a:r>
            <a:endParaRPr lang="en-US" sz="4000" dirty="0"/>
          </a:p>
        </p:txBody>
      </p:sp>
      <p:sp>
        <p:nvSpPr>
          <p:cNvPr id="3" name="Text 0"/>
          <p:cNvSpPr/>
          <p:nvPr>
            <p:ph idx="101" type="body" hasCustomPrompt="1"/>
          </p:nvPr>
        </p:nvSpPr>
        <p:spPr>
          <a:xfrm>
            <a:off x="502920" y="2377440"/>
            <a:ext cx="10515600" cy="548640"/>
          </a:xfrm>
          <a:prstGeom prst="rect">
            <a:avLst/>
          </a:prstGeom>
          <a:noFill/>
          <a:ln/>
        </p:spPr>
        <p:txBody>
          <a:bodyPr wrap="square" lIns="0" tIns="0" rIns="0" bIns="0" rtlCol="0" anchor="t"/>
          <a:lstStyle/>
          <a:p>
            <a:pPr indent="0" marL="0">
              <a:buNone/>
            </a:pPr>
            <a:r>
              <a:rPr lang="en-US" sz="2000" dirty="0">
                <a:solidFill>
                  <a:schemeClr val="tx2"/>
                </a:solidFill>
              </a:rPr>
              <a:t>U.S. vertical expansion and go-to-market strategy, 2027–2029</a:t>
            </a:r>
            <a:endParaRPr lang="en-US" sz="2000" dirty="0"/>
          </a:p>
        </p:txBody>
      </p:sp>
      <p:sp>
        <p:nvSpPr>
          <p:cNvPr id="4" name="text-1"/>
          <p:cNvSpPr txBox="1"/>
          <p:nvPr/>
        </p:nvSpPr>
        <p:spPr>
          <a:xfrm>
            <a:off x="502920" y="3246120"/>
            <a:ext cx="10515600" cy="365760"/>
          </a:xfrm>
          <a:prstGeom prst="rect">
            <a:avLst/>
          </a:prstGeom>
          <a:noFill/>
          <a:ln/>
        </p:spPr>
        <p:txBody>
          <a:bodyPr wrap="square" lIns="0" tIns="0" rIns="0" bIns="0" rtlCol="0" anchor="t"/>
          <a:lstStyle/>
          <a:p>
            <a:pPr indent="0" marL="0">
              <a:buNone/>
            </a:pPr>
            <a:r>
              <a:rPr lang="en-US" sz="1600" b="1" dirty="0">
                <a:solidFill>
                  <a:schemeClr val="tx1"/>
                </a:solidFill>
              </a:rPr>
              <a:t>The decision: where should Clay place incremental vertical GTM investment, and through which motion?</a:t>
            </a:r>
            <a:endParaRPr lang="en-US" sz="1600" dirty="0"/>
          </a:p>
        </p:txBody>
      </p:sp>
      <p:sp>
        <p:nvSpPr>
          <p:cNvPr id="5" name="card-2"/>
          <p:cNvSpPr/>
          <p:nvPr/>
        </p:nvSpPr>
        <p:spPr>
          <a:xfrm>
            <a:off x="502920" y="3794760"/>
            <a:ext cx="2103120" cy="1325880"/>
          </a:xfrm>
          <a:prstGeom prst="roundRect">
            <a:avLst>
              <a:gd name="adj" fmla="val 4138"/>
            </a:avLst>
          </a:prstGeom>
          <a:solidFill>
            <a:schemeClr val="bg2"/>
          </a:solidFill>
          <a:ln/>
        </p:spPr>
      </p:sp>
      <p:sp>
        <p:nvSpPr>
          <p:cNvPr id="6" name="text-3"/>
          <p:cNvSpPr txBox="1"/>
          <p:nvPr/>
        </p:nvSpPr>
        <p:spPr>
          <a:xfrm>
            <a:off x="640080" y="3904488"/>
            <a:ext cx="1828800" cy="274320"/>
          </a:xfrm>
          <a:prstGeom prst="rect">
            <a:avLst/>
          </a:prstGeom>
          <a:noFill/>
          <a:ln/>
        </p:spPr>
        <p:txBody>
          <a:bodyPr wrap="square" lIns="0" tIns="0" rIns="0" bIns="0" rtlCol="0" anchor="t"/>
          <a:lstStyle/>
          <a:p>
            <a:pPr indent="0" marL="0">
              <a:buNone/>
            </a:pPr>
            <a:r>
              <a:rPr lang="en-US" sz="1200" b="1" dirty="0">
                <a:solidFill>
                  <a:schemeClr val="accent2"/>
                </a:solidFill>
              </a:rPr>
              <a:t>Option 0</a:t>
            </a:r>
            <a:endParaRPr lang="en-US" sz="1200" dirty="0"/>
          </a:p>
        </p:txBody>
      </p:sp>
      <p:sp>
        <p:nvSpPr>
          <p:cNvPr id="7" name="text-4"/>
          <p:cNvSpPr txBox="1"/>
          <p:nvPr/>
        </p:nvSpPr>
        <p:spPr>
          <a:xfrm>
            <a:off x="640080" y="4206240"/>
            <a:ext cx="1828800" cy="822960"/>
          </a:xfrm>
          <a:prstGeom prst="rect">
            <a:avLst/>
          </a:prstGeom>
          <a:noFill/>
          <a:ln/>
        </p:spPr>
        <p:txBody>
          <a:bodyPr wrap="square" lIns="0" tIns="0" rIns="0" bIns="0" rtlCol="0" anchor="t"/>
          <a:lstStyle/>
          <a:p>
            <a:pPr indent="0" marL="0">
              <a:buNone/>
            </a:pPr>
            <a:r>
              <a:rPr lang="en-US" sz="1400" dirty="0">
                <a:solidFill>
                  <a:schemeClr val="tx1"/>
                </a:solidFill>
              </a:rPr>
              <a:t>No vertical bet — stay horizontal</a:t>
            </a:r>
            <a:endParaRPr lang="en-US" sz="1400" dirty="0"/>
          </a:p>
        </p:txBody>
      </p:sp>
      <p:sp>
        <p:nvSpPr>
          <p:cNvPr id="8" name="card-5"/>
          <p:cNvSpPr/>
          <p:nvPr/>
        </p:nvSpPr>
        <p:spPr>
          <a:xfrm>
            <a:off x="2770632" y="3794760"/>
            <a:ext cx="2103120" cy="1325880"/>
          </a:xfrm>
          <a:prstGeom prst="roundRect">
            <a:avLst>
              <a:gd name="adj" fmla="val 4138"/>
            </a:avLst>
          </a:prstGeom>
          <a:solidFill>
            <a:schemeClr val="bg2"/>
          </a:solidFill>
          <a:ln/>
        </p:spPr>
      </p:sp>
      <p:sp>
        <p:nvSpPr>
          <p:cNvPr id="9" name="text-6"/>
          <p:cNvSpPr txBox="1"/>
          <p:nvPr/>
        </p:nvSpPr>
        <p:spPr>
          <a:xfrm>
            <a:off x="2907792" y="3904488"/>
            <a:ext cx="1828800" cy="274320"/>
          </a:xfrm>
          <a:prstGeom prst="rect">
            <a:avLst/>
          </a:prstGeom>
          <a:noFill/>
          <a:ln/>
        </p:spPr>
        <p:txBody>
          <a:bodyPr wrap="square" lIns="0" tIns="0" rIns="0" bIns="0" rtlCol="0" anchor="t"/>
          <a:lstStyle/>
          <a:p>
            <a:pPr indent="0" marL="0">
              <a:buNone/>
            </a:pPr>
            <a:r>
              <a:rPr lang="en-US" sz="1200" b="1" dirty="0">
                <a:solidFill>
                  <a:schemeClr val="accent2"/>
                </a:solidFill>
              </a:rPr>
              <a:t>Option 1</a:t>
            </a:r>
            <a:endParaRPr lang="en-US" sz="1200" dirty="0"/>
          </a:p>
        </p:txBody>
      </p:sp>
      <p:sp>
        <p:nvSpPr>
          <p:cNvPr id="10" name="text-7"/>
          <p:cNvSpPr txBox="1"/>
          <p:nvPr/>
        </p:nvSpPr>
        <p:spPr>
          <a:xfrm>
            <a:off x="2907792" y="4206240"/>
            <a:ext cx="1828800" cy="822960"/>
          </a:xfrm>
          <a:prstGeom prst="rect">
            <a:avLst/>
          </a:prstGeom>
          <a:noFill/>
          <a:ln/>
        </p:spPr>
        <p:txBody>
          <a:bodyPr wrap="square" lIns="0" tIns="0" rIns="0" bIns="0" rtlCol="0" anchor="t"/>
          <a:lstStyle/>
          <a:p>
            <a:pPr indent="0" marL="0">
              <a:buNone/>
            </a:pPr>
            <a:r>
              <a:rPr lang="en-US" sz="1400" dirty="0">
                <a:solidFill>
                  <a:schemeClr val="tx1"/>
                </a:solidFill>
              </a:rPr>
              <a:t>Industrial distribution — full sales-led commitment</a:t>
            </a:r>
            <a:endParaRPr lang="en-US" sz="1400" dirty="0"/>
          </a:p>
        </p:txBody>
      </p:sp>
      <p:sp>
        <p:nvSpPr>
          <p:cNvPr id="11" name="card-8"/>
          <p:cNvSpPr/>
          <p:nvPr/>
        </p:nvSpPr>
        <p:spPr>
          <a:xfrm>
            <a:off x="5038344" y="3794760"/>
            <a:ext cx="2103120" cy="1325880"/>
          </a:xfrm>
          <a:prstGeom prst="roundRect">
            <a:avLst>
              <a:gd name="adj" fmla="val 4138"/>
            </a:avLst>
          </a:prstGeom>
          <a:solidFill>
            <a:schemeClr val="bg2"/>
          </a:solidFill>
          <a:ln/>
        </p:spPr>
      </p:sp>
      <p:sp>
        <p:nvSpPr>
          <p:cNvPr id="12" name="text-9"/>
          <p:cNvSpPr txBox="1"/>
          <p:nvPr/>
        </p:nvSpPr>
        <p:spPr>
          <a:xfrm>
            <a:off x="5175504" y="3904488"/>
            <a:ext cx="1828800" cy="274320"/>
          </a:xfrm>
          <a:prstGeom prst="rect">
            <a:avLst/>
          </a:prstGeom>
          <a:noFill/>
          <a:ln/>
        </p:spPr>
        <p:txBody>
          <a:bodyPr wrap="square" lIns="0" tIns="0" rIns="0" bIns="0" rtlCol="0" anchor="t"/>
          <a:lstStyle/>
          <a:p>
            <a:pPr indent="0" marL="0">
              <a:buNone/>
            </a:pPr>
            <a:r>
              <a:rPr lang="en-US" sz="1200" b="1" dirty="0">
                <a:solidFill>
                  <a:schemeClr val="accent2"/>
                </a:solidFill>
              </a:rPr>
              <a:t>Option 2</a:t>
            </a:r>
            <a:endParaRPr lang="en-US" sz="1200" dirty="0"/>
          </a:p>
        </p:txBody>
      </p:sp>
      <p:sp>
        <p:nvSpPr>
          <p:cNvPr id="13" name="text-10"/>
          <p:cNvSpPr txBox="1"/>
          <p:nvPr/>
        </p:nvSpPr>
        <p:spPr>
          <a:xfrm>
            <a:off x="5175504" y="4206240"/>
            <a:ext cx="1828800" cy="822960"/>
          </a:xfrm>
          <a:prstGeom prst="rect">
            <a:avLst/>
          </a:prstGeom>
          <a:noFill/>
          <a:ln/>
        </p:spPr>
        <p:txBody>
          <a:bodyPr wrap="square" lIns="0" tIns="0" rIns="0" bIns="0" rtlCol="0" anchor="t"/>
          <a:lstStyle/>
          <a:p>
            <a:pPr indent="0" marL="0">
              <a:buNone/>
            </a:pPr>
            <a:r>
              <a:rPr lang="en-US" sz="1400" dirty="0">
                <a:solidFill>
                  <a:schemeClr val="tx1"/>
                </a:solidFill>
              </a:rPr>
              <a:t>Manufacturing focus</a:t>
            </a:r>
            <a:endParaRPr lang="en-US" sz="1400" dirty="0"/>
          </a:p>
        </p:txBody>
      </p:sp>
      <p:sp>
        <p:nvSpPr>
          <p:cNvPr id="14" name="card-11"/>
          <p:cNvSpPr/>
          <p:nvPr/>
        </p:nvSpPr>
        <p:spPr>
          <a:xfrm>
            <a:off x="7306056" y="3794760"/>
            <a:ext cx="2103120" cy="1325880"/>
          </a:xfrm>
          <a:prstGeom prst="roundRect">
            <a:avLst>
              <a:gd name="adj" fmla="val 4138"/>
            </a:avLst>
          </a:prstGeom>
          <a:solidFill>
            <a:schemeClr val="bg2"/>
          </a:solidFill>
          <a:ln/>
        </p:spPr>
      </p:sp>
      <p:sp>
        <p:nvSpPr>
          <p:cNvPr id="15" name="text-12"/>
          <p:cNvSpPr txBox="1"/>
          <p:nvPr/>
        </p:nvSpPr>
        <p:spPr>
          <a:xfrm>
            <a:off x="7443216" y="3904488"/>
            <a:ext cx="1828800" cy="274320"/>
          </a:xfrm>
          <a:prstGeom prst="rect">
            <a:avLst/>
          </a:prstGeom>
          <a:noFill/>
          <a:ln/>
        </p:spPr>
        <p:txBody>
          <a:bodyPr wrap="square" lIns="0" tIns="0" rIns="0" bIns="0" rtlCol="0" anchor="t"/>
          <a:lstStyle/>
          <a:p>
            <a:pPr indent="0" marL="0">
              <a:buNone/>
            </a:pPr>
            <a:r>
              <a:rPr lang="en-US" sz="1200" b="1" dirty="0">
                <a:solidFill>
                  <a:schemeClr val="accent2"/>
                </a:solidFill>
              </a:rPr>
              <a:t>Option 3</a:t>
            </a:r>
            <a:endParaRPr lang="en-US" sz="1200" dirty="0"/>
          </a:p>
        </p:txBody>
      </p:sp>
      <p:sp>
        <p:nvSpPr>
          <p:cNvPr id="16" name="text-13"/>
          <p:cNvSpPr txBox="1"/>
          <p:nvPr/>
        </p:nvSpPr>
        <p:spPr>
          <a:xfrm>
            <a:off x="7443216" y="4206240"/>
            <a:ext cx="1828800" cy="822960"/>
          </a:xfrm>
          <a:prstGeom prst="rect">
            <a:avLst/>
          </a:prstGeom>
          <a:noFill/>
          <a:ln/>
        </p:spPr>
        <p:txBody>
          <a:bodyPr wrap="square" lIns="0" tIns="0" rIns="0" bIns="0" rtlCol="0" anchor="t"/>
          <a:lstStyle/>
          <a:p>
            <a:pPr indent="0" marL="0">
              <a:buNone/>
            </a:pPr>
            <a:r>
              <a:rPr lang="en-US" sz="1400" dirty="0">
                <a:solidFill>
                  <a:schemeClr val="tx1"/>
                </a:solidFill>
              </a:rPr>
              <a:t>Professional services focus</a:t>
            </a:r>
            <a:endParaRPr lang="en-US" sz="1400" dirty="0"/>
          </a:p>
        </p:txBody>
      </p:sp>
      <p:sp>
        <p:nvSpPr>
          <p:cNvPr id="17" name="card-14"/>
          <p:cNvSpPr/>
          <p:nvPr/>
        </p:nvSpPr>
        <p:spPr>
          <a:xfrm>
            <a:off x="9573768" y="3794760"/>
            <a:ext cx="2103120" cy="1325880"/>
          </a:xfrm>
          <a:prstGeom prst="roundRect">
            <a:avLst>
              <a:gd name="adj" fmla="val 4138"/>
            </a:avLst>
          </a:prstGeom>
          <a:solidFill>
            <a:schemeClr val="accent1"/>
          </a:solidFill>
          <a:ln/>
        </p:spPr>
      </p:sp>
      <p:sp>
        <p:nvSpPr>
          <p:cNvPr id="18" name="text-15"/>
          <p:cNvSpPr txBox="1"/>
          <p:nvPr/>
        </p:nvSpPr>
        <p:spPr>
          <a:xfrm>
            <a:off x="9710928" y="3904488"/>
            <a:ext cx="1828800" cy="274320"/>
          </a:xfrm>
          <a:prstGeom prst="rect">
            <a:avLst/>
          </a:prstGeom>
          <a:noFill/>
          <a:ln/>
        </p:spPr>
        <p:txBody>
          <a:bodyPr wrap="square" lIns="0" tIns="0" rIns="0" bIns="0" rtlCol="0" anchor="t"/>
          <a:lstStyle/>
          <a:p>
            <a:pPr indent="0" marL="0">
              <a:buNone/>
            </a:pPr>
            <a:r>
              <a:rPr lang="en-US" sz="1200" b="1" dirty="0">
                <a:solidFill>
                  <a:schemeClr val="bg1"/>
                </a:solidFill>
              </a:rPr>
              <a:t>Option 4</a:t>
            </a:r>
            <a:endParaRPr lang="en-US" sz="1200" dirty="0"/>
          </a:p>
        </p:txBody>
      </p:sp>
      <p:sp>
        <p:nvSpPr>
          <p:cNvPr id="19" name="text-16"/>
          <p:cNvSpPr txBox="1"/>
          <p:nvPr/>
        </p:nvSpPr>
        <p:spPr>
          <a:xfrm>
            <a:off x="9710928" y="4206240"/>
            <a:ext cx="1828800" cy="822960"/>
          </a:xfrm>
          <a:prstGeom prst="rect">
            <a:avLst/>
          </a:prstGeom>
          <a:noFill/>
          <a:ln/>
        </p:spPr>
        <p:txBody>
          <a:bodyPr wrap="square" lIns="0" tIns="0" rIns="0" bIns="0" rtlCol="0" anchor="t"/>
          <a:lstStyle/>
          <a:p>
            <a:pPr indent="0" marL="0">
              <a:buNone/>
            </a:pPr>
            <a:r>
              <a:rPr lang="en-US" sz="1400" b="1" dirty="0">
                <a:solidFill>
                  <a:schemeClr val="bg1"/>
                </a:solidFill>
              </a:rPr>
              <a:t>Staged, partner-led distribution pilot with Go/No-Go gates</a:t>
            </a:r>
            <a:endParaRPr lang="en-US" sz="1400" dirty="0"/>
          </a:p>
        </p:txBody>
      </p:sp>
      <p:sp>
        <p:nvSpPr>
          <p:cNvPr id="20" name="text-17"/>
          <p:cNvSpPr txBox="1"/>
          <p:nvPr/>
        </p:nvSpPr>
        <p:spPr>
          <a:xfrm>
            <a:off x="9573768" y="5193792"/>
            <a:ext cx="2103120" cy="274320"/>
          </a:xfrm>
          <a:prstGeom prst="rect">
            <a:avLst/>
          </a:prstGeom>
          <a:noFill/>
          <a:ln/>
        </p:spPr>
        <p:txBody>
          <a:bodyPr wrap="square" lIns="0" tIns="0" rIns="0" bIns="0" rtlCol="0" anchor="t"/>
          <a:lstStyle/>
          <a:p>
            <a:pPr indent="0" marL="0">
              <a:buNone/>
            </a:pPr>
            <a:r>
              <a:rPr lang="en-US" sz="1200" b="1" dirty="0">
                <a:solidFill>
                  <a:schemeClr val="accent1"/>
                </a:solidFill>
              </a:rPr>
              <a:t>Recommended</a:t>
            </a:r>
            <a:endParaRPr lang="en-US" sz="1200" dirty="0"/>
          </a:p>
        </p:txBody>
      </p:sp>
      <p:sp>
        <p:nvSpPr>
          <p:cNvPr id="21" name="text-18"/>
          <p:cNvSpPr txBox="1"/>
          <p:nvPr/>
        </p:nvSpPr>
        <p:spPr>
          <a:xfrm>
            <a:off x="502920" y="5760720"/>
            <a:ext cx="10515600" cy="274320"/>
          </a:xfrm>
          <a:prstGeom prst="rect">
            <a:avLst/>
          </a:prstGeom>
          <a:noFill/>
          <a:ln/>
        </p:spPr>
        <p:txBody>
          <a:bodyPr wrap="square" lIns="0" tIns="0" rIns="0" bIns="0" rtlCol="0" anchor="t"/>
          <a:lstStyle/>
          <a:p>
            <a:pPr indent="0" marL="0">
              <a:buNone/>
            </a:pPr>
            <a:r>
              <a:rPr lang="en-US" sz="1400" dirty="0">
                <a:solidFill>
                  <a:schemeClr val="tx2"/>
                </a:solidFill>
              </a:rPr>
              <a:t>Independent strategy case study · Zhuoran (Zora) Wang · October 2026</a:t>
            </a:r>
            <a:endParaRPr lang="en-US" sz="1400" dirty="0"/>
          </a:p>
        </p:txBody>
      </p:sp>
      <p:sp>
        <p:nvSpPr>
          <p:cNvPr id="22" name="text-19"/>
          <p:cNvSpPr txBox="1"/>
          <p:nvPr/>
        </p:nvSpPr>
        <p:spPr>
          <a:xfrm>
            <a:off x="502920" y="6108192"/>
            <a:ext cx="10515600" cy="457200"/>
          </a:xfrm>
          <a:prstGeom prst="rect">
            <a:avLst/>
          </a:prstGeom>
          <a:noFill/>
          <a:ln/>
        </p:spPr>
        <p:txBody>
          <a:bodyPr wrap="square" lIns="0" tIns="0" rIns="0" bIns="0" rtlCol="0" anchor="t"/>
          <a:lstStyle/>
          <a:p>
            <a:pPr indent="0" marL="0">
              <a:buNone/>
            </a:pPr>
            <a:r>
              <a:rPr lang="en-US" sz="1000" dirty="0">
                <a:solidFill>
                  <a:schemeClr val="accent2"/>
                </a:solidFill>
              </a:rPr>
              <a:t>Not commissioned by, affiliated with, or endorsed by Clay Labs Inc. Built entirely from public data; no interviews or internal Clay data were used. All forward-looking figures are scenario estimates, not Clay forecasts.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Recommendation: test industrial distribution through a capped, gated pilot — not a vertical sales build</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06_Segment_Prioritization; 07_Financial_Model (scenario estimates [C/D], not Clay forecasts); Census 2022 Economic Census (S14); BLS OEWS May 2025 (S15).</a:t>
            </a:r>
            <a:endParaRPr lang="en-US" sz="1000" dirty="0"/>
          </a:p>
        </p:txBody>
      </p:sp>
      <p:sp>
        <p:nvSpPr>
          <p:cNvPr id="4" name="num-20"/>
          <p:cNvSpPr/>
          <p:nvPr/>
        </p:nvSpPr>
        <p:spPr>
          <a:xfrm>
            <a:off x="502920" y="1371600"/>
            <a:ext cx="420624" cy="420624"/>
          </a:xfrm>
          <a:prstGeom prst="ellipse">
            <a:avLst/>
          </a:prstGeom>
          <a:solidFill>
            <a:schemeClr val="tx1"/>
          </a:solidFill>
          <a:ln/>
        </p:spPr>
      </p:sp>
      <p:sp>
        <p:nvSpPr>
          <p:cNvPr id="5" name="text-21"/>
          <p:cNvSpPr txBox="1"/>
          <p:nvPr/>
        </p:nvSpPr>
        <p:spPr>
          <a:xfrm>
            <a:off x="502920" y="13716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22"/>
          <p:cNvSpPr txBox="1"/>
          <p:nvPr/>
        </p:nvSpPr>
        <p:spPr>
          <a:xfrm>
            <a:off x="1143000" y="1353312"/>
            <a:ext cx="6583680" cy="320040"/>
          </a:xfrm>
          <a:prstGeom prst="rect">
            <a:avLst/>
          </a:prstGeom>
          <a:noFill/>
          <a:ln/>
        </p:spPr>
        <p:txBody>
          <a:bodyPr wrap="square" lIns="0" tIns="0" rIns="0" bIns="0" rtlCol="0" anchor="t"/>
          <a:lstStyle/>
          <a:p>
            <a:pPr indent="0" marL="0">
              <a:buNone/>
            </a:pPr>
            <a:r>
              <a:rPr lang="en-US" sz="1600" b="1" dirty="0">
                <a:solidFill>
                  <a:schemeClr val="tx1"/>
                </a:solidFill>
              </a:rPr>
              <a:t>Distribution is the right place to test</a:t>
            </a:r>
            <a:endParaRPr lang="en-US" sz="1600" dirty="0"/>
          </a:p>
        </p:txBody>
      </p:sp>
      <p:sp>
        <p:nvSpPr>
          <p:cNvPr id="7" name="text-23"/>
          <p:cNvSpPr txBox="1"/>
          <p:nvPr/>
        </p:nvSpPr>
        <p:spPr>
          <a:xfrm>
            <a:off x="1143000" y="1700784"/>
            <a:ext cx="6583680" cy="731520"/>
          </a:xfrm>
          <a:prstGeom prst="rect">
            <a:avLst/>
          </a:prstGeom>
          <a:noFill/>
          <a:ln/>
        </p:spPr>
        <p:txBody>
          <a:bodyPr wrap="square" lIns="0" tIns="0" rIns="0" bIns="0" rtlCol="0" anchor="t"/>
          <a:lstStyle/>
          <a:p>
            <a:pPr indent="0" marL="0">
              <a:buNone/>
            </a:pPr>
            <a:r>
              <a:rPr lang="en-US" sz="1400" dirty="0">
                <a:solidFill>
                  <a:schemeClr val="tx2"/>
                </a:solidFill>
              </a:rPr>
              <a:t>Weighted score 3.97 vs 3.41 (professional services) and 2.70 (manufacturing); first in 5 of 6 weight sets and 11 of 12 stress tests.</a:t>
            </a:r>
            <a:endParaRPr lang="en-US" sz="1400" dirty="0"/>
          </a:p>
        </p:txBody>
      </p:sp>
      <p:sp>
        <p:nvSpPr>
          <p:cNvPr id="8" name="num-24"/>
          <p:cNvSpPr/>
          <p:nvPr/>
        </p:nvSpPr>
        <p:spPr>
          <a:xfrm>
            <a:off x="502920" y="2532888"/>
            <a:ext cx="420624" cy="420624"/>
          </a:xfrm>
          <a:prstGeom prst="ellipse">
            <a:avLst/>
          </a:prstGeom>
          <a:solidFill>
            <a:schemeClr val="tx1"/>
          </a:solidFill>
          <a:ln/>
        </p:spPr>
      </p:sp>
      <p:sp>
        <p:nvSpPr>
          <p:cNvPr id="9" name="text-25"/>
          <p:cNvSpPr txBox="1"/>
          <p:nvPr/>
        </p:nvSpPr>
        <p:spPr>
          <a:xfrm>
            <a:off x="502920" y="253288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26"/>
          <p:cNvSpPr txBox="1"/>
          <p:nvPr/>
        </p:nvSpPr>
        <p:spPr>
          <a:xfrm>
            <a:off x="1143000" y="2514600"/>
            <a:ext cx="6583680" cy="320040"/>
          </a:xfrm>
          <a:prstGeom prst="rect">
            <a:avLst/>
          </a:prstGeom>
          <a:noFill/>
          <a:ln/>
        </p:spPr>
        <p:txBody>
          <a:bodyPr wrap="square" lIns="0" tIns="0" rIns="0" bIns="0" rtlCol="0" anchor="t"/>
          <a:lstStyle/>
          <a:p>
            <a:pPr indent="0" marL="0">
              <a:buNone/>
            </a:pPr>
            <a:r>
              <a:rPr lang="en-US" sz="1600" b="1" dirty="0">
                <a:solidFill>
                  <a:schemeClr val="tx1"/>
                </a:solidFill>
              </a:rPr>
              <a:t>Clay has a real edge there</a:t>
            </a:r>
            <a:endParaRPr lang="en-US" sz="1600" dirty="0"/>
          </a:p>
        </p:txBody>
      </p:sp>
      <p:sp>
        <p:nvSpPr>
          <p:cNvPr id="11" name="text-27"/>
          <p:cNvSpPr txBox="1"/>
          <p:nvPr/>
        </p:nvSpPr>
        <p:spPr>
          <a:xfrm>
            <a:off x="1143000" y="2862072"/>
            <a:ext cx="6583680" cy="731520"/>
          </a:xfrm>
          <a:prstGeom prst="rect">
            <a:avLst/>
          </a:prstGeom>
          <a:noFill/>
          <a:ln/>
        </p:spPr>
        <p:txBody>
          <a:bodyPr wrap="square" lIns="0" tIns="0" rIns="0" bIns="0" rtlCol="0" anchor="t"/>
          <a:lstStyle/>
          <a:p>
            <a:pPr indent="0" marL="0">
              <a:buNone/>
            </a:pPr>
            <a:r>
              <a:rPr lang="en-US" sz="1400" dirty="0">
                <a:solidFill>
                  <a:schemeClr val="tx2"/>
                </a:solidFill>
              </a:rPr>
              <a:t>Distributors' customers are hard to find in standard databases (est. 26% LinkedIn presence vs 42% for professional services), and 22% of distribution staff are in sales.</a:t>
            </a:r>
            <a:endParaRPr lang="en-US" sz="1400" dirty="0"/>
          </a:p>
        </p:txBody>
      </p:sp>
      <p:sp>
        <p:nvSpPr>
          <p:cNvPr id="12" name="num-28"/>
          <p:cNvSpPr/>
          <p:nvPr/>
        </p:nvSpPr>
        <p:spPr>
          <a:xfrm>
            <a:off x="502920" y="3694176"/>
            <a:ext cx="420624" cy="420624"/>
          </a:xfrm>
          <a:prstGeom prst="ellipse">
            <a:avLst/>
          </a:prstGeom>
          <a:solidFill>
            <a:schemeClr val="tx1"/>
          </a:solidFill>
          <a:ln/>
        </p:spPr>
      </p:sp>
      <p:sp>
        <p:nvSpPr>
          <p:cNvPr id="13" name="text-29"/>
          <p:cNvSpPr txBox="1"/>
          <p:nvPr/>
        </p:nvSpPr>
        <p:spPr>
          <a:xfrm>
            <a:off x="502920" y="369417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30"/>
          <p:cNvSpPr txBox="1"/>
          <p:nvPr/>
        </p:nvSpPr>
        <p:spPr>
          <a:xfrm>
            <a:off x="1143000" y="3675888"/>
            <a:ext cx="6583680" cy="320040"/>
          </a:xfrm>
          <a:prstGeom prst="rect">
            <a:avLst/>
          </a:prstGeom>
          <a:noFill/>
          <a:ln/>
        </p:spPr>
        <p:txBody>
          <a:bodyPr wrap="square" lIns="0" tIns="0" rIns="0" bIns="0" rtlCol="0" anchor="t"/>
          <a:lstStyle/>
          <a:p>
            <a:pPr indent="0" marL="0">
              <a:buNone/>
            </a:pPr>
            <a:r>
              <a:rPr lang="en-US" sz="1600" b="1" dirty="0">
                <a:solidFill>
                  <a:schemeClr val="tx1"/>
                </a:solidFill>
              </a:rPr>
              <a:t>But the prize is small at list prices</a:t>
            </a:r>
            <a:endParaRPr lang="en-US" sz="1600" dirty="0"/>
          </a:p>
        </p:txBody>
      </p:sp>
      <p:sp>
        <p:nvSpPr>
          <p:cNvPr id="15" name="text-31"/>
          <p:cNvSpPr txBox="1"/>
          <p:nvPr/>
        </p:nvSpPr>
        <p:spPr>
          <a:xfrm>
            <a:off x="1143000" y="4023360"/>
            <a:ext cx="6583680" cy="731520"/>
          </a:xfrm>
          <a:prstGeom prst="rect">
            <a:avLst/>
          </a:prstGeom>
          <a:noFill/>
          <a:ln/>
        </p:spPr>
        <p:txBody>
          <a:bodyPr wrap="square" lIns="0" tIns="0" rIns="0" bIns="0" rtlCol="0" anchor="t"/>
          <a:lstStyle/>
          <a:p>
            <a:pPr indent="0" marL="0">
              <a:buNone/>
            </a:pPr>
            <a:r>
              <a:rPr lang="en-US" sz="1400" dirty="0">
                <a:solidFill>
                  <a:schemeClr val="tx2"/>
                </a:solidFill>
              </a:rPr>
              <a:t>~5,200 serviceable firms; usage-based ACV ≈ $5.4K (SMB) and $9.8K (mid-market). Base case: $0.86M ARR by 2029, 37-month payback, −$2.7M cumulative.</a:t>
            </a:r>
            <a:endParaRPr lang="en-US" sz="1400" dirty="0"/>
          </a:p>
        </p:txBody>
      </p:sp>
      <p:sp>
        <p:nvSpPr>
          <p:cNvPr id="16" name="num-32"/>
          <p:cNvSpPr/>
          <p:nvPr/>
        </p:nvSpPr>
        <p:spPr>
          <a:xfrm>
            <a:off x="502920" y="4855464"/>
            <a:ext cx="420624" cy="420624"/>
          </a:xfrm>
          <a:prstGeom prst="ellipse">
            <a:avLst/>
          </a:prstGeom>
          <a:solidFill>
            <a:schemeClr val="tx1"/>
          </a:solidFill>
          <a:ln/>
        </p:spPr>
      </p:sp>
      <p:sp>
        <p:nvSpPr>
          <p:cNvPr id="17" name="text-33"/>
          <p:cNvSpPr txBox="1"/>
          <p:nvPr/>
        </p:nvSpPr>
        <p:spPr>
          <a:xfrm>
            <a:off x="502920" y="485546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34"/>
          <p:cNvSpPr txBox="1"/>
          <p:nvPr/>
        </p:nvSpPr>
        <p:spPr>
          <a:xfrm>
            <a:off x="1143000" y="4837176"/>
            <a:ext cx="6583680" cy="320040"/>
          </a:xfrm>
          <a:prstGeom prst="rect">
            <a:avLst/>
          </a:prstGeom>
          <a:noFill/>
          <a:ln/>
        </p:spPr>
        <p:txBody>
          <a:bodyPr wrap="square" lIns="0" tIns="0" rIns="0" bIns="0" rtlCol="0" anchor="t"/>
          <a:lstStyle/>
          <a:p>
            <a:pPr indent="0" marL="0">
              <a:buNone/>
            </a:pPr>
            <a:r>
              <a:rPr lang="en-US" sz="1600" b="1" dirty="0">
                <a:solidFill>
                  <a:schemeClr val="tx1"/>
                </a:solidFill>
              </a:rPr>
              <a:t>So buy an option, not a program</a:t>
            </a:r>
            <a:endParaRPr lang="en-US" sz="1600" dirty="0"/>
          </a:p>
        </p:txBody>
      </p:sp>
      <p:sp>
        <p:nvSpPr>
          <p:cNvPr id="19" name="text-35"/>
          <p:cNvSpPr txBox="1"/>
          <p:nvPr/>
        </p:nvSpPr>
        <p:spPr>
          <a:xfrm>
            <a:off x="1143000" y="5184648"/>
            <a:ext cx="6583680" cy="731520"/>
          </a:xfrm>
          <a:prstGeom prst="rect">
            <a:avLst/>
          </a:prstGeom>
          <a:noFill/>
          <a:ln/>
        </p:spPr>
        <p:txBody>
          <a:bodyPr wrap="square" lIns="0" tIns="0" rIns="0" bIns="0" rtlCol="0" anchor="t"/>
          <a:lstStyle/>
          <a:p>
            <a:pPr indent="0" marL="0">
              <a:buNone/>
            </a:pPr>
            <a:r>
              <a:rPr lang="en-US" sz="1400" dirty="0">
                <a:solidFill>
                  <a:schemeClr val="tx2"/>
                </a:solidFill>
              </a:rPr>
              <a:t>A dedicated sales team adds ~$4.5M of cost and no ARR. The lean pilot reaches $6.0M ARR and 12-month payback in Upside, and stops at a ~$1.0M loss in Downside.</a:t>
            </a:r>
            <a:endParaRPr lang="en-US" sz="1400" dirty="0"/>
          </a:p>
        </p:txBody>
      </p:sp>
      <p:sp>
        <p:nvSpPr>
          <p:cNvPr id="20" name="panel-36"/>
          <p:cNvSpPr/>
          <p:nvPr/>
        </p:nvSpPr>
        <p:spPr>
          <a:xfrm>
            <a:off x="8001000" y="1325880"/>
            <a:ext cx="3685032" cy="4617720"/>
          </a:xfrm>
          <a:prstGeom prst="rect">
            <a:avLst/>
          </a:prstGeom>
          <a:solidFill>
            <a:schemeClr val="accent1">
              <a:alpha val="9000"/>
            </a:schemeClr>
          </a:solidFill>
          <a:ln/>
        </p:spPr>
      </p:sp>
      <p:sp>
        <p:nvSpPr>
          <p:cNvPr id="21" name="text-37"/>
          <p:cNvSpPr txBox="1"/>
          <p:nvPr/>
        </p:nvSpPr>
        <p:spPr>
          <a:xfrm>
            <a:off x="8229600" y="1481328"/>
            <a:ext cx="3291840" cy="320040"/>
          </a:xfrm>
          <a:prstGeom prst="rect">
            <a:avLst/>
          </a:prstGeom>
          <a:noFill/>
          <a:ln/>
        </p:spPr>
        <p:txBody>
          <a:bodyPr wrap="square" lIns="0" tIns="0" rIns="0" bIns="0" rtlCol="0" anchor="t"/>
          <a:lstStyle/>
          <a:p>
            <a:pPr indent="0" marL="0">
              <a:buNone/>
            </a:pPr>
            <a:r>
              <a:rPr lang="en-US" sz="1600" b="1" dirty="0">
                <a:solidFill>
                  <a:schemeClr val="accent1"/>
                </a:solidFill>
              </a:rPr>
              <a:t>What we recommend</a:t>
            </a:r>
            <a:endParaRPr lang="en-US" sz="1600" dirty="0"/>
          </a:p>
        </p:txBody>
      </p:sp>
      <p:sp>
        <p:nvSpPr>
          <p:cNvPr id="22" name="text-38"/>
          <p:cNvSpPr txBox="1"/>
          <p:nvPr/>
        </p:nvSpPr>
        <p:spPr>
          <a:xfrm>
            <a:off x="8229600" y="1920240"/>
            <a:ext cx="32918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Jan 2027</a:t>
            </a:r>
            <a:endParaRPr lang="en-US" sz="2200" dirty="0"/>
          </a:p>
        </p:txBody>
      </p:sp>
      <p:sp>
        <p:nvSpPr>
          <p:cNvPr id="23" name="text-39"/>
          <p:cNvSpPr txBox="1"/>
          <p:nvPr/>
        </p:nvSpPr>
        <p:spPr>
          <a:xfrm>
            <a:off x="8229600" y="2395728"/>
            <a:ext cx="3291840" cy="457200"/>
          </a:xfrm>
          <a:prstGeom prst="rect">
            <a:avLst/>
          </a:prstGeom>
          <a:noFill/>
          <a:ln/>
        </p:spPr>
        <p:txBody>
          <a:bodyPr wrap="square" lIns="0" tIns="0" rIns="0" bIns="0" rtlCol="0" anchor="t"/>
          <a:lstStyle/>
          <a:p>
            <a:pPr indent="0" marL="0">
              <a:buNone/>
            </a:pPr>
            <a:r>
              <a:rPr lang="en-US" sz="1200" dirty="0">
                <a:solidFill>
                  <a:schemeClr val="tx2"/>
                </a:solidFill>
              </a:rPr>
              <a:t>Gate 0: prove coverage and willingness to pay before any build spend</a:t>
            </a:r>
            <a:endParaRPr lang="en-US" sz="1200" dirty="0"/>
          </a:p>
        </p:txBody>
      </p:sp>
      <p:sp>
        <p:nvSpPr>
          <p:cNvPr id="24" name="text-40"/>
          <p:cNvSpPr txBox="1"/>
          <p:nvPr/>
        </p:nvSpPr>
        <p:spPr>
          <a:xfrm>
            <a:off x="8229600" y="2907792"/>
            <a:ext cx="32918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$1.1M</a:t>
            </a:r>
            <a:endParaRPr lang="en-US" sz="2200" dirty="0"/>
          </a:p>
        </p:txBody>
      </p:sp>
      <p:sp>
        <p:nvSpPr>
          <p:cNvPr id="25" name="text-41"/>
          <p:cNvSpPr txBox="1"/>
          <p:nvPr/>
        </p:nvSpPr>
        <p:spPr>
          <a:xfrm>
            <a:off x="8229600" y="3383280"/>
            <a:ext cx="3291840" cy="457200"/>
          </a:xfrm>
          <a:prstGeom prst="rect">
            <a:avLst/>
          </a:prstGeom>
          <a:noFill/>
          <a:ln/>
        </p:spPr>
        <p:txBody>
          <a:bodyPr wrap="square" lIns="0" tIns="0" rIns="0" bIns="0" rtlCol="0" anchor="t"/>
          <a:lstStyle/>
          <a:p>
            <a:pPr indent="0" marL="0">
              <a:buNone/>
            </a:pPr>
            <a:r>
              <a:rPr lang="en-US" sz="1200" dirty="0">
                <a:solidFill>
                  <a:schemeClr val="tx2"/>
                </a:solidFill>
              </a:rPr>
              <a:t>2027 budget cap, released quarterly</a:t>
            </a:r>
            <a:endParaRPr lang="en-US" sz="1200" dirty="0"/>
          </a:p>
        </p:txBody>
      </p:sp>
      <p:sp>
        <p:nvSpPr>
          <p:cNvPr id="26" name="text-42"/>
          <p:cNvSpPr txBox="1"/>
          <p:nvPr/>
        </p:nvSpPr>
        <p:spPr>
          <a:xfrm>
            <a:off x="8229600" y="3895344"/>
            <a:ext cx="32918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~$1.0M</a:t>
            </a:r>
            <a:endParaRPr lang="en-US" sz="2200" dirty="0"/>
          </a:p>
        </p:txBody>
      </p:sp>
      <p:sp>
        <p:nvSpPr>
          <p:cNvPr id="27" name="text-43"/>
          <p:cNvSpPr txBox="1"/>
          <p:nvPr/>
        </p:nvSpPr>
        <p:spPr>
          <a:xfrm>
            <a:off x="8229600" y="4370832"/>
            <a:ext cx="3291840" cy="457200"/>
          </a:xfrm>
          <a:prstGeom prst="rect">
            <a:avLst/>
          </a:prstGeom>
          <a:noFill/>
          <a:ln/>
        </p:spPr>
        <p:txBody>
          <a:bodyPr wrap="square" lIns="0" tIns="0" rIns="0" bIns="0" rtlCol="0" anchor="t"/>
          <a:lstStyle/>
          <a:p>
            <a:pPr indent="0" marL="0">
              <a:buNone/>
            </a:pPr>
            <a:r>
              <a:rPr lang="en-US" sz="1200" dirty="0">
                <a:solidFill>
                  <a:schemeClr val="tx2"/>
                </a:solidFill>
              </a:rPr>
              <a:t>maximum Downside loss, by stopping at the Q4 2027 gate</a:t>
            </a:r>
            <a:endParaRPr lang="en-US" sz="1200" dirty="0"/>
          </a:p>
        </p:txBody>
      </p:sp>
      <p:sp>
        <p:nvSpPr>
          <p:cNvPr id="28" name="text-44"/>
          <p:cNvSpPr txBox="1"/>
          <p:nvPr/>
        </p:nvSpPr>
        <p:spPr>
          <a:xfrm>
            <a:off x="8229600" y="4882896"/>
            <a:ext cx="32918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$16K+ ACV</a:t>
            </a:r>
            <a:endParaRPr lang="en-US" sz="2200" dirty="0"/>
          </a:p>
        </p:txBody>
      </p:sp>
      <p:sp>
        <p:nvSpPr>
          <p:cNvPr id="29" name="text-45"/>
          <p:cNvSpPr txBox="1"/>
          <p:nvPr/>
        </p:nvSpPr>
        <p:spPr>
          <a:xfrm>
            <a:off x="8229600" y="5358384"/>
            <a:ext cx="3291840" cy="457200"/>
          </a:xfrm>
          <a:prstGeom prst="rect">
            <a:avLst/>
          </a:prstGeom>
          <a:noFill/>
          <a:ln/>
        </p:spPr>
        <p:txBody>
          <a:bodyPr wrap="square" lIns="0" tIns="0" rIns="0" bIns="0" rtlCol="0" anchor="t"/>
          <a:lstStyle/>
          <a:p>
            <a:pPr indent="0" marL="0">
              <a:buNone/>
            </a:pPr>
            <a:r>
              <a:rPr lang="en-US" sz="1200" dirty="0">
                <a:solidFill>
                  <a:schemeClr val="tx2"/>
                </a:solidFill>
              </a:rPr>
              <a:t>and 32%+ win rate: the evidence needed to scale (Gate 1)</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Distribution has the fewest firms but by far the most sellers per firm</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U.S. Census Bureau, 2022 Economic Census, Employment Size of Firms (S14) — firms, not establishments, de-duplicated [C]; BLS OEWS May 2025 (S15). Cores: NAICS 4235–4238 · 326/332/333/335 · 5413/5415/5416/5418.</a:t>
            </a:r>
            <a:endParaRPr lang="en-US" sz="1000" dirty="0"/>
          </a:p>
        </p:txBody>
      </p:sp>
      <p:graphicFrame>
        <p:nvGraphicFramePr>
          <p:cNvPr id="4" name="chart-46" descr=""/>
          <p:cNvGraphicFramePr/>
          <p:nvPr/>
        </p:nvGraphicFramePr>
        <p:xfrm>
          <a:off x="502920" y="1325880"/>
          <a:ext cx="361188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47" descr=""/>
          <p:cNvGraphicFramePr/>
          <p:nvPr/>
        </p:nvGraphicFramePr>
        <p:xfrm>
          <a:off x="4297680" y="1325880"/>
          <a:ext cx="3611880" cy="342900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48" descr=""/>
          <p:cNvGraphicFramePr/>
          <p:nvPr/>
        </p:nvGraphicFramePr>
        <p:xfrm>
          <a:off x="8092440" y="1325880"/>
          <a:ext cx="3611880" cy="3429000"/>
        </p:xfrm>
        <a:graphic xmlns:a="http://schemas.openxmlformats.org/drawingml/2006/main">
          <a:graphicData uri="http://schemas.openxmlformats.org/drawingml/2006/chart">
            <c:chart xmlns:c="http://schemas.openxmlformats.org/drawingml/2006/chart" r:id="rId3"/>
          </a:graphicData>
        </a:graphic>
      </p:graphicFrame>
      <p:sp>
        <p:nvSpPr>
          <p:cNvPr id="7" name="panel-49"/>
          <p:cNvSpPr/>
          <p:nvPr/>
        </p:nvSpPr>
        <p:spPr>
          <a:xfrm>
            <a:off x="502920" y="4983480"/>
            <a:ext cx="11183112" cy="914400"/>
          </a:xfrm>
          <a:prstGeom prst="rect">
            <a:avLst/>
          </a:prstGeom>
          <a:solidFill>
            <a:schemeClr val="accent1">
              <a:alpha val="9000"/>
            </a:schemeClr>
          </a:solidFill>
          <a:ln/>
        </p:spPr>
      </p:sp>
      <p:sp>
        <p:nvSpPr>
          <p:cNvPr id="8" name="text-50"/>
          <p:cNvSpPr txBox="1"/>
          <p:nvPr/>
        </p:nvSpPr>
        <p:spPr>
          <a:xfrm>
            <a:off x="731520" y="5093208"/>
            <a:ext cx="10725912" cy="731520"/>
          </a:xfrm>
          <a:prstGeom prst="rect">
            <a:avLst/>
          </a:prstGeom>
          <a:noFill/>
          <a:ln/>
        </p:spPr>
        <p:txBody>
          <a:bodyPr wrap="square" lIns="0" tIns="0" rIns="0" bIns="0" rtlCol="0" anchor="t"/>
          <a:lstStyle/>
          <a:p>
            <a:pPr indent="0" marL="0">
              <a:buNone/>
            </a:pPr>
            <a:r>
              <a:rPr lang="en-US" sz="1400" b="1" dirty="0">
                <a:solidFill>
                  <a:schemeClr val="accent1"/>
                </a:solidFill>
              </a:rPr>
              <a:t>So what  </a:t>
            </a:r>
            <a:pPr indent="0" marL="0">
              <a:buNone/>
            </a:pPr>
            <a:r>
              <a:rPr lang="en-US" sz="1400" dirty="0">
                <a:solidFill>
                  <a:schemeClr val="tx1"/>
                </a:solidFill>
              </a:rPr>
              <a:t>Distribution trades market breadth for need intensity: an in-scope distributor employs ~28 sales staff, ~3× a professional-services firm and ~8× a manufacturer. Tools priced per seat charge for every one of them; Clay's plans do not. Hypothesis H2 (distribution has the larger mid-market pool) is rejected.</a:t>
            </a:r>
            <a:endParaRPr lang="en-US" sz="14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Sized bottom-up, each vertical is an incremental option worth ~1–2% of Clay's ARR — not a pivot</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Census 2022 (S14); Clay pricing (S01); Vendr (S16); DSG 2022 CRM survey (S17). Clay ARR ~$200M is a Sacra estimate (S23), not company-confirmed. Uniform ACV and penetration across segments by design [C/D].</a:t>
            </a:r>
            <a:endParaRPr lang="en-US" sz="1000" dirty="0"/>
          </a:p>
        </p:txBody>
      </p:sp>
      <p:graphicFrame>
        <p:nvGraphicFramePr>
          <p:cNvPr id="4" name="chart-51" descr=""/>
          <p:cNvGraphicFramePr/>
          <p:nvPr/>
        </p:nvGraphicFramePr>
        <p:xfrm>
          <a:off x="502920" y="1325880"/>
          <a:ext cx="630936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52"/>
          <p:cNvGraphicFramePr>
            <a:graphicFrameLocks noGrp="1"/>
          </p:cNvGraphicFramePr>
          <p:nvPr>
            <p:extLst>
              <p:ext uri="{D42A27DB-BD31-4B8C-83A1-F6EECF244321}">
                <p14:modId xmlns:p14="http://schemas.microsoft.com/office/powerpoint/2010/main" val="1579011935"/>
              </p:ext>
            </p:extLst>
          </p:nvPr>
        </p:nvGraphicFramePr>
        <p:xfrm>
          <a:off x="7132320" y="1371600"/>
          <a:ext cx="4553712" cy="914400"/>
        </p:xfrm>
        <a:graphic>
          <a:graphicData uri="http://schemas.openxmlformats.org/drawingml/2006/table">
            <a:tbl>
              <a:tblPr/>
              <a:tblGrid>
                <a:gridCol w="1920240"/>
                <a:gridCol w="1316736"/>
                <a:gridCol w="1316736"/>
              </a:tblGrid>
              <a:tr h="347472">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Segment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SOM: year-3 ARR</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 of Clay est. ARR</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347472">
                <a:tc>
                  <a:txBody>
                    <a:bodyPr/>
                    <a:lstStyle/>
                    <a:p>
                      <a:pPr indent="0" marL="0">
                        <a:buNone/>
                      </a:pPr>
                      <a:r>
                        <a:rPr lang="en-US" sz="1200" b="1" dirty="0">
                          <a:solidFill>
                            <a:srgbClr val="1B2433"/>
                          </a:solidFill>
                          <a:latin typeface="Arial" pitchFamily="34" charset="0"/>
                          <a:ea typeface="Arial" pitchFamily="34" charset="-122"/>
                          <a:cs typeface="Arial" pitchFamily="34" charset="-120"/>
                        </a:rPr>
                        <a:t>Distribution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$1.9M</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0.9%</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47472">
                <a:tc>
                  <a:txBody>
                    <a:bodyPr/>
                    <a:lstStyle/>
                    <a:p>
                      <a:pPr indent="0" marL="0">
                        <a:buNone/>
                      </a:pPr>
                      <a:r>
                        <a:rPr lang="en-US" sz="1200" dirty="0">
                          <a:solidFill>
                            <a:srgbClr val="1B2433"/>
                          </a:solidFill>
                          <a:latin typeface="Arial" pitchFamily="34" charset="0"/>
                          <a:ea typeface="Arial" pitchFamily="34" charset="-122"/>
                          <a:cs typeface="Arial" pitchFamily="34" charset="-120"/>
                        </a:rPr>
                        <a:t>Manufacturing</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$2.1M</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47472">
                <a:tc>
                  <a:txBody>
                    <a:bodyPr/>
                    <a:lstStyle/>
                    <a:p>
                      <a:pPr indent="0" marL="0">
                        <a:buNone/>
                      </a:pPr>
                      <a:r>
                        <a:rPr lang="en-US" sz="1200" dirty="0">
                          <a:solidFill>
                            <a:srgbClr val="1B2433"/>
                          </a:solidFill>
                          <a:latin typeface="Arial" pitchFamily="34" charset="0"/>
                          <a:ea typeface="Arial" pitchFamily="34" charset="-122"/>
                          <a:cs typeface="Arial" pitchFamily="34" charset="-120"/>
                        </a:rPr>
                        <a:t>Professional services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$4.2M</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6" name="text-53"/>
          <p:cNvSpPr txBox="1"/>
          <p:nvPr/>
        </p:nvSpPr>
        <p:spPr>
          <a:xfrm>
            <a:off x="7132320" y="2880360"/>
            <a:ext cx="4553712" cy="457200"/>
          </a:xfrm>
          <a:prstGeom prst="rect">
            <a:avLst/>
          </a:prstGeom>
          <a:noFill/>
          <a:ln/>
        </p:spPr>
        <p:txBody>
          <a:bodyPr wrap="square" lIns="0" tIns="0" rIns="0" bIns="0" rtlCol="0" anchor="t"/>
          <a:lstStyle/>
          <a:p>
            <a:pPr indent="0" marL="0">
              <a:buNone/>
            </a:pPr>
            <a:r>
              <a:rPr lang="en-US" sz="1200" dirty="0">
                <a:solidFill>
                  <a:schemeClr val="tx2"/>
                </a:solidFill>
              </a:rPr>
              <a:t>Even the compounded High case stays at or below ~12% of Clay's estimated ARR.</a:t>
            </a:r>
            <a:endParaRPr lang="en-US" sz="1200" dirty="0"/>
          </a:p>
        </p:txBody>
      </p:sp>
      <p:sp>
        <p:nvSpPr>
          <p:cNvPr id="7" name="panel-54"/>
          <p:cNvSpPr/>
          <p:nvPr/>
        </p:nvSpPr>
        <p:spPr>
          <a:xfrm>
            <a:off x="7132320" y="3429000"/>
            <a:ext cx="4553712" cy="1737360"/>
          </a:xfrm>
          <a:prstGeom prst="rect">
            <a:avLst/>
          </a:prstGeom>
          <a:solidFill>
            <a:schemeClr val="bg2"/>
          </a:solidFill>
          <a:ln/>
        </p:spPr>
      </p:sp>
      <p:sp>
        <p:nvSpPr>
          <p:cNvPr id="8" name="text-55"/>
          <p:cNvSpPr txBox="1"/>
          <p:nvPr/>
        </p:nvSpPr>
        <p:spPr>
          <a:xfrm>
            <a:off x="7296912" y="3520440"/>
            <a:ext cx="4251960" cy="160020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rPr>
              <a:t>TAM  </a:t>
            </a:r>
            <a:pPr indent="0" marL="0">
              <a:spcAft>
                <a:spcPts val="400"/>
              </a:spcAft>
              <a:buNone/>
            </a:pPr>
            <a:r>
              <a:rPr lang="en-US" sz="1200" dirty="0">
                <a:solidFill>
                  <a:schemeClr val="tx1"/>
                </a:solidFill>
              </a:rPr>
              <a:t>unique firms with 20+ employees × size-band ACV</a:t>
            </a:r>
            <a:endParaRPr lang="en-US" sz="1200" dirty="0"/>
          </a:p>
          <a:p>
            <a:pPr indent="0" marL="0">
              <a:spcAft>
                <a:spcPts val="400"/>
              </a:spcAft>
              <a:buNone/>
            </a:pPr>
            <a:r>
              <a:rPr lang="en-US" sz="1200" b="1" dirty="0">
                <a:solidFill>
                  <a:schemeClr val="tx1"/>
                </a:solidFill>
              </a:rPr>
              <a:t>SAM  </a:t>
            </a:r>
            <a:pPr indent="0" marL="0">
              <a:spcAft>
                <a:spcPts val="400"/>
              </a:spcAft>
              <a:buNone/>
            </a:pPr>
            <a:r>
              <a:rPr lang="en-US" sz="1200" dirty="0">
                <a:solidFill>
                  <a:schemeClr val="tx1"/>
                </a:solidFill>
              </a:rPr>
              <a:t>TAM firms with an outbound/territory sales motion and a CRM Clay can integrate today</a:t>
            </a:r>
            <a:endParaRPr lang="en-US" sz="1200" dirty="0"/>
          </a:p>
          <a:p>
            <a:pPr indent="0" marL="0">
              <a:spcAft>
                <a:spcPts val="400"/>
              </a:spcAft>
              <a:buNone/>
            </a:pPr>
            <a:r>
              <a:rPr lang="en-US" sz="1200" b="1" dirty="0">
                <a:solidFill>
                  <a:schemeClr val="tx1"/>
                </a:solidFill>
              </a:rPr>
              <a:t>SOM  </a:t>
            </a:r>
            <a:pPr indent="0" marL="0">
              <a:spcAft>
                <a:spcPts val="400"/>
              </a:spcAft>
              <a:buNone/>
            </a:pPr>
            <a:r>
              <a:rPr lang="en-US" sz="1200" dirty="0">
                <a:solidFill>
                  <a:schemeClr val="tx1"/>
                </a:solidFill>
              </a:rPr>
              <a:t>year-3 ARR at uniform fair-share penetration (1.5–6% of SAM firms by size band)</a:t>
            </a:r>
            <a:endParaRPr lang="en-US" sz="1200" dirty="0"/>
          </a:p>
        </p:txBody>
      </p:sp>
      <p:sp>
        <p:nvSpPr>
          <p:cNvPr id="9" name="panel-56"/>
          <p:cNvSpPr/>
          <p:nvPr/>
        </p:nvSpPr>
        <p:spPr>
          <a:xfrm>
            <a:off x="502920" y="5349240"/>
            <a:ext cx="11183112" cy="548640"/>
          </a:xfrm>
          <a:prstGeom prst="rect">
            <a:avLst/>
          </a:prstGeom>
          <a:solidFill>
            <a:schemeClr val="accent1">
              <a:alpha val="9000"/>
            </a:schemeClr>
          </a:solidFill>
          <a:ln/>
        </p:spPr>
      </p:sp>
      <p:sp>
        <p:nvSpPr>
          <p:cNvPr id="10" name="text-57"/>
          <p:cNvSpPr txBox="1"/>
          <p:nvPr/>
        </p:nvSpPr>
        <p:spPr>
          <a:xfrm>
            <a:off x="731520" y="5468112"/>
            <a:ext cx="10725912" cy="365760"/>
          </a:xfrm>
          <a:prstGeom prst="rect">
            <a:avLst/>
          </a:prstGeom>
          <a:noFill/>
          <a:ln/>
        </p:spPr>
        <p:txBody>
          <a:bodyPr wrap="square" lIns="0" tIns="0" rIns="0" bIns="0" rtlCol="0" anchor="t"/>
          <a:lstStyle/>
          <a:p>
            <a:pPr indent="0" marL="0">
              <a:buNone/>
            </a:pPr>
            <a:r>
              <a:rPr lang="en-US" sz="1400" b="1" dirty="0">
                <a:solidFill>
                  <a:schemeClr val="accent1"/>
                </a:solidFill>
              </a:rPr>
              <a:t>Refined in Phase 4  </a:t>
            </a:r>
            <a:pPr indent="0" marL="0">
              <a:buNone/>
            </a:pPr>
            <a:r>
              <a:rPr lang="en-US" sz="1400" dirty="0">
                <a:solidFill>
                  <a:schemeClr val="tx1"/>
                </a:solidFill>
              </a:rPr>
              <a:t>The pilot's serviceable market (NAICS 4236–4238, excluding metals and existing Clay customers) is ~5,170 firms.</a:t>
            </a:r>
            <a:endParaRPr lang="en-US" sz="14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Clay's edge is largest where adoption is hardest: distributors' customers are least visible online and their teams least technical</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BLS OEWS May 2025 (S15); persona coverage = BLS education mix (S29) × Pew LinkedIn use by education (S28), an indirect proxy [C]; scores (1–5) from 04_Competitive_Analysis [C].</a:t>
            </a:r>
            <a:endParaRPr lang="en-US" sz="1000" dirty="0"/>
          </a:p>
        </p:txBody>
      </p:sp>
      <p:graphicFrame>
        <p:nvGraphicFramePr>
          <p:cNvPr id="6" name="table-58"/>
          <p:cNvGraphicFramePr>
            <a:graphicFrameLocks noGrp="1"/>
          </p:cNvGraphicFramePr>
          <p:nvPr>
            <p:extLst>
              <p:ext uri="{D42A27DB-BD31-4B8C-83A1-F6EECF244321}">
                <p14:modId xmlns:p14="http://schemas.microsoft.com/office/powerpoint/2010/main" val="1579011935"/>
              </p:ext>
            </p:extLst>
          </p:nvPr>
        </p:nvGraphicFramePr>
        <p:xfrm>
          <a:off x="502920" y="1371600"/>
          <a:ext cx="7726680" cy="914400"/>
        </p:xfrm>
        <a:graphic>
          <a:graphicData uri="http://schemas.openxmlformats.org/drawingml/2006/table">
            <a:tbl>
              <a:tblPr/>
              <a:tblGrid>
                <a:gridCol w="3611880"/>
                <a:gridCol w="1463040"/>
                <a:gridCol w="1325880"/>
                <a:gridCol w="1325880"/>
              </a:tblGrid>
              <a:tr h="56692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Indicator</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Distribution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Manufacturing</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Prof. services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566928">
                <a:tc>
                  <a:txBody>
                    <a:bodyPr/>
                    <a:lstStyle/>
                    <a:p>
                      <a:pPr indent="0" marL="0">
                        <a:buNone/>
                      </a:pPr>
                      <a:r>
                        <a:rPr lang="en-US" sz="1200" dirty="0">
                          <a:solidFill>
                            <a:srgbClr val="1B2433"/>
                          </a:solidFill>
                          <a:latin typeface="Arial" pitchFamily="34" charset="0"/>
                          <a:ea typeface="Arial" pitchFamily="34" charset="-122"/>
                          <a:cs typeface="Arial" pitchFamily="34" charset="-120"/>
                        </a:rPr>
                        <a:t>Need: sales occupations, % of employment (all industries 8.6%)</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22.0%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6.2%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200" dirty="0">
                          <a:solidFill>
                            <a:srgbClr val="1B2433"/>
                          </a:solidFill>
                          <a:latin typeface="Arial" pitchFamily="34" charset="0"/>
                          <a:ea typeface="Arial" pitchFamily="34" charset="-122"/>
                          <a:cs typeface="Arial" pitchFamily="34" charset="-120"/>
                        </a:rPr>
                        <a:t>Data gap: est. LinkedIn presence of customers' personas (lower = harder for databases)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26% (contractors 20%)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42%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200" dirty="0">
                          <a:solidFill>
                            <a:srgbClr val="1B2433"/>
                          </a:solidFill>
                          <a:latin typeface="Arial" pitchFamily="34" charset="0"/>
                          <a:ea typeface="Arial" pitchFamily="34" charset="-122"/>
                          <a:cs typeface="Arial" pitchFamily="34" charset="-120"/>
                        </a:rPr>
                        <a:t>Competitive position (1–5)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3.3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r>
              <a:tr h="566928">
                <a:tc>
                  <a:txBody>
                    <a:bodyPr/>
                    <a:lstStyle/>
                    <a:p>
                      <a:pPr indent="0" marL="0">
                        <a:buNone/>
                      </a:pPr>
                      <a:r>
                        <a:rPr lang="en-US" sz="1200" dirty="0">
                          <a:solidFill>
                            <a:srgbClr val="1B2433"/>
                          </a:solidFill>
                          <a:latin typeface="Arial" pitchFamily="34" charset="0"/>
                          <a:ea typeface="Arial" pitchFamily="34" charset="-122"/>
                          <a:cs typeface="Arial" pitchFamily="34" charset="-120"/>
                        </a:rPr>
                        <a:t>Builder capacity: computer occupations, % of employment (all 3.4%)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24.2%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r>
              <a:tr h="566928">
                <a:tc>
                  <a:txBody>
                    <a:bodyPr/>
                    <a:lstStyle/>
                    <a:p>
                      <a:pPr indent="0" marL="0">
                        <a:buNone/>
                      </a:pPr>
                      <a:r>
                        <a:rPr lang="en-US" sz="1200" dirty="0">
                          <a:solidFill>
                            <a:srgbClr val="1B2433"/>
                          </a:solidFill>
                          <a:latin typeface="Arial" pitchFamily="34" charset="0"/>
                          <a:ea typeface="Arial" pitchFamily="34" charset="-122"/>
                          <a:cs typeface="Arial" pitchFamily="34" charset="-120"/>
                        </a:rPr>
                        <a:t>Adoption / execution fit (1–5)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r>
              <a:tr h="566928">
                <a:tc>
                  <a:txBody>
                    <a:bodyPr/>
                    <a:lstStyle/>
                    <a:p>
                      <a:pPr indent="0" marL="0">
                        <a:buNone/>
                      </a:pPr>
                      <a:r>
                        <a:rPr lang="en-US" sz="1200" dirty="0">
                          <a:solidFill>
                            <a:srgbClr val="1B2433"/>
                          </a:solidFill>
                          <a:latin typeface="Arial" pitchFamily="34" charset="0"/>
                          <a:ea typeface="Arial" pitchFamily="34" charset="-122"/>
                          <a:cs typeface="Arial" pitchFamily="34" charset="-120"/>
                        </a:rPr>
                        <a:t>Incremental headroom for Clay (1–5)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r>
            </a:tbl>
          </a:graphicData>
        </a:graphic>
      </p:graphicFrame>
      <p:sp>
        <p:nvSpPr>
          <p:cNvPr id="5" name="text-59"/>
          <p:cNvSpPr txBox="1"/>
          <p:nvPr/>
        </p:nvSpPr>
        <p:spPr>
          <a:xfrm>
            <a:off x="502920" y="5504688"/>
            <a:ext cx="7726680" cy="274320"/>
          </a:xfrm>
          <a:prstGeom prst="rect">
            <a:avLst/>
          </a:prstGeom>
          <a:noFill/>
          <a:ln/>
        </p:spPr>
        <p:txBody>
          <a:bodyPr wrap="square" lIns="0" tIns="0" rIns="0" bIns="0" rtlCol="0" anchor="t"/>
          <a:lstStyle/>
          <a:p>
            <a:pPr indent="0" marL="0">
              <a:buNone/>
            </a:pPr>
            <a:r>
              <a:rPr lang="en-US" sz="1100" dirty="0">
                <a:solidFill>
                  <a:schemeClr val="tx2"/>
                </a:solidFill>
              </a:rPr>
              <a:t>Green = favorable for Clay · red = unfavorable</a:t>
            </a:r>
            <a:endParaRPr lang="en-US" sz="1100" dirty="0"/>
          </a:p>
        </p:txBody>
      </p:sp>
      <p:sp>
        <p:nvSpPr>
          <p:cNvPr id="6" name="panel-60"/>
          <p:cNvSpPr/>
          <p:nvPr/>
        </p:nvSpPr>
        <p:spPr>
          <a:xfrm>
            <a:off x="8503920" y="1371600"/>
            <a:ext cx="3182112" cy="4434840"/>
          </a:xfrm>
          <a:prstGeom prst="rect">
            <a:avLst/>
          </a:prstGeom>
          <a:solidFill>
            <a:schemeClr val="bg2"/>
          </a:solidFill>
          <a:ln/>
        </p:spPr>
      </p:sp>
      <p:sp>
        <p:nvSpPr>
          <p:cNvPr id="7" name="text-61"/>
          <p:cNvSpPr txBox="1"/>
          <p:nvPr/>
        </p:nvSpPr>
        <p:spPr>
          <a:xfrm>
            <a:off x="8686800" y="1554480"/>
            <a:ext cx="2834640" cy="292608"/>
          </a:xfrm>
          <a:prstGeom prst="rect">
            <a:avLst/>
          </a:prstGeom>
          <a:noFill/>
          <a:ln/>
        </p:spPr>
        <p:txBody>
          <a:bodyPr wrap="square" lIns="0" tIns="0" rIns="0" bIns="0" rtlCol="0" anchor="t"/>
          <a:lstStyle/>
          <a:p>
            <a:pPr indent="0" marL="0">
              <a:buNone/>
            </a:pPr>
            <a:r>
              <a:rPr lang="en-US" sz="1400" b="1" dirty="0">
                <a:solidFill>
                  <a:schemeClr val="accent1"/>
                </a:solidFill>
              </a:rPr>
              <a:t>Fit: distribution</a:t>
            </a:r>
            <a:endParaRPr lang="en-US" sz="1400" dirty="0"/>
          </a:p>
        </p:txBody>
      </p:sp>
      <p:sp>
        <p:nvSpPr>
          <p:cNvPr id="8" name="text-62"/>
          <p:cNvSpPr txBox="1"/>
          <p:nvPr/>
        </p:nvSpPr>
        <p:spPr>
          <a:xfrm>
            <a:off x="8686800" y="1874520"/>
            <a:ext cx="2834640" cy="960120"/>
          </a:xfrm>
          <a:prstGeom prst="rect">
            <a:avLst/>
          </a:prstGeom>
          <a:noFill/>
          <a:ln/>
        </p:spPr>
        <p:txBody>
          <a:bodyPr wrap="square" lIns="0" tIns="0" rIns="0" bIns="0" rtlCol="0" anchor="t"/>
          <a:lstStyle/>
          <a:p>
            <a:pPr indent="0" marL="0">
              <a:buNone/>
            </a:pPr>
            <a:r>
              <a:rPr lang="en-US" sz="1300" dirty="0">
                <a:solidFill>
                  <a:schemeClr val="tx2"/>
                </a:solidFill>
              </a:rPr>
              <a:t>Highest need, biggest data gap and strongest competitive position (H3 supported).</a:t>
            </a:r>
            <a:endParaRPr lang="en-US" sz="1300" dirty="0"/>
          </a:p>
        </p:txBody>
      </p:sp>
      <p:sp>
        <p:nvSpPr>
          <p:cNvPr id="9" name="text-63"/>
          <p:cNvSpPr txBox="1"/>
          <p:nvPr/>
        </p:nvSpPr>
        <p:spPr>
          <a:xfrm>
            <a:off x="8686800" y="2926080"/>
            <a:ext cx="2834640" cy="292608"/>
          </a:xfrm>
          <a:prstGeom prst="rect">
            <a:avLst/>
          </a:prstGeom>
          <a:noFill/>
          <a:ln/>
        </p:spPr>
        <p:txBody>
          <a:bodyPr wrap="square" lIns="0" tIns="0" rIns="0" bIns="0" rtlCol="0" anchor="t"/>
          <a:lstStyle/>
          <a:p>
            <a:pPr indent="0" marL="0">
              <a:buNone/>
            </a:pPr>
            <a:r>
              <a:rPr lang="en-US" sz="1400" b="1" dirty="0">
                <a:solidFill>
                  <a:schemeClr val="tx1"/>
                </a:solidFill>
              </a:rPr>
              <a:t>Ease: professional services</a:t>
            </a:r>
            <a:endParaRPr lang="en-US" sz="1400" dirty="0"/>
          </a:p>
        </p:txBody>
      </p:sp>
      <p:sp>
        <p:nvSpPr>
          <p:cNvPr id="10" name="text-64"/>
          <p:cNvSpPr txBox="1"/>
          <p:nvPr/>
        </p:nvSpPr>
        <p:spPr>
          <a:xfrm>
            <a:off x="8686800" y="3246120"/>
            <a:ext cx="2834640" cy="960120"/>
          </a:xfrm>
          <a:prstGeom prst="rect">
            <a:avLst/>
          </a:prstGeom>
          <a:noFill/>
          <a:ln/>
        </p:spPr>
        <p:txBody>
          <a:bodyPr wrap="square" lIns="0" tIns="0" rIns="0" bIns="0" rtlCol="0" anchor="t"/>
          <a:lstStyle/>
          <a:p>
            <a:pPr indent="0" marL="0">
              <a:buNone/>
            </a:pPr>
            <a:r>
              <a:rPr lang="en-US" sz="1300" dirty="0">
                <a:solidFill>
                  <a:schemeClr val="tx2"/>
                </a:solidFill>
              </a:rPr>
              <a:t>Technical buyers who can self-serve, but already a Clay home market with little headroom.</a:t>
            </a:r>
            <a:endParaRPr lang="en-US" sz="1300" dirty="0"/>
          </a:p>
        </p:txBody>
      </p:sp>
      <p:sp>
        <p:nvSpPr>
          <p:cNvPr id="11" name="text-65"/>
          <p:cNvSpPr txBox="1"/>
          <p:nvPr/>
        </p:nvSpPr>
        <p:spPr>
          <a:xfrm>
            <a:off x="8686800" y="4297680"/>
            <a:ext cx="2834640" cy="292608"/>
          </a:xfrm>
          <a:prstGeom prst="rect">
            <a:avLst/>
          </a:prstGeom>
          <a:noFill/>
          <a:ln/>
        </p:spPr>
        <p:txBody>
          <a:bodyPr wrap="square" lIns="0" tIns="0" rIns="0" bIns="0" rtlCol="0" anchor="t"/>
          <a:lstStyle/>
          <a:p>
            <a:pPr indent="0" marL="0">
              <a:buNone/>
            </a:pPr>
            <a:r>
              <a:rPr lang="en-US" sz="1400" b="1" dirty="0">
                <a:solidFill>
                  <a:schemeClr val="tx1"/>
                </a:solidFill>
              </a:rPr>
              <a:t>Manufacturing</a:t>
            </a:r>
            <a:endParaRPr lang="en-US" sz="1400" dirty="0"/>
          </a:p>
        </p:txBody>
      </p:sp>
      <p:sp>
        <p:nvSpPr>
          <p:cNvPr id="12" name="text-66"/>
          <p:cNvSpPr txBox="1"/>
          <p:nvPr/>
        </p:nvSpPr>
        <p:spPr>
          <a:xfrm>
            <a:off x="8686800" y="4617720"/>
            <a:ext cx="2834640" cy="960120"/>
          </a:xfrm>
          <a:prstGeom prst="rect">
            <a:avLst/>
          </a:prstGeom>
          <a:noFill/>
          <a:ln/>
        </p:spPr>
        <p:txBody>
          <a:bodyPr wrap="square" lIns="0" tIns="0" rIns="0" bIns="0" rtlCol="0" anchor="t"/>
          <a:lstStyle/>
          <a:p>
            <a:pPr indent="0" marL="0">
              <a:buNone/>
            </a:pPr>
            <a:r>
              <a:rPr lang="en-US" sz="1300" dirty="0">
                <a:solidFill>
                  <a:schemeClr val="tx2"/>
                </a:solidFill>
              </a:rPr>
              <a:t>Fails both tests; reach it through the distributors that sell for it (H10).</a:t>
            </a:r>
            <a:endParaRPr lang="en-US" sz="13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Only Clay combines off-LinkedIn data with workflow automation — but it is the hardest option to implement</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04_Competitive_Analysis — scores are analyst judgments from public vendor documentation [C]; some capabilities rated from general knowledge [K] and pending verification. Phocas/DSG 2026 (S25); Apollo pricing (S20); Sacra (S23).</a:t>
            </a:r>
            <a:endParaRPr lang="en-US" sz="1000" dirty="0"/>
          </a:p>
        </p:txBody>
      </p:sp>
      <p:graphicFrame>
        <p:nvGraphicFramePr>
          <p:cNvPr id="7" name="table-67"/>
          <p:cNvGraphicFramePr>
            <a:graphicFrameLocks noGrp="1"/>
          </p:cNvGraphicFramePr>
          <p:nvPr>
            <p:extLst>
              <p:ext uri="{D42A27DB-BD31-4B8C-83A1-F6EECF244321}">
                <p14:modId xmlns:p14="http://schemas.microsoft.com/office/powerpoint/2010/main" val="1579011935"/>
              </p:ext>
            </p:extLst>
          </p:nvPr>
        </p:nvGraphicFramePr>
        <p:xfrm>
          <a:off x="502920" y="1371600"/>
          <a:ext cx="7589520" cy="914400"/>
        </p:xfrm>
        <a:graphic>
          <a:graphicData uri="http://schemas.openxmlformats.org/drawingml/2006/table">
            <a:tbl>
              <a:tblPr/>
              <a:tblGrid>
                <a:gridCol w="2651760"/>
                <a:gridCol w="868680"/>
                <a:gridCol w="868680"/>
                <a:gridCol w="960120"/>
                <a:gridCol w="1051560"/>
                <a:gridCol w="1188720"/>
              </a:tblGrid>
              <a:tr h="64008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Dimension (score 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Clay</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5532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Apollo</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ZoomInfo</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HubSpot (Breeze)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Vertical data (Dodge, Shovels)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640080">
                <a:tc>
                  <a:txBody>
                    <a:bodyPr/>
                    <a:lstStyle/>
                    <a:p>
                      <a:pPr indent="0" marL="0">
                        <a:buNone/>
                      </a:pPr>
                      <a:r>
                        <a:rPr lang="en-US" sz="1200" dirty="0">
                          <a:solidFill>
                            <a:srgbClr val="1B2433"/>
                          </a:solidFill>
                          <a:latin typeface="Arial" pitchFamily="34" charset="0"/>
                          <a:ea typeface="Arial" pitchFamily="34" charset="-122"/>
                          <a:cs typeface="Arial" pitchFamily="34" charset="-120"/>
                        </a:rPr>
                        <a:t>Data coverage of industrial buyers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5B6B82"/>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DE2E8"/>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DE2E8"/>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DE2E8"/>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8C99AB"/>
                    </a:solidFill>
                  </a:tcPr>
                </a:tc>
              </a:tr>
              <a:tr h="640080">
                <a:tc>
                  <a:txBody>
                    <a:bodyPr/>
                    <a:lstStyle/>
                    <a:p>
                      <a:pPr indent="0" marL="0">
                        <a:buNone/>
                      </a:pPr>
                      <a:r>
                        <a:rPr lang="en-US" sz="1200" dirty="0">
                          <a:solidFill>
                            <a:srgbClr val="1B2433"/>
                          </a:solidFill>
                          <a:latin typeface="Arial" pitchFamily="34" charset="0"/>
                          <a:ea typeface="Arial" pitchFamily="34" charset="-122"/>
                          <a:cs typeface="Arial" pitchFamily="34" charset="-120"/>
                        </a:rPr>
                        <a:t>Workflow automation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5B6B82"/>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8C99AB"/>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0F2F5"/>
                    </a:solidFill>
                  </a:tcPr>
                </a:tc>
              </a:tr>
              <a:tr h="640080">
                <a:tc>
                  <a:txBody>
                    <a:bodyPr/>
                    <a:lstStyle/>
                    <a:p>
                      <a:pPr indent="0" marL="0">
                        <a:buNone/>
                      </a:pPr>
                      <a:r>
                        <a:rPr lang="en-US" sz="1200" dirty="0">
                          <a:solidFill>
                            <a:srgbClr val="1B2433"/>
                          </a:solidFill>
                          <a:latin typeface="Arial" pitchFamily="34" charset="0"/>
                          <a:ea typeface="Arial" pitchFamily="34" charset="-122"/>
                          <a:cs typeface="Arial" pitchFamily="34" charset="-120"/>
                        </a:rPr>
                        <a:t>Differentiation for industrial sellers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5B6B82"/>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DE2E8"/>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8C99AB"/>
                    </a:solidFill>
                  </a:tcPr>
                </a:tc>
              </a:tr>
              <a:tr h="640080">
                <a:tc>
                  <a:txBody>
                    <a:bodyPr/>
                    <a:lstStyle/>
                    <a:p>
                      <a:pPr indent="0" marL="0">
                        <a:buNone/>
                      </a:pPr>
                      <a:r>
                        <a:rPr lang="en-US" sz="1200" dirty="0">
                          <a:solidFill>
                            <a:srgbClr val="1B2433"/>
                          </a:solidFill>
                          <a:latin typeface="Arial" pitchFamily="34" charset="0"/>
                          <a:ea typeface="Arial" pitchFamily="34" charset="-122"/>
                          <a:cs typeface="Arial" pitchFamily="34" charset="-120"/>
                        </a:rPr>
                        <a:t>Pricing architecture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8C99AB"/>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DE2E8"/>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r>
              <a:tr h="640080">
                <a:tc>
                  <a:txBody>
                    <a:bodyPr/>
                    <a:lstStyle/>
                    <a:p>
                      <a:pPr indent="0" marL="0">
                        <a:buNone/>
                      </a:pPr>
                      <a:r>
                        <a:rPr lang="en-US" sz="1200" dirty="0">
                          <a:solidFill>
                            <a:srgbClr val="1B2433"/>
                          </a:solidFill>
                          <a:latin typeface="Arial" pitchFamily="34" charset="0"/>
                          <a:ea typeface="Arial" pitchFamily="34" charset="-122"/>
                          <a:cs typeface="Arial" pitchFamily="34" charset="-120"/>
                        </a:rPr>
                        <a:t>Ease of implementation (5 = easiest)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DE2E8"/>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5B6B82"/>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5B6B82"/>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8C99AB"/>
                    </a:solidFill>
                  </a:tcPr>
                </a:tc>
              </a:tr>
            </a:tbl>
          </a:graphicData>
        </a:graphic>
      </p:graphicFrame>
      <p:sp>
        <p:nvSpPr>
          <p:cNvPr id="5" name="text-68"/>
          <p:cNvSpPr txBox="1"/>
          <p:nvPr/>
        </p:nvSpPr>
        <p:spPr>
          <a:xfrm>
            <a:off x="502920" y="5349240"/>
            <a:ext cx="7589520" cy="548640"/>
          </a:xfrm>
          <a:prstGeom prst="rect">
            <a:avLst/>
          </a:prstGeom>
          <a:noFill/>
          <a:ln/>
        </p:spPr>
        <p:txBody>
          <a:bodyPr wrap="square" lIns="0" tIns="0" rIns="0" bIns="0" rtlCol="0" anchor="t"/>
          <a:lstStyle/>
          <a:p>
            <a:pPr indent="0" marL="0">
              <a:buNone/>
            </a:pPr>
            <a:r>
              <a:rPr lang="en-US" sz="1300" dirty="0">
                <a:solidFill>
                  <a:schemeClr val="tx2"/>
                </a:solidFill>
              </a:rPr>
              <a:t>Clay leads on capability and industrial differentiation, and trails on ease of implementation — the gap partners and templates must close.</a:t>
            </a:r>
            <a:endParaRPr lang="en-US" sz="1300" dirty="0"/>
          </a:p>
        </p:txBody>
      </p:sp>
      <p:sp>
        <p:nvSpPr>
          <p:cNvPr id="6" name="panel-69"/>
          <p:cNvSpPr/>
          <p:nvPr/>
        </p:nvSpPr>
        <p:spPr>
          <a:xfrm>
            <a:off x="8366760" y="1371600"/>
            <a:ext cx="3319272" cy="4526280"/>
          </a:xfrm>
          <a:prstGeom prst="rect">
            <a:avLst/>
          </a:prstGeom>
          <a:solidFill>
            <a:schemeClr val="bg2"/>
          </a:solidFill>
          <a:ln/>
        </p:spPr>
      </p:sp>
      <p:sp>
        <p:nvSpPr>
          <p:cNvPr id="7" name="text-70"/>
          <p:cNvSpPr txBox="1"/>
          <p:nvPr/>
        </p:nvSpPr>
        <p:spPr>
          <a:xfrm>
            <a:off x="8549640" y="1508760"/>
            <a:ext cx="29718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68%</a:t>
            </a:r>
            <a:endParaRPr lang="en-US" sz="2600" dirty="0"/>
          </a:p>
        </p:txBody>
      </p:sp>
      <p:sp>
        <p:nvSpPr>
          <p:cNvPr id="8" name="text-71"/>
          <p:cNvSpPr txBox="1"/>
          <p:nvPr/>
        </p:nvSpPr>
        <p:spPr>
          <a:xfrm>
            <a:off x="8549640" y="1984248"/>
            <a:ext cx="2971800" cy="685800"/>
          </a:xfrm>
          <a:prstGeom prst="rect">
            <a:avLst/>
          </a:prstGeom>
          <a:noFill/>
          <a:ln/>
        </p:spPr>
        <p:txBody>
          <a:bodyPr wrap="square" lIns="0" tIns="0" rIns="0" bIns="0" rtlCol="0" anchor="t"/>
          <a:lstStyle/>
          <a:p>
            <a:pPr indent="0" marL="0">
              <a:buNone/>
            </a:pPr>
            <a:r>
              <a:rPr lang="en-US" sz="1200" dirty="0">
                <a:solidFill>
                  <a:schemeClr val="tx2"/>
                </a:solidFill>
              </a:rPr>
              <a:t>of distributors rely on spreadsheets: the status quo is the main competitor (S25)</a:t>
            </a:r>
            <a:endParaRPr lang="en-US" sz="1200" dirty="0"/>
          </a:p>
        </p:txBody>
      </p:sp>
      <p:sp>
        <p:nvSpPr>
          <p:cNvPr id="9" name="text-72"/>
          <p:cNvSpPr txBox="1"/>
          <p:nvPr/>
        </p:nvSpPr>
        <p:spPr>
          <a:xfrm>
            <a:off x="8549640" y="2926080"/>
            <a:ext cx="29718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2.7×</a:t>
            </a:r>
            <a:endParaRPr lang="en-US" sz="2600" dirty="0"/>
          </a:p>
        </p:txBody>
      </p:sp>
      <p:sp>
        <p:nvSpPr>
          <p:cNvPr id="10" name="text-73"/>
          <p:cNvSpPr txBox="1"/>
          <p:nvPr/>
        </p:nvSpPr>
        <p:spPr>
          <a:xfrm>
            <a:off x="8549640" y="3401568"/>
            <a:ext cx="2971800" cy="685800"/>
          </a:xfrm>
          <a:prstGeom prst="rect">
            <a:avLst/>
          </a:prstGeom>
          <a:noFill/>
          <a:ln/>
        </p:spPr>
        <p:txBody>
          <a:bodyPr wrap="square" lIns="0" tIns="0" rIns="0" bIns="0" rtlCol="0" anchor="t"/>
          <a:lstStyle/>
          <a:p>
            <a:pPr indent="0" marL="0">
              <a:buNone/>
            </a:pPr>
            <a:r>
              <a:rPr lang="en-US" sz="1200" dirty="0">
                <a:solidFill>
                  <a:schemeClr val="tx2"/>
                </a:solidFill>
              </a:rPr>
              <a:t>Apollo Professional's list cost vs Clay Growth for a 28-user team; 0.87× at 9 users [C]</a:t>
            </a:r>
            <a:endParaRPr lang="en-US" sz="1200" dirty="0"/>
          </a:p>
        </p:txBody>
      </p:sp>
      <p:sp>
        <p:nvSpPr>
          <p:cNvPr id="11" name="text-74"/>
          <p:cNvSpPr txBox="1"/>
          <p:nvPr/>
        </p:nvSpPr>
        <p:spPr>
          <a:xfrm>
            <a:off x="8549640" y="4343400"/>
            <a:ext cx="29718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6 of 11</a:t>
            </a:r>
            <a:endParaRPr lang="en-US" sz="2600" dirty="0"/>
          </a:p>
        </p:txBody>
      </p:sp>
      <p:sp>
        <p:nvSpPr>
          <p:cNvPr id="12" name="text-75"/>
          <p:cNvSpPr txBox="1"/>
          <p:nvPr/>
        </p:nvSpPr>
        <p:spPr>
          <a:xfrm>
            <a:off x="8549640" y="4818888"/>
            <a:ext cx="2971800" cy="685800"/>
          </a:xfrm>
          <a:prstGeom prst="rect">
            <a:avLst/>
          </a:prstGeom>
          <a:noFill/>
          <a:ln/>
        </p:spPr>
        <p:txBody>
          <a:bodyPr wrap="square" lIns="0" tIns="0" rIns="0" bIns="0" rtlCol="0" anchor="t"/>
          <a:lstStyle/>
          <a:p>
            <a:pPr indent="0" marL="0">
              <a:buNone/>
            </a:pPr>
            <a:r>
              <a:rPr lang="en-US" sz="1200" dirty="0">
                <a:solidFill>
                  <a:schemeClr val="tx2"/>
                </a:solidFill>
              </a:rPr>
              <a:t>Clay use cases Apollo now also covers; it still lacks off-LinkedIn contractor data [C]</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Lead with coverage: “the contractors and plants your database can't see”</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Phocas/DSG State of Sales in Distribution 2026 (S25; industry-sponsored, ~100+ respondents); BLS (S15, S29); Pew (S28); Regency Supply case study (S07). No customer interviews were conducted — needs are inferred.</a:t>
            </a:r>
            <a:endParaRPr lang="en-US" sz="1000" dirty="0"/>
          </a:p>
        </p:txBody>
      </p:sp>
      <p:sp>
        <p:nvSpPr>
          <p:cNvPr id="4" name="text-76"/>
          <p:cNvSpPr txBox="1"/>
          <p:nvPr/>
        </p:nvSpPr>
        <p:spPr>
          <a:xfrm>
            <a:off x="502920" y="1325880"/>
            <a:ext cx="4846320" cy="320040"/>
          </a:xfrm>
          <a:prstGeom prst="rect">
            <a:avLst/>
          </a:prstGeom>
          <a:noFill/>
          <a:ln/>
        </p:spPr>
        <p:txBody>
          <a:bodyPr wrap="square" lIns="0" tIns="0" rIns="0" bIns="0" rtlCol="0" anchor="t"/>
          <a:lstStyle/>
          <a:p>
            <a:pPr indent="0" marL="0">
              <a:buNone/>
            </a:pPr>
            <a:r>
              <a:rPr lang="en-US" sz="1600" b="1" dirty="0">
                <a:solidFill>
                  <a:schemeClr val="tx1"/>
                </a:solidFill>
              </a:rPr>
              <a:t>What distributors need</a:t>
            </a:r>
            <a:endParaRPr lang="en-US" sz="1600" dirty="0"/>
          </a:p>
        </p:txBody>
      </p:sp>
      <p:sp>
        <p:nvSpPr>
          <p:cNvPr id="5" name="text-77"/>
          <p:cNvSpPr txBox="1"/>
          <p:nvPr/>
        </p:nvSpPr>
        <p:spPr>
          <a:xfrm>
            <a:off x="502920" y="1783080"/>
            <a:ext cx="118872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39%</a:t>
            </a:r>
            <a:endParaRPr lang="en-US" sz="2600" dirty="0"/>
          </a:p>
        </p:txBody>
      </p:sp>
      <p:sp>
        <p:nvSpPr>
          <p:cNvPr id="6" name="text-78"/>
          <p:cNvSpPr txBox="1"/>
          <p:nvPr/>
        </p:nvSpPr>
        <p:spPr>
          <a:xfrm>
            <a:off x="1783080" y="1819656"/>
            <a:ext cx="3657600" cy="822960"/>
          </a:xfrm>
          <a:prstGeom prst="rect">
            <a:avLst/>
          </a:prstGeom>
          <a:noFill/>
          <a:ln/>
        </p:spPr>
        <p:txBody>
          <a:bodyPr wrap="square" lIns="0" tIns="0" rIns="0" bIns="0" rtlCol="0" anchor="t"/>
          <a:lstStyle/>
          <a:p>
            <a:pPr indent="0" marL="0">
              <a:buNone/>
            </a:pPr>
            <a:r>
              <a:rPr lang="en-US" sz="1300" dirty="0">
                <a:solidFill>
                  <a:schemeClr val="tx2"/>
                </a:solidFill>
              </a:rPr>
              <a:t>name new-customer revenue as their top 12-month priority (S25)</a:t>
            </a:r>
            <a:endParaRPr lang="en-US" sz="1300" dirty="0"/>
          </a:p>
        </p:txBody>
      </p:sp>
      <p:sp>
        <p:nvSpPr>
          <p:cNvPr id="7" name="text-79"/>
          <p:cNvSpPr txBox="1"/>
          <p:nvPr/>
        </p:nvSpPr>
        <p:spPr>
          <a:xfrm>
            <a:off x="502920" y="2807208"/>
            <a:ext cx="118872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34%</a:t>
            </a:r>
            <a:endParaRPr lang="en-US" sz="2600" dirty="0"/>
          </a:p>
        </p:txBody>
      </p:sp>
      <p:sp>
        <p:nvSpPr>
          <p:cNvPr id="8" name="text-80"/>
          <p:cNvSpPr txBox="1"/>
          <p:nvPr/>
        </p:nvSpPr>
        <p:spPr>
          <a:xfrm>
            <a:off x="1783080" y="2843784"/>
            <a:ext cx="3657600" cy="822960"/>
          </a:xfrm>
          <a:prstGeom prst="rect">
            <a:avLst/>
          </a:prstGeom>
          <a:noFill/>
          <a:ln/>
        </p:spPr>
        <p:txBody>
          <a:bodyPr wrap="square" lIns="0" tIns="0" rIns="0" bIns="0" rtlCol="0" anchor="t"/>
          <a:lstStyle/>
          <a:p>
            <a:pPr indent="0" marL="0">
              <a:buNone/>
            </a:pPr>
            <a:r>
              <a:rPr lang="en-US" sz="1300" dirty="0">
                <a:solidFill>
                  <a:schemeClr val="tx2"/>
                </a:solidFill>
              </a:rPr>
              <a:t>of CRM users log at least 75% of customer interactions — CRM data is thin (S25)</a:t>
            </a:r>
            <a:endParaRPr lang="en-US" sz="1300" dirty="0"/>
          </a:p>
        </p:txBody>
      </p:sp>
      <p:sp>
        <p:nvSpPr>
          <p:cNvPr id="9" name="text-81"/>
          <p:cNvSpPr txBox="1"/>
          <p:nvPr/>
        </p:nvSpPr>
        <p:spPr>
          <a:xfrm>
            <a:off x="502920" y="3831336"/>
            <a:ext cx="118872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~20%</a:t>
            </a:r>
            <a:endParaRPr lang="en-US" sz="2600" dirty="0"/>
          </a:p>
        </p:txBody>
      </p:sp>
      <p:sp>
        <p:nvSpPr>
          <p:cNvPr id="10" name="text-82"/>
          <p:cNvSpPr txBox="1"/>
          <p:nvPr/>
        </p:nvSpPr>
        <p:spPr>
          <a:xfrm>
            <a:off x="1783080" y="3867912"/>
            <a:ext cx="3657600" cy="822960"/>
          </a:xfrm>
          <a:prstGeom prst="rect">
            <a:avLst/>
          </a:prstGeom>
          <a:noFill/>
          <a:ln/>
        </p:spPr>
        <p:txBody>
          <a:bodyPr wrap="square" lIns="0" tIns="0" rIns="0" bIns="0" rtlCol="0" anchor="t"/>
          <a:lstStyle/>
          <a:p>
            <a:pPr indent="0" marL="0">
              <a:buNone/>
            </a:pPr>
            <a:r>
              <a:rPr lang="en-US" sz="1300" dirty="0">
                <a:solidFill>
                  <a:schemeClr val="tx2"/>
                </a:solidFill>
              </a:rPr>
              <a:t>est. LinkedIn presence of contractor personas, vs ~42% for professional-services buyers [C]</a:t>
            </a:r>
            <a:endParaRPr lang="en-US" sz="1300" dirty="0"/>
          </a:p>
        </p:txBody>
      </p:sp>
      <p:sp>
        <p:nvSpPr>
          <p:cNvPr id="11" name="text-83"/>
          <p:cNvSpPr txBox="1"/>
          <p:nvPr/>
        </p:nvSpPr>
        <p:spPr>
          <a:xfrm>
            <a:off x="502920" y="4855464"/>
            <a:ext cx="118872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2.3%</a:t>
            </a:r>
            <a:endParaRPr lang="en-US" sz="2600" dirty="0"/>
          </a:p>
        </p:txBody>
      </p:sp>
      <p:sp>
        <p:nvSpPr>
          <p:cNvPr id="12" name="text-84"/>
          <p:cNvSpPr txBox="1"/>
          <p:nvPr/>
        </p:nvSpPr>
        <p:spPr>
          <a:xfrm>
            <a:off x="1783080" y="4892040"/>
            <a:ext cx="3657600" cy="822960"/>
          </a:xfrm>
          <a:prstGeom prst="rect">
            <a:avLst/>
          </a:prstGeom>
          <a:noFill/>
          <a:ln/>
        </p:spPr>
        <p:txBody>
          <a:bodyPr wrap="square" lIns="0" tIns="0" rIns="0" bIns="0" rtlCol="0" anchor="t"/>
          <a:lstStyle/>
          <a:p>
            <a:pPr indent="0" marL="0">
              <a:buNone/>
            </a:pPr>
            <a:r>
              <a:rPr lang="en-US" sz="1300" dirty="0">
                <a:solidFill>
                  <a:schemeClr val="tx2"/>
                </a:solidFill>
              </a:rPr>
              <a:t>of distribution employment is in computer occupations — few in-house builders (S15)</a:t>
            </a:r>
            <a:endParaRPr lang="en-US" sz="1300" dirty="0"/>
          </a:p>
        </p:txBody>
      </p:sp>
      <p:sp>
        <p:nvSpPr>
          <p:cNvPr id="13" name="panel-85"/>
          <p:cNvSpPr/>
          <p:nvPr/>
        </p:nvSpPr>
        <p:spPr>
          <a:xfrm>
            <a:off x="5897880" y="1325880"/>
            <a:ext cx="5788152" cy="1234440"/>
          </a:xfrm>
          <a:prstGeom prst="rect">
            <a:avLst/>
          </a:prstGeom>
          <a:solidFill>
            <a:schemeClr val="accent1">
              <a:alpha val="9000"/>
            </a:schemeClr>
          </a:solidFill>
          <a:ln/>
        </p:spPr>
      </p:sp>
      <p:sp>
        <p:nvSpPr>
          <p:cNvPr id="14" name="text-86"/>
          <p:cNvSpPr txBox="1"/>
          <p:nvPr/>
        </p:nvSpPr>
        <p:spPr>
          <a:xfrm>
            <a:off x="6080760" y="1435608"/>
            <a:ext cx="5440680" cy="1051560"/>
          </a:xfrm>
          <a:prstGeom prst="rect">
            <a:avLst/>
          </a:prstGeom>
          <a:noFill/>
          <a:ln/>
        </p:spPr>
        <p:txBody>
          <a:bodyPr wrap="square" lIns="0" tIns="0" rIns="0" bIns="0" rtlCol="0" anchor="t"/>
          <a:lstStyle/>
          <a:p>
            <a:pPr indent="0" marL="0">
              <a:buNone/>
            </a:pPr>
            <a:r>
              <a:rPr lang="en-US" sz="1400" i="1" dirty="0">
                <a:solidFill>
                  <a:schemeClr val="tx1"/>
                </a:solidFill>
              </a:rPr>
              <a:t>“Find every contractor and plant in your territories — including the ones ZoomInfo and Apollo can't see — and put them in your reps' CRM, scored by branch. No data team, and no per-seat fees.”</a:t>
            </a:r>
            <a:endParaRPr lang="en-US" sz="1400" dirty="0"/>
          </a:p>
        </p:txBody>
      </p:sp>
      <p:sp>
        <p:nvSpPr>
          <p:cNvPr id="15" name="card-87"/>
          <p:cNvSpPr/>
          <p:nvPr/>
        </p:nvSpPr>
        <p:spPr>
          <a:xfrm>
            <a:off x="5897880" y="2743200"/>
            <a:ext cx="2843784" cy="1188720"/>
          </a:xfrm>
          <a:prstGeom prst="roundRect">
            <a:avLst>
              <a:gd name="adj" fmla="val 4615"/>
            </a:avLst>
          </a:prstGeom>
          <a:solidFill>
            <a:schemeClr val="bg2"/>
          </a:solidFill>
          <a:ln/>
        </p:spPr>
      </p:sp>
      <p:sp>
        <p:nvSpPr>
          <p:cNvPr id="16" name="text-88"/>
          <p:cNvSpPr txBox="1"/>
          <p:nvPr/>
        </p:nvSpPr>
        <p:spPr>
          <a:xfrm>
            <a:off x="6035040" y="2852928"/>
            <a:ext cx="2560320" cy="274320"/>
          </a:xfrm>
          <a:prstGeom prst="rect">
            <a:avLst/>
          </a:prstGeom>
          <a:noFill/>
          <a:ln/>
        </p:spPr>
        <p:txBody>
          <a:bodyPr wrap="square" lIns="0" tIns="0" rIns="0" bIns="0" rtlCol="0" anchor="t"/>
          <a:lstStyle/>
          <a:p>
            <a:pPr indent="0" marL="0">
              <a:buNone/>
            </a:pPr>
            <a:r>
              <a:rPr lang="en-US" sz="1400" b="1" dirty="0">
                <a:solidFill>
                  <a:schemeClr val="accent1"/>
                </a:solidFill>
              </a:rPr>
              <a:t>Coverage</a:t>
            </a:r>
            <a:endParaRPr lang="en-US" sz="1400" dirty="0"/>
          </a:p>
        </p:txBody>
      </p:sp>
      <p:sp>
        <p:nvSpPr>
          <p:cNvPr id="17" name="text-89"/>
          <p:cNvSpPr txBox="1"/>
          <p:nvPr/>
        </p:nvSpPr>
        <p:spPr>
          <a:xfrm>
            <a:off x="6035040" y="3154680"/>
            <a:ext cx="2560320" cy="731520"/>
          </a:xfrm>
          <a:prstGeom prst="rect">
            <a:avLst/>
          </a:prstGeom>
          <a:noFill/>
          <a:ln/>
        </p:spPr>
        <p:txBody>
          <a:bodyPr wrap="square" lIns="0" tIns="0" rIns="0" bIns="0" rtlCol="0" anchor="t"/>
          <a:lstStyle/>
          <a:p>
            <a:pPr indent="0" marL="0">
              <a:buNone/>
            </a:pPr>
            <a:r>
              <a:rPr lang="en-US" sz="1200" dirty="0">
                <a:solidFill>
                  <a:schemeClr val="tx2"/>
                </a:solidFill>
              </a:rPr>
              <a:t>Maps sourcing, permits, multi-provider waterfall. Proof: Regency Supply (S07)</a:t>
            </a:r>
            <a:endParaRPr lang="en-US" sz="1200" dirty="0"/>
          </a:p>
        </p:txBody>
      </p:sp>
      <p:sp>
        <p:nvSpPr>
          <p:cNvPr id="18" name="card-90"/>
          <p:cNvSpPr/>
          <p:nvPr/>
        </p:nvSpPr>
        <p:spPr>
          <a:xfrm>
            <a:off x="8842248" y="2743200"/>
            <a:ext cx="2843784" cy="1188720"/>
          </a:xfrm>
          <a:prstGeom prst="roundRect">
            <a:avLst>
              <a:gd name="adj" fmla="val 4615"/>
            </a:avLst>
          </a:prstGeom>
          <a:solidFill>
            <a:schemeClr val="bg2"/>
          </a:solidFill>
          <a:ln/>
        </p:spPr>
      </p:sp>
      <p:sp>
        <p:nvSpPr>
          <p:cNvPr id="19" name="text-91"/>
          <p:cNvSpPr txBox="1"/>
          <p:nvPr/>
        </p:nvSpPr>
        <p:spPr>
          <a:xfrm>
            <a:off x="8979408" y="2852928"/>
            <a:ext cx="2560320" cy="274320"/>
          </a:xfrm>
          <a:prstGeom prst="rect">
            <a:avLst/>
          </a:prstGeom>
          <a:noFill/>
          <a:ln/>
        </p:spPr>
        <p:txBody>
          <a:bodyPr wrap="square" lIns="0" tIns="0" rIns="0" bIns="0" rtlCol="0" anchor="t"/>
          <a:lstStyle/>
          <a:p>
            <a:pPr indent="0" marL="0">
              <a:buNone/>
            </a:pPr>
            <a:r>
              <a:rPr lang="en-US" sz="1400" b="1" dirty="0">
                <a:solidFill>
                  <a:schemeClr val="accent1"/>
                </a:solidFill>
              </a:rPr>
              <a:t>Prioritization</a:t>
            </a:r>
            <a:endParaRPr lang="en-US" sz="1400" dirty="0"/>
          </a:p>
        </p:txBody>
      </p:sp>
      <p:sp>
        <p:nvSpPr>
          <p:cNvPr id="20" name="text-92"/>
          <p:cNvSpPr txBox="1"/>
          <p:nvPr/>
        </p:nvSpPr>
        <p:spPr>
          <a:xfrm>
            <a:off x="8979408" y="3154680"/>
            <a:ext cx="2560320" cy="731520"/>
          </a:xfrm>
          <a:prstGeom prst="rect">
            <a:avLst/>
          </a:prstGeom>
          <a:noFill/>
          <a:ln/>
        </p:spPr>
        <p:txBody>
          <a:bodyPr wrap="square" lIns="0" tIns="0" rIns="0" bIns="0" rtlCol="0" anchor="t"/>
          <a:lstStyle/>
          <a:p>
            <a:pPr indent="0" marL="0">
              <a:buNone/>
            </a:pPr>
            <a:r>
              <a:rPr lang="en-US" sz="1200" dirty="0">
                <a:solidFill>
                  <a:schemeClr val="tx2"/>
                </a:solidFill>
              </a:rPr>
              <a:t>Branch scoring and signals. Proof to create: meeting-rate lift at design partners</a:t>
            </a:r>
            <a:endParaRPr lang="en-US" sz="1200" dirty="0"/>
          </a:p>
        </p:txBody>
      </p:sp>
      <p:sp>
        <p:nvSpPr>
          <p:cNvPr id="21" name="card-93"/>
          <p:cNvSpPr/>
          <p:nvPr/>
        </p:nvSpPr>
        <p:spPr>
          <a:xfrm>
            <a:off x="5897880" y="4041648"/>
            <a:ext cx="2843784" cy="1188720"/>
          </a:xfrm>
          <a:prstGeom prst="roundRect">
            <a:avLst>
              <a:gd name="adj" fmla="val 4615"/>
            </a:avLst>
          </a:prstGeom>
          <a:solidFill>
            <a:schemeClr val="bg2"/>
          </a:solidFill>
          <a:ln/>
        </p:spPr>
      </p:sp>
      <p:sp>
        <p:nvSpPr>
          <p:cNvPr id="22" name="text-94"/>
          <p:cNvSpPr txBox="1"/>
          <p:nvPr/>
        </p:nvSpPr>
        <p:spPr>
          <a:xfrm>
            <a:off x="6035040" y="4151376"/>
            <a:ext cx="2560320" cy="274320"/>
          </a:xfrm>
          <a:prstGeom prst="rect">
            <a:avLst/>
          </a:prstGeom>
          <a:noFill/>
          <a:ln/>
        </p:spPr>
        <p:txBody>
          <a:bodyPr wrap="square" lIns="0" tIns="0" rIns="0" bIns="0" rtlCol="0" anchor="t"/>
          <a:lstStyle/>
          <a:p>
            <a:pPr indent="0" marL="0">
              <a:buNone/>
            </a:pPr>
            <a:r>
              <a:rPr lang="en-US" sz="1400" b="1" dirty="0">
                <a:solidFill>
                  <a:schemeClr val="accent1"/>
                </a:solidFill>
              </a:rPr>
              <a:t>CRM completeness</a:t>
            </a:r>
            <a:endParaRPr lang="en-US" sz="1400" dirty="0"/>
          </a:p>
        </p:txBody>
      </p:sp>
      <p:sp>
        <p:nvSpPr>
          <p:cNvPr id="23" name="text-95"/>
          <p:cNvSpPr txBox="1"/>
          <p:nvPr/>
        </p:nvSpPr>
        <p:spPr>
          <a:xfrm>
            <a:off x="6035040" y="4453128"/>
            <a:ext cx="2560320" cy="731520"/>
          </a:xfrm>
          <a:prstGeom prst="rect">
            <a:avLst/>
          </a:prstGeom>
          <a:noFill/>
          <a:ln/>
        </p:spPr>
        <p:txBody>
          <a:bodyPr wrap="square" lIns="0" tIns="0" rIns="0" bIns="0" rtlCol="0" anchor="t"/>
          <a:lstStyle/>
          <a:p>
            <a:pPr indent="0" marL="0">
              <a:buNone/>
            </a:pPr>
            <a:r>
              <a:rPr lang="en-US" sz="1200" dirty="0">
                <a:solidFill>
                  <a:schemeClr val="tx2"/>
                </a:solidFill>
              </a:rPr>
              <a:t>Auto-sync and job-change tracking. Proof: 5,000+ contacts monitored at Regency</a:t>
            </a:r>
            <a:endParaRPr lang="en-US" sz="1200" dirty="0"/>
          </a:p>
        </p:txBody>
      </p:sp>
      <p:sp>
        <p:nvSpPr>
          <p:cNvPr id="24" name="card-96"/>
          <p:cNvSpPr/>
          <p:nvPr/>
        </p:nvSpPr>
        <p:spPr>
          <a:xfrm>
            <a:off x="8842248" y="4041648"/>
            <a:ext cx="2843784" cy="1188720"/>
          </a:xfrm>
          <a:prstGeom prst="roundRect">
            <a:avLst>
              <a:gd name="adj" fmla="val 4615"/>
            </a:avLst>
          </a:prstGeom>
          <a:solidFill>
            <a:schemeClr val="bg2"/>
          </a:solidFill>
          <a:ln/>
        </p:spPr>
      </p:sp>
      <p:sp>
        <p:nvSpPr>
          <p:cNvPr id="25" name="text-97"/>
          <p:cNvSpPr txBox="1"/>
          <p:nvPr/>
        </p:nvSpPr>
        <p:spPr>
          <a:xfrm>
            <a:off x="8979408" y="4151376"/>
            <a:ext cx="2560320" cy="274320"/>
          </a:xfrm>
          <a:prstGeom prst="rect">
            <a:avLst/>
          </a:prstGeom>
          <a:noFill/>
          <a:ln/>
        </p:spPr>
        <p:txBody>
          <a:bodyPr wrap="square" lIns="0" tIns="0" rIns="0" bIns="0" rtlCol="0" anchor="t"/>
          <a:lstStyle/>
          <a:p>
            <a:pPr indent="0" marL="0">
              <a:buNone/>
            </a:pPr>
            <a:r>
              <a:rPr lang="en-US" sz="1400" b="1" dirty="0">
                <a:solidFill>
                  <a:schemeClr val="accent1"/>
                </a:solidFill>
              </a:rPr>
              <a:t>Economics</a:t>
            </a:r>
            <a:endParaRPr lang="en-US" sz="1400" dirty="0"/>
          </a:p>
        </p:txBody>
      </p:sp>
      <p:sp>
        <p:nvSpPr>
          <p:cNvPr id="26" name="text-98"/>
          <p:cNvSpPr txBox="1"/>
          <p:nvPr/>
        </p:nvSpPr>
        <p:spPr>
          <a:xfrm>
            <a:off x="8979408" y="4453128"/>
            <a:ext cx="2560320" cy="731520"/>
          </a:xfrm>
          <a:prstGeom prst="rect">
            <a:avLst/>
          </a:prstGeom>
          <a:noFill/>
          <a:ln/>
        </p:spPr>
        <p:txBody>
          <a:bodyPr wrap="square" lIns="0" tIns="0" rIns="0" bIns="0" rtlCol="0" anchor="t"/>
          <a:lstStyle/>
          <a:p>
            <a:pPr indent="0" marL="0">
              <a:buNone/>
            </a:pPr>
            <a:r>
              <a:rPr lang="en-US" sz="1200" dirty="0">
                <a:solidFill>
                  <a:schemeClr val="tx2"/>
                </a:solidFill>
              </a:rPr>
              <a:t>Unlimited seats: Apollo costs ~2.7× more for a 28-user team [C]</a:t>
            </a:r>
            <a:endParaRPr lang="en-US" sz="1200" dirty="0"/>
          </a:p>
        </p:txBody>
      </p:sp>
      <p:sp>
        <p:nvSpPr>
          <p:cNvPr id="27" name="text-99"/>
          <p:cNvSpPr txBox="1"/>
          <p:nvPr/>
        </p:nvSpPr>
        <p:spPr>
          <a:xfrm>
            <a:off x="5897880" y="5440680"/>
            <a:ext cx="5788152" cy="502920"/>
          </a:xfrm>
          <a:prstGeom prst="rect">
            <a:avLst/>
          </a:prstGeom>
          <a:noFill/>
          <a:ln/>
        </p:spPr>
        <p:txBody>
          <a:bodyPr wrap="square" lIns="0" tIns="0" rIns="0" bIns="0" rtlCol="0" anchor="t"/>
          <a:lstStyle/>
          <a:p>
            <a:pPr indent="0" marL="0">
              <a:buNone/>
            </a:pPr>
            <a:r>
              <a:rPr lang="en-US" sz="1200" b="1" dirty="0">
                <a:solidFill>
                  <a:schemeClr val="tx2"/>
                </a:solidFill>
              </a:rPr>
              <a:t>Not claimed: </a:t>
            </a:r>
            <a:pPr indent="0" marL="0">
              <a:buNone/>
            </a:pPr>
            <a:r>
              <a:rPr lang="en-US" sz="1200" dirty="0">
                <a:solidFill>
                  <a:schemeClr val="tx2"/>
                </a:solidFill>
              </a:rPr>
              <a:t>AI cross-sell from order history (no ERP data), replacing the CRM or ERP, or efficiency gains before pilots measure them.</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Distribution ranks first on the weighted scorecard and holds under most weightings and stress tests</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 06_Segment_Prioritization — scores 1–5 with ratio-to-max scaling; weights as suggested in the brief; contribution = score × weight [C]. Random-weight test: Dirichlet draws (seed 42).</a:t>
            </a:r>
            <a:endParaRPr lang="en-US" sz="1000" dirty="0"/>
          </a:p>
        </p:txBody>
      </p:sp>
      <p:graphicFrame>
        <p:nvGraphicFramePr>
          <p:cNvPr id="4" name="chart-100" descr=""/>
          <p:cNvGraphicFramePr/>
          <p:nvPr/>
        </p:nvGraphicFramePr>
        <p:xfrm>
          <a:off x="502920" y="1325880"/>
          <a:ext cx="7040880" cy="4526280"/>
        </p:xfrm>
        <a:graphic xmlns:a="http://schemas.openxmlformats.org/drawingml/2006/main">
          <a:graphicData uri="http://schemas.openxmlformats.org/drawingml/2006/chart">
            <c:chart xmlns:c="http://schemas.openxmlformats.org/drawingml/2006/chart" r:id="rId1"/>
          </a:graphicData>
        </a:graphic>
      </p:graphicFrame>
      <p:sp>
        <p:nvSpPr>
          <p:cNvPr id="5" name="panel-101"/>
          <p:cNvSpPr/>
          <p:nvPr/>
        </p:nvSpPr>
        <p:spPr>
          <a:xfrm>
            <a:off x="7863840" y="1325880"/>
            <a:ext cx="3822192" cy="4526280"/>
          </a:xfrm>
          <a:prstGeom prst="rect">
            <a:avLst/>
          </a:prstGeom>
          <a:solidFill>
            <a:schemeClr val="bg2"/>
          </a:solidFill>
          <a:ln/>
        </p:spPr>
      </p:sp>
      <p:sp>
        <p:nvSpPr>
          <p:cNvPr id="6" name="text-102"/>
          <p:cNvSpPr txBox="1"/>
          <p:nvPr/>
        </p:nvSpPr>
        <p:spPr>
          <a:xfrm>
            <a:off x="8065008" y="1463040"/>
            <a:ext cx="3474720" cy="320040"/>
          </a:xfrm>
          <a:prstGeom prst="rect">
            <a:avLst/>
          </a:prstGeom>
          <a:noFill/>
          <a:ln/>
        </p:spPr>
        <p:txBody>
          <a:bodyPr wrap="square" lIns="0" tIns="0" rIns="0" bIns="0" rtlCol="0" anchor="t"/>
          <a:lstStyle/>
          <a:p>
            <a:pPr indent="0" marL="0">
              <a:buNone/>
            </a:pPr>
            <a:r>
              <a:rPr lang="en-US" sz="1600" b="1" dirty="0">
                <a:solidFill>
                  <a:schemeClr val="tx1"/>
                </a:solidFill>
              </a:rPr>
              <a:t>Robustness checks</a:t>
            </a:r>
            <a:endParaRPr lang="en-US" sz="1600" dirty="0"/>
          </a:p>
        </p:txBody>
      </p:sp>
      <p:sp>
        <p:nvSpPr>
          <p:cNvPr id="7" name="text-103"/>
          <p:cNvSpPr txBox="1"/>
          <p:nvPr/>
        </p:nvSpPr>
        <p:spPr>
          <a:xfrm>
            <a:off x="8065008" y="1901952"/>
            <a:ext cx="347472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5 of 6</a:t>
            </a:r>
            <a:endParaRPr lang="en-US" sz="2000" dirty="0"/>
          </a:p>
        </p:txBody>
      </p:sp>
      <p:sp>
        <p:nvSpPr>
          <p:cNvPr id="8" name="text-104"/>
          <p:cNvSpPr txBox="1"/>
          <p:nvPr/>
        </p:nvSpPr>
        <p:spPr>
          <a:xfrm>
            <a:off x="8065008" y="2377440"/>
            <a:ext cx="3474720" cy="457200"/>
          </a:xfrm>
          <a:prstGeom prst="rect">
            <a:avLst/>
          </a:prstGeom>
          <a:noFill/>
          <a:ln/>
        </p:spPr>
        <p:txBody>
          <a:bodyPr wrap="square" lIns="0" tIns="0" rIns="0" bIns="0" rtlCol="0" anchor="t"/>
          <a:lstStyle/>
          <a:p>
            <a:pPr indent="0" marL="0">
              <a:buNone/>
            </a:pPr>
            <a:r>
              <a:rPr lang="en-US" sz="1200" dirty="0">
                <a:solidFill>
                  <a:schemeClr val="tx2"/>
                </a:solidFill>
              </a:rPr>
              <a:t>named weight sets rank distribution first (it loses only “execution first”)</a:t>
            </a:r>
            <a:endParaRPr lang="en-US" sz="1200" dirty="0"/>
          </a:p>
        </p:txBody>
      </p:sp>
      <p:sp>
        <p:nvSpPr>
          <p:cNvPr id="9" name="text-105"/>
          <p:cNvSpPr txBox="1"/>
          <p:nvPr/>
        </p:nvSpPr>
        <p:spPr>
          <a:xfrm>
            <a:off x="8065008" y="2880360"/>
            <a:ext cx="347472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74% / 99%</a:t>
            </a:r>
            <a:endParaRPr lang="en-US" sz="2000" dirty="0"/>
          </a:p>
        </p:txBody>
      </p:sp>
      <p:sp>
        <p:nvSpPr>
          <p:cNvPr id="10" name="text-106"/>
          <p:cNvSpPr txBox="1"/>
          <p:nvPr/>
        </p:nvSpPr>
        <p:spPr>
          <a:xfrm>
            <a:off x="8065008" y="3355848"/>
            <a:ext cx="3474720" cy="457200"/>
          </a:xfrm>
          <a:prstGeom prst="rect">
            <a:avLst/>
          </a:prstGeom>
          <a:noFill/>
          <a:ln/>
        </p:spPr>
        <p:txBody>
          <a:bodyPr wrap="square" lIns="0" tIns="0" rIns="0" bIns="0" rtlCol="0" anchor="t"/>
          <a:lstStyle/>
          <a:p>
            <a:pPr indent="0" marL="0">
              <a:buNone/>
            </a:pPr>
            <a:r>
              <a:rPr lang="en-US" sz="1200" dirty="0">
                <a:solidFill>
                  <a:schemeClr val="tx2"/>
                </a:solidFill>
              </a:rPr>
              <a:t>of random weightings rank it first (flat / centered Dirichlet)</a:t>
            </a:r>
            <a:endParaRPr lang="en-US" sz="1200" dirty="0"/>
          </a:p>
        </p:txBody>
      </p:sp>
      <p:sp>
        <p:nvSpPr>
          <p:cNvPr id="11" name="text-107"/>
          <p:cNvSpPr txBox="1"/>
          <p:nvPr/>
        </p:nvSpPr>
        <p:spPr>
          <a:xfrm>
            <a:off x="8065008" y="3858768"/>
            <a:ext cx="347472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11 of 12</a:t>
            </a:r>
            <a:endParaRPr lang="en-US" sz="2000" dirty="0"/>
          </a:p>
        </p:txBody>
      </p:sp>
      <p:sp>
        <p:nvSpPr>
          <p:cNvPr id="12" name="text-108"/>
          <p:cNvSpPr txBox="1"/>
          <p:nvPr/>
        </p:nvSpPr>
        <p:spPr>
          <a:xfrm>
            <a:off x="8065008" y="4334256"/>
            <a:ext cx="3474720" cy="457200"/>
          </a:xfrm>
          <a:prstGeom prst="rect">
            <a:avLst/>
          </a:prstGeom>
          <a:noFill/>
          <a:ln/>
        </p:spPr>
        <p:txBody>
          <a:bodyPr wrap="square" lIns="0" tIns="0" rIns="0" bIns="0" rtlCol="0" anchor="t"/>
          <a:lstStyle/>
          <a:p>
            <a:pPr indent="0" marL="0">
              <a:buNone/>
            </a:pPr>
            <a:r>
              <a:rPr lang="en-US" sz="1200" dirty="0">
                <a:solidFill>
                  <a:schemeClr val="tx2"/>
                </a:solidFill>
              </a:rPr>
              <a:t>stress tests; it loses only when its worst case meets professional services' best case (T9)</a:t>
            </a:r>
            <a:endParaRPr lang="en-US" sz="1200" dirty="0"/>
          </a:p>
        </p:txBody>
      </p:sp>
      <p:sp>
        <p:nvSpPr>
          <p:cNvPr id="13" name="text-109"/>
          <p:cNvSpPr txBox="1"/>
          <p:nvPr/>
        </p:nvSpPr>
        <p:spPr>
          <a:xfrm>
            <a:off x="8065008" y="4837176"/>
            <a:ext cx="347472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26%</a:t>
            </a:r>
            <a:endParaRPr lang="en-US" sz="2000" dirty="0"/>
          </a:p>
        </p:txBody>
      </p:sp>
      <p:sp>
        <p:nvSpPr>
          <p:cNvPr id="14" name="text-110"/>
          <p:cNvSpPr txBox="1"/>
          <p:nvPr/>
        </p:nvSpPr>
        <p:spPr>
          <a:xfrm>
            <a:off x="8065008" y="5312664"/>
            <a:ext cx="3474720" cy="457200"/>
          </a:xfrm>
          <a:prstGeom prst="rect">
            <a:avLst/>
          </a:prstGeom>
          <a:noFill/>
          <a:ln/>
        </p:spPr>
        <p:txBody>
          <a:bodyPr wrap="square" lIns="0" tIns="0" rIns="0" bIns="0" rtlCol="0" anchor="t"/>
          <a:lstStyle/>
          <a:p>
            <a:pPr indent="0" marL="0">
              <a:buNone/>
            </a:pPr>
            <a:r>
              <a:rPr lang="en-US" sz="1200" dirty="0">
                <a:solidFill>
                  <a:schemeClr val="tx2"/>
                </a:solidFill>
              </a:rPr>
              <a:t>weight on ease of execution needed to flip the ranking (base 10%)</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Enter through a lean hybrid motion: partners deliver, templates simplify, existing AEs close</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08_GTM_Strategy [E]; 07_Financial_Model, Base case [C/D]; NAED (S53); American Supply Association (S54); partner-economics benchmarks (S50). Serviceable firms = Census 2022 firms × SAM filters [C/D].</a:t>
            </a:r>
            <a:endParaRPr lang="en-US" sz="1000" dirty="0"/>
          </a:p>
        </p:txBody>
      </p:sp>
      <p:sp>
        <p:nvSpPr>
          <p:cNvPr id="4" name="step-111"/>
          <p:cNvSpPr/>
          <p:nvPr/>
        </p:nvSpPr>
        <p:spPr>
          <a:xfrm>
            <a:off x="502920" y="1325880"/>
            <a:ext cx="2724912" cy="457200"/>
          </a:xfrm>
          <a:prstGeom prst="chevron">
            <a:avLst/>
          </a:prstGeom>
          <a:solidFill>
            <a:schemeClr val="tx2"/>
          </a:solidFill>
          <a:ln/>
        </p:spPr>
      </p:sp>
      <p:sp>
        <p:nvSpPr>
          <p:cNvPr id="5" name="text-112"/>
          <p:cNvSpPr txBox="1"/>
          <p:nvPr/>
        </p:nvSpPr>
        <p:spPr>
          <a:xfrm>
            <a:off x="777240" y="1325880"/>
            <a:ext cx="2194560" cy="457200"/>
          </a:xfrm>
          <a:prstGeom prst="rect">
            <a:avLst/>
          </a:prstGeom>
          <a:noFill/>
          <a:ln/>
        </p:spPr>
        <p:txBody>
          <a:bodyPr wrap="square" lIns="0" tIns="0" rIns="0" bIns="0" rtlCol="0" anchor="ctr"/>
          <a:lstStyle/>
          <a:p>
            <a:pPr indent="0" marL="0">
              <a:buNone/>
            </a:pPr>
            <a:r>
              <a:rPr lang="en-US" sz="1400" b="1" dirty="0">
                <a:solidFill>
                  <a:schemeClr val="bg1"/>
                </a:solidFill>
              </a:rPr>
              <a:t>1  Create demand</a:t>
            </a:r>
            <a:endParaRPr lang="en-US" sz="1400" dirty="0"/>
          </a:p>
        </p:txBody>
      </p:sp>
      <p:sp>
        <p:nvSpPr>
          <p:cNvPr id="6" name="text-113"/>
          <p:cNvSpPr txBox="1"/>
          <p:nvPr/>
        </p:nvSpPr>
        <p:spPr>
          <a:xfrm>
            <a:off x="548640" y="1874520"/>
            <a:ext cx="2606040" cy="960120"/>
          </a:xfrm>
          <a:prstGeom prst="rect">
            <a:avLst/>
          </a:prstGeom>
          <a:noFill/>
          <a:ln/>
        </p:spPr>
        <p:txBody>
          <a:bodyPr wrap="square" lIns="0" tIns="0" rIns="0" bIns="0" rtlCol="0" anchor="t"/>
          <a:lstStyle/>
          <a:p>
            <a:pPr indent="0" marL="0">
              <a:buNone/>
            </a:pPr>
            <a:r>
              <a:rPr lang="en-US" sz="1200" dirty="0">
                <a:solidFill>
                  <a:schemeClr val="tx2"/>
                </a:solidFill>
              </a:rPr>
              <a:t>Clay-run outbound to ~40% of each wave's market per quarter; NAED and ASA channels; partner referrals</a:t>
            </a:r>
            <a:endParaRPr lang="en-US" sz="1200" dirty="0"/>
          </a:p>
        </p:txBody>
      </p:sp>
      <p:sp>
        <p:nvSpPr>
          <p:cNvPr id="7" name="step-114"/>
          <p:cNvSpPr/>
          <p:nvPr/>
        </p:nvSpPr>
        <p:spPr>
          <a:xfrm>
            <a:off x="3319272" y="1325880"/>
            <a:ext cx="2724912" cy="457200"/>
          </a:xfrm>
          <a:prstGeom prst="chevron">
            <a:avLst/>
          </a:prstGeom>
          <a:solidFill>
            <a:schemeClr val="tx2"/>
          </a:solidFill>
          <a:ln/>
        </p:spPr>
      </p:sp>
      <p:sp>
        <p:nvSpPr>
          <p:cNvPr id="8" name="text-115"/>
          <p:cNvSpPr txBox="1"/>
          <p:nvPr/>
        </p:nvSpPr>
        <p:spPr>
          <a:xfrm>
            <a:off x="3593592" y="1325880"/>
            <a:ext cx="2194560" cy="457200"/>
          </a:xfrm>
          <a:prstGeom prst="rect">
            <a:avLst/>
          </a:prstGeom>
          <a:noFill/>
          <a:ln/>
        </p:spPr>
        <p:txBody>
          <a:bodyPr wrap="square" lIns="0" tIns="0" rIns="0" bIns="0" rtlCol="0" anchor="ctr"/>
          <a:lstStyle/>
          <a:p>
            <a:pPr indent="0" marL="0">
              <a:buNone/>
            </a:pPr>
            <a:r>
              <a:rPr lang="en-US" sz="1400" b="1" dirty="0">
                <a:solidFill>
                  <a:schemeClr val="bg1"/>
                </a:solidFill>
              </a:rPr>
              <a:t>2  Convert</a:t>
            </a:r>
            <a:endParaRPr lang="en-US" sz="1400" dirty="0"/>
          </a:p>
        </p:txBody>
      </p:sp>
      <p:sp>
        <p:nvSpPr>
          <p:cNvPr id="9" name="text-116"/>
          <p:cNvSpPr txBox="1"/>
          <p:nvPr/>
        </p:nvSpPr>
        <p:spPr>
          <a:xfrm>
            <a:off x="3364992" y="1874520"/>
            <a:ext cx="2606040" cy="960120"/>
          </a:xfrm>
          <a:prstGeom prst="rect">
            <a:avLst/>
          </a:prstGeom>
          <a:noFill/>
          <a:ln/>
        </p:spPr>
        <p:txBody>
          <a:bodyPr wrap="square" lIns="0" tIns="0" rIns="0" bIns="0" rtlCol="0" anchor="t"/>
          <a:lstStyle/>
          <a:p>
            <a:pPr indent="0" marL="0">
              <a:buNone/>
            </a:pPr>
            <a:r>
              <a:rPr lang="en-US" sz="1200" dirty="0">
                <a:solidFill>
                  <a:schemeClr val="tx2"/>
                </a:solidFill>
              </a:rPr>
              <a:t>Existing AEs close at ~$7.1K per deal; no dedicated AEs until capacity binds</a:t>
            </a:r>
            <a:endParaRPr lang="en-US" sz="1200" dirty="0"/>
          </a:p>
        </p:txBody>
      </p:sp>
      <p:sp>
        <p:nvSpPr>
          <p:cNvPr id="10" name="step-117"/>
          <p:cNvSpPr/>
          <p:nvPr/>
        </p:nvSpPr>
        <p:spPr>
          <a:xfrm>
            <a:off x="6135624" y="1325880"/>
            <a:ext cx="2724912" cy="457200"/>
          </a:xfrm>
          <a:prstGeom prst="chevron">
            <a:avLst/>
          </a:prstGeom>
          <a:solidFill>
            <a:schemeClr val="accent1"/>
          </a:solidFill>
          <a:ln/>
        </p:spPr>
      </p:sp>
      <p:sp>
        <p:nvSpPr>
          <p:cNvPr id="11" name="text-118"/>
          <p:cNvSpPr txBox="1"/>
          <p:nvPr/>
        </p:nvSpPr>
        <p:spPr>
          <a:xfrm>
            <a:off x="6409944" y="1325880"/>
            <a:ext cx="2194560" cy="457200"/>
          </a:xfrm>
          <a:prstGeom prst="rect">
            <a:avLst/>
          </a:prstGeom>
          <a:noFill/>
          <a:ln/>
        </p:spPr>
        <p:txBody>
          <a:bodyPr wrap="square" lIns="0" tIns="0" rIns="0" bIns="0" rtlCol="0" anchor="ctr"/>
          <a:lstStyle/>
          <a:p>
            <a:pPr indent="0" marL="0">
              <a:buNone/>
            </a:pPr>
            <a:r>
              <a:rPr lang="en-US" sz="1400" b="1" dirty="0">
                <a:solidFill>
                  <a:schemeClr val="bg1"/>
                </a:solidFill>
              </a:rPr>
              <a:t>3  Deliver</a:t>
            </a:r>
            <a:endParaRPr lang="en-US" sz="1400" dirty="0"/>
          </a:p>
        </p:txBody>
      </p:sp>
      <p:sp>
        <p:nvSpPr>
          <p:cNvPr id="12" name="text-119"/>
          <p:cNvSpPr txBox="1"/>
          <p:nvPr/>
        </p:nvSpPr>
        <p:spPr>
          <a:xfrm>
            <a:off x="6181344" y="1874520"/>
            <a:ext cx="2606040" cy="960120"/>
          </a:xfrm>
          <a:prstGeom prst="rect">
            <a:avLst/>
          </a:prstGeom>
          <a:noFill/>
          <a:ln/>
        </p:spPr>
        <p:txBody>
          <a:bodyPr wrap="square" lIns="0" tIns="0" rIns="0" bIns="0" rtlCol="0" anchor="t"/>
          <a:lstStyle/>
          <a:p>
            <a:pPr indent="0" marL="0">
              <a:buNone/>
            </a:pPr>
            <a:r>
              <a:rPr lang="en-US" sz="1200" dirty="0">
                <a:solidFill>
                  <a:schemeClr val="tx2"/>
                </a:solidFill>
              </a:rPr>
              <a:t>Certified partners run a fixed-scope Quickstart using the Distribution Territory Kit</a:t>
            </a:r>
            <a:endParaRPr lang="en-US" sz="1200" dirty="0"/>
          </a:p>
        </p:txBody>
      </p:sp>
      <p:sp>
        <p:nvSpPr>
          <p:cNvPr id="13" name="step-120"/>
          <p:cNvSpPr/>
          <p:nvPr/>
        </p:nvSpPr>
        <p:spPr>
          <a:xfrm>
            <a:off x="8951976" y="1325880"/>
            <a:ext cx="2724912" cy="457200"/>
          </a:xfrm>
          <a:prstGeom prst="chevron">
            <a:avLst/>
          </a:prstGeom>
          <a:solidFill>
            <a:schemeClr val="tx2"/>
          </a:solidFill>
          <a:ln/>
        </p:spPr>
      </p:sp>
      <p:sp>
        <p:nvSpPr>
          <p:cNvPr id="14" name="text-121"/>
          <p:cNvSpPr txBox="1"/>
          <p:nvPr/>
        </p:nvSpPr>
        <p:spPr>
          <a:xfrm>
            <a:off x="9226296" y="1325880"/>
            <a:ext cx="2194560" cy="457200"/>
          </a:xfrm>
          <a:prstGeom prst="rect">
            <a:avLst/>
          </a:prstGeom>
          <a:noFill/>
          <a:ln/>
        </p:spPr>
        <p:txBody>
          <a:bodyPr wrap="square" lIns="0" tIns="0" rIns="0" bIns="0" rtlCol="0" anchor="ctr"/>
          <a:lstStyle/>
          <a:p>
            <a:pPr indent="0" marL="0">
              <a:buNone/>
            </a:pPr>
            <a:r>
              <a:rPr lang="en-US" sz="1400" b="1" dirty="0">
                <a:solidFill>
                  <a:schemeClr val="bg1"/>
                </a:solidFill>
              </a:rPr>
              <a:t>4  Expand</a:t>
            </a:r>
            <a:endParaRPr lang="en-US" sz="1400" dirty="0"/>
          </a:p>
        </p:txBody>
      </p:sp>
      <p:sp>
        <p:nvSpPr>
          <p:cNvPr id="15" name="text-122"/>
          <p:cNvSpPr txBox="1"/>
          <p:nvPr/>
        </p:nvSpPr>
        <p:spPr>
          <a:xfrm>
            <a:off x="8997696" y="1874520"/>
            <a:ext cx="2606040" cy="960120"/>
          </a:xfrm>
          <a:prstGeom prst="rect">
            <a:avLst/>
          </a:prstGeom>
          <a:noFill/>
          <a:ln/>
        </p:spPr>
        <p:txBody>
          <a:bodyPr wrap="square" lIns="0" tIns="0" rIns="0" bIns="0" rtlCol="0" anchor="t"/>
          <a:lstStyle/>
          <a:p>
            <a:pPr indent="0" marL="0">
              <a:buNone/>
            </a:pPr>
            <a:r>
              <a:rPr lang="en-US" sz="1200" dirty="0">
                <a:solidFill>
                  <a:schemeClr val="tx2"/>
                </a:solidFill>
              </a:rPr>
              <a:t>Add workflows (permits, e-commerce vetting, job changes): usage is the ACV lever</a:t>
            </a:r>
            <a:endParaRPr lang="en-US" sz="1200" dirty="0"/>
          </a:p>
        </p:txBody>
      </p:sp>
      <p:sp>
        <p:nvSpPr>
          <p:cNvPr id="16" name="card-123"/>
          <p:cNvSpPr/>
          <p:nvPr/>
        </p:nvSpPr>
        <p:spPr>
          <a:xfrm>
            <a:off x="502920" y="3017520"/>
            <a:ext cx="3566160" cy="2926080"/>
          </a:xfrm>
          <a:prstGeom prst="roundRect">
            <a:avLst>
              <a:gd name="adj" fmla="val 1875"/>
            </a:avLst>
          </a:prstGeom>
          <a:solidFill>
            <a:schemeClr val="bg2"/>
          </a:solidFill>
          <a:ln/>
        </p:spPr>
      </p:sp>
      <p:sp>
        <p:nvSpPr>
          <p:cNvPr id="17" name="text-124"/>
          <p:cNvSpPr txBox="1"/>
          <p:nvPr/>
        </p:nvSpPr>
        <p:spPr>
          <a:xfrm>
            <a:off x="667512" y="3127248"/>
            <a:ext cx="3200400" cy="292608"/>
          </a:xfrm>
          <a:prstGeom prst="rect">
            <a:avLst/>
          </a:prstGeom>
          <a:noFill/>
          <a:ln/>
        </p:spPr>
        <p:txBody>
          <a:bodyPr wrap="square" lIns="0" tIns="0" rIns="0" bIns="0" rtlCol="0" anchor="t"/>
          <a:lstStyle/>
          <a:p>
            <a:pPr indent="0" marL="0">
              <a:buNone/>
            </a:pPr>
            <a:r>
              <a:rPr lang="en-US" sz="1400" b="1" dirty="0">
                <a:solidFill>
                  <a:schemeClr val="accent1"/>
                </a:solidFill>
              </a:rPr>
              <a:t>Ideal customer profile</a:t>
            </a:r>
            <a:endParaRPr lang="en-US" sz="1400" dirty="0"/>
          </a:p>
        </p:txBody>
      </p:sp>
      <p:sp>
        <p:nvSpPr>
          <p:cNvPr id="18" name="text-125"/>
          <p:cNvSpPr txBox="1"/>
          <p:nvPr/>
        </p:nvSpPr>
        <p:spPr>
          <a:xfrm>
            <a:off x="667512" y="3493008"/>
            <a:ext cx="3246120" cy="16002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100–499 employees, multi-branch</a:t>
            </a:r>
            <a:endParaRPr lang="en-US" sz="1200" dirty="0"/>
          </a:p>
          <a:p>
            <a:pPr marL="342900" indent="-342900">
              <a:spcAft>
                <a:spcPts val="300"/>
              </a:spcAft>
              <a:buSzPct val="100000"/>
              <a:buChar char="•"/>
            </a:pPr>
            <a:r>
              <a:rPr lang="en-US" sz="1200" dirty="0">
                <a:solidFill>
                  <a:schemeClr val="tx1"/>
                </a:solidFill>
              </a:rPr>
              <a:t>15+ territory sellers</a:t>
            </a:r>
            <a:endParaRPr lang="en-US" sz="1200" dirty="0"/>
          </a:p>
          <a:p>
            <a:pPr marL="342900" indent="-342900">
              <a:spcAft>
                <a:spcPts val="300"/>
              </a:spcAft>
              <a:buSzPct val="100000"/>
              <a:buChar char="•"/>
            </a:pPr>
            <a:r>
              <a:rPr lang="en-US" sz="1200" dirty="0">
                <a:solidFill>
                  <a:schemeClr val="tx1"/>
                </a:solidFill>
              </a:rPr>
              <a:t>CRM in place with a named owner</a:t>
            </a:r>
            <a:endParaRPr lang="en-US" sz="1200" dirty="0"/>
          </a:p>
          <a:p>
            <a:pPr marL="342900" indent="-342900">
              <a:spcAft>
                <a:spcPts val="300"/>
              </a:spcAft>
              <a:buSzPct val="100000"/>
              <a:buChar char="•"/>
            </a:pPr>
            <a:r>
              <a:rPr lang="en-US" sz="1200" dirty="0">
                <a:solidFill>
                  <a:schemeClr val="tx1"/>
                </a:solidFill>
              </a:rPr>
              <a:t>Sells to contractors, plants, local firms</a:t>
            </a:r>
            <a:endParaRPr lang="en-US" sz="1200" dirty="0"/>
          </a:p>
          <a:p>
            <a:pPr marL="342900" indent="-342900">
              <a:spcAft>
                <a:spcPts val="300"/>
              </a:spcAft>
              <a:buSzPct val="100000"/>
              <a:buChar char="•"/>
            </a:pPr>
            <a:r>
              <a:rPr lang="en-US" sz="1200" dirty="0">
                <a:solidFill>
                  <a:schemeClr val="tx1"/>
                </a:solidFill>
              </a:rPr>
              <a:t>New-customer growth is a priority</a:t>
            </a:r>
            <a:endParaRPr lang="en-US" sz="1200" dirty="0"/>
          </a:p>
        </p:txBody>
      </p:sp>
      <p:sp>
        <p:nvSpPr>
          <p:cNvPr id="19" name="text-126"/>
          <p:cNvSpPr txBox="1"/>
          <p:nvPr/>
        </p:nvSpPr>
        <p:spPr>
          <a:xfrm>
            <a:off x="667512" y="5193792"/>
            <a:ext cx="3246120" cy="640080"/>
          </a:xfrm>
          <a:prstGeom prst="rect">
            <a:avLst/>
          </a:prstGeom>
          <a:noFill/>
          <a:ln/>
        </p:spPr>
        <p:txBody>
          <a:bodyPr wrap="square" lIns="0" tIns="0" rIns="0" bIns="0" rtlCol="0" anchor="t"/>
          <a:lstStyle/>
          <a:p>
            <a:pPr indent="0" marL="0">
              <a:buNone/>
            </a:pPr>
            <a:r>
              <a:rPr lang="en-US" sz="1100" i="1" dirty="0">
                <a:solidFill>
                  <a:schemeClr val="tx2"/>
                </a:solidFill>
              </a:rPr>
              <a:t>Avoid: no CRM, under ~5 sellers, or a need for ERP-based cross-sell</a:t>
            </a:r>
            <a:endParaRPr lang="en-US" sz="1100" dirty="0"/>
          </a:p>
        </p:txBody>
      </p:sp>
      <p:sp>
        <p:nvSpPr>
          <p:cNvPr id="20" name="text-127"/>
          <p:cNvSpPr txBox="1"/>
          <p:nvPr/>
        </p:nvSpPr>
        <p:spPr>
          <a:xfrm>
            <a:off x="4251960" y="3063240"/>
            <a:ext cx="3657600" cy="292608"/>
          </a:xfrm>
          <a:prstGeom prst="rect">
            <a:avLst/>
          </a:prstGeom>
          <a:noFill/>
          <a:ln/>
        </p:spPr>
        <p:txBody>
          <a:bodyPr wrap="square" lIns="0" tIns="0" rIns="0" bIns="0" rtlCol="0" anchor="t"/>
          <a:lstStyle/>
          <a:p>
            <a:pPr indent="0" marL="0">
              <a:buNone/>
            </a:pPr>
            <a:r>
              <a:rPr lang="en-US" sz="1400" b="1" dirty="0">
                <a:solidFill>
                  <a:schemeClr val="tx1"/>
                </a:solidFill>
              </a:rPr>
              <a:t>Sequenced entry (Base case)</a:t>
            </a:r>
            <a:endParaRPr lang="en-US" sz="1400" dirty="0"/>
          </a:p>
        </p:txBody>
      </p:sp>
      <p:graphicFrame>
        <p:nvGraphicFramePr>
          <p:cNvPr id="10" name="table-128"/>
          <p:cNvGraphicFramePr>
            <a:graphicFrameLocks noGrp="1"/>
          </p:cNvGraphicFramePr>
          <p:nvPr>
            <p:extLst>
              <p:ext uri="{D42A27DB-BD31-4B8C-83A1-F6EECF244321}">
                <p14:modId xmlns:p14="http://schemas.microsoft.com/office/powerpoint/2010/main" val="1579011935"/>
              </p:ext>
            </p:extLst>
          </p:nvPr>
        </p:nvGraphicFramePr>
        <p:xfrm>
          <a:off x="4251960" y="3429000"/>
          <a:ext cx="3657600" cy="914400"/>
        </p:xfrm>
        <a:graphic>
          <a:graphicData uri="http://schemas.openxmlformats.org/drawingml/2006/table">
            <a:tbl>
              <a:tblPr/>
              <a:tblGrid>
                <a:gridCol w="1737360"/>
                <a:gridCol w="960120"/>
                <a:gridCol w="960120"/>
              </a:tblGrid>
              <a:tr h="36576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Wave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Launch</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Firms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365760">
                <a:tc>
                  <a:txBody>
                    <a:bodyPr/>
                    <a:lstStyle/>
                    <a:p>
                      <a:pPr indent="0" marL="0">
                        <a:buNone/>
                      </a:pPr>
                      <a:r>
                        <a:rPr lang="en-US" sz="1200" b="1" dirty="0">
                          <a:solidFill>
                            <a:srgbClr val="1B2433"/>
                          </a:solidFill>
                          <a:latin typeface="Arial" pitchFamily="34" charset="0"/>
                          <a:ea typeface="Arial" pitchFamily="34" charset="-122"/>
                          <a:cs typeface="Arial" pitchFamily="34" charset="-120"/>
                        </a:rPr>
                        <a:t>4236 Electrical</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Q1 2027</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~1,280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65760">
                <a:tc>
                  <a:txBody>
                    <a:bodyPr/>
                    <a:lstStyle/>
                    <a:p>
                      <a:pPr indent="0" marL="0">
                        <a:buNone/>
                      </a:pPr>
                      <a:r>
                        <a:rPr lang="en-US" sz="1200" dirty="0">
                          <a:solidFill>
                            <a:srgbClr val="1B2433"/>
                          </a:solidFill>
                          <a:latin typeface="Arial" pitchFamily="34" charset="0"/>
                          <a:ea typeface="Arial" pitchFamily="34" charset="-122"/>
                          <a:cs typeface="Arial" pitchFamily="34" charset="-120"/>
                        </a:rPr>
                        <a:t>4237 Plumbing / HVAC</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Q1 2028</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~900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65760">
                <a:tc>
                  <a:txBody>
                    <a:bodyPr/>
                    <a:lstStyle/>
                    <a:p>
                      <a:pPr indent="0" marL="0">
                        <a:buNone/>
                      </a:pPr>
                      <a:r>
                        <a:rPr lang="en-US" sz="1200" dirty="0">
                          <a:solidFill>
                            <a:srgbClr val="1B2433"/>
                          </a:solidFill>
                          <a:latin typeface="Arial" pitchFamily="34" charset="0"/>
                          <a:ea typeface="Arial" pitchFamily="34" charset="-122"/>
                          <a:cs typeface="Arial" pitchFamily="34" charset="-120"/>
                        </a:rPr>
                        <a:t>4238 Machinery / MRO</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Q3 2028</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~2,980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2" name="text-129"/>
          <p:cNvSpPr txBox="1"/>
          <p:nvPr/>
        </p:nvSpPr>
        <p:spPr>
          <a:xfrm>
            <a:off x="4251960" y="5029200"/>
            <a:ext cx="3657600" cy="822960"/>
          </a:xfrm>
          <a:prstGeom prst="rect">
            <a:avLst/>
          </a:prstGeom>
          <a:noFill/>
          <a:ln/>
        </p:spPr>
        <p:txBody>
          <a:bodyPr wrap="square" lIns="0" tIns="0" rIns="0" bIns="0" rtlCol="0" anchor="t"/>
          <a:lstStyle/>
          <a:p>
            <a:pPr indent="0" marL="0">
              <a:buNone/>
            </a:pPr>
            <a:r>
              <a:rPr lang="en-US" sz="1200" dirty="0">
                <a:solidFill>
                  <a:schemeClr val="tx2"/>
                </a:solidFill>
              </a:rPr>
              <a:t>Price at list, Growth annual, no vertical discount; size credits by territory at signature.</a:t>
            </a:r>
            <a:endParaRPr lang="en-US" sz="1200" dirty="0"/>
          </a:p>
        </p:txBody>
      </p:sp>
      <p:sp>
        <p:nvSpPr>
          <p:cNvPr id="23" name="text-130"/>
          <p:cNvSpPr txBox="1"/>
          <p:nvPr/>
        </p:nvSpPr>
        <p:spPr>
          <a:xfrm>
            <a:off x="8183880" y="3063240"/>
            <a:ext cx="3474720" cy="292608"/>
          </a:xfrm>
          <a:prstGeom prst="rect">
            <a:avLst/>
          </a:prstGeom>
          <a:noFill/>
          <a:ln/>
        </p:spPr>
        <p:txBody>
          <a:bodyPr wrap="square" lIns="0" tIns="0" rIns="0" bIns="0" rtlCol="0" anchor="t"/>
          <a:lstStyle/>
          <a:p>
            <a:pPr indent="0" marL="0">
              <a:buNone/>
            </a:pPr>
            <a:r>
              <a:rPr lang="en-US" sz="1400" b="1" dirty="0">
                <a:solidFill>
                  <a:schemeClr val="tx1"/>
                </a:solidFill>
              </a:rPr>
              <a:t>Motion options</a:t>
            </a:r>
            <a:endParaRPr lang="en-US" sz="1400" dirty="0"/>
          </a:p>
        </p:txBody>
      </p:sp>
      <p:sp>
        <p:nvSpPr>
          <p:cNvPr id="24" name="dot-131"/>
          <p:cNvSpPr/>
          <p:nvPr/>
        </p:nvSpPr>
        <p:spPr>
          <a:xfrm>
            <a:off x="8183880" y="3511296"/>
            <a:ext cx="182880" cy="182880"/>
          </a:xfrm>
          <a:prstGeom prst="ellipse">
            <a:avLst/>
          </a:prstGeom>
          <a:solidFill>
            <a:schemeClr val="accent6"/>
          </a:solidFill>
          <a:ln/>
        </p:spPr>
      </p:sp>
      <p:sp>
        <p:nvSpPr>
          <p:cNvPr id="25" name="text-132"/>
          <p:cNvSpPr txBox="1"/>
          <p:nvPr/>
        </p:nvSpPr>
        <p:spPr>
          <a:xfrm>
            <a:off x="8503920" y="3456432"/>
            <a:ext cx="3154680" cy="256032"/>
          </a:xfrm>
          <a:prstGeom prst="rect">
            <a:avLst/>
          </a:prstGeom>
          <a:noFill/>
          <a:ln/>
        </p:spPr>
        <p:txBody>
          <a:bodyPr wrap="square" lIns="0" tIns="0" rIns="0" bIns="0" rtlCol="0" anchor="t"/>
          <a:lstStyle/>
          <a:p>
            <a:pPr indent="0" marL="0">
              <a:buNone/>
            </a:pPr>
            <a:r>
              <a:rPr lang="en-US" sz="1300" b="1" dirty="0">
                <a:solidFill>
                  <a:schemeClr val="tx1"/>
                </a:solidFill>
              </a:rPr>
              <a:t>Sales-led team</a:t>
            </a:r>
            <a:endParaRPr lang="en-US" sz="1300" dirty="0"/>
          </a:p>
        </p:txBody>
      </p:sp>
      <p:sp>
        <p:nvSpPr>
          <p:cNvPr id="26" name="text-133"/>
          <p:cNvSpPr txBox="1"/>
          <p:nvPr/>
        </p:nvSpPr>
        <p:spPr>
          <a:xfrm>
            <a:off x="8503920" y="3712464"/>
            <a:ext cx="3154680" cy="292608"/>
          </a:xfrm>
          <a:prstGeom prst="rect">
            <a:avLst/>
          </a:prstGeom>
          <a:noFill/>
          <a:ln/>
        </p:spPr>
        <p:txBody>
          <a:bodyPr wrap="square" lIns="0" tIns="0" rIns="0" bIns="0" rtlCol="0" anchor="t"/>
          <a:lstStyle/>
          <a:p>
            <a:pPr indent="0" marL="0">
              <a:buNone/>
            </a:pPr>
            <a:r>
              <a:rPr lang="en-US" sz="1100" dirty="0">
                <a:solidFill>
                  <a:schemeClr val="tx2"/>
                </a:solidFill>
              </a:rPr>
              <a:t>Reject: +$4.5M cost, same ARR</a:t>
            </a:r>
            <a:endParaRPr lang="en-US" sz="1100" dirty="0"/>
          </a:p>
        </p:txBody>
      </p:sp>
      <p:sp>
        <p:nvSpPr>
          <p:cNvPr id="27" name="dot-134"/>
          <p:cNvSpPr/>
          <p:nvPr/>
        </p:nvSpPr>
        <p:spPr>
          <a:xfrm>
            <a:off x="8183880" y="4114800"/>
            <a:ext cx="182880" cy="182880"/>
          </a:xfrm>
          <a:prstGeom prst="ellipse">
            <a:avLst/>
          </a:prstGeom>
          <a:solidFill>
            <a:schemeClr val="accent5"/>
          </a:solidFill>
          <a:ln/>
        </p:spPr>
      </p:sp>
      <p:sp>
        <p:nvSpPr>
          <p:cNvPr id="28" name="text-135"/>
          <p:cNvSpPr txBox="1"/>
          <p:nvPr/>
        </p:nvSpPr>
        <p:spPr>
          <a:xfrm>
            <a:off x="8503920" y="4059936"/>
            <a:ext cx="3154680" cy="256032"/>
          </a:xfrm>
          <a:prstGeom prst="rect">
            <a:avLst/>
          </a:prstGeom>
          <a:noFill/>
          <a:ln/>
        </p:spPr>
        <p:txBody>
          <a:bodyPr wrap="square" lIns="0" tIns="0" rIns="0" bIns="0" rtlCol="0" anchor="t"/>
          <a:lstStyle/>
          <a:p>
            <a:pPr indent="0" marL="0">
              <a:buNone/>
            </a:pPr>
            <a:r>
              <a:rPr lang="en-US" sz="1300" b="1" dirty="0">
                <a:solidFill>
                  <a:schemeClr val="tx1"/>
                </a:solidFill>
              </a:rPr>
              <a:t>Product-led only</a:t>
            </a:r>
            <a:endParaRPr lang="en-US" sz="1300" dirty="0"/>
          </a:p>
        </p:txBody>
      </p:sp>
      <p:sp>
        <p:nvSpPr>
          <p:cNvPr id="29" name="text-136"/>
          <p:cNvSpPr txBox="1"/>
          <p:nvPr/>
        </p:nvSpPr>
        <p:spPr>
          <a:xfrm>
            <a:off x="8503920" y="4315968"/>
            <a:ext cx="3154680" cy="292608"/>
          </a:xfrm>
          <a:prstGeom prst="rect">
            <a:avLst/>
          </a:prstGeom>
          <a:noFill/>
          <a:ln/>
        </p:spPr>
        <p:txBody>
          <a:bodyPr wrap="square" lIns="0" tIns="0" rIns="0" bIns="0" rtlCol="0" anchor="t"/>
          <a:lstStyle/>
          <a:p>
            <a:pPr indent="0" marL="0">
              <a:buNone/>
            </a:pPr>
            <a:r>
              <a:rPr lang="en-US" sz="1100" dirty="0">
                <a:solidFill>
                  <a:schemeClr val="tx2"/>
                </a:solidFill>
              </a:rPr>
              <a:t>Entry path only: few builders</a:t>
            </a:r>
            <a:endParaRPr lang="en-US" sz="1100" dirty="0"/>
          </a:p>
        </p:txBody>
      </p:sp>
      <p:sp>
        <p:nvSpPr>
          <p:cNvPr id="30" name="dot-137"/>
          <p:cNvSpPr/>
          <p:nvPr/>
        </p:nvSpPr>
        <p:spPr>
          <a:xfrm>
            <a:off x="8183880" y="4718304"/>
            <a:ext cx="182880" cy="182880"/>
          </a:xfrm>
          <a:prstGeom prst="ellipse">
            <a:avLst/>
          </a:prstGeom>
          <a:solidFill>
            <a:schemeClr val="accent5"/>
          </a:solidFill>
          <a:ln/>
        </p:spPr>
      </p:sp>
      <p:sp>
        <p:nvSpPr>
          <p:cNvPr id="31" name="text-138"/>
          <p:cNvSpPr txBox="1"/>
          <p:nvPr/>
        </p:nvSpPr>
        <p:spPr>
          <a:xfrm>
            <a:off x="8503920" y="4663440"/>
            <a:ext cx="3154680" cy="256032"/>
          </a:xfrm>
          <a:prstGeom prst="rect">
            <a:avLst/>
          </a:prstGeom>
          <a:noFill/>
          <a:ln/>
        </p:spPr>
        <p:txBody>
          <a:bodyPr wrap="square" lIns="0" tIns="0" rIns="0" bIns="0" rtlCol="0" anchor="t"/>
          <a:lstStyle/>
          <a:p>
            <a:pPr indent="0" marL="0">
              <a:buNone/>
            </a:pPr>
            <a:r>
              <a:rPr lang="en-US" sz="1300" b="1" dirty="0">
                <a:solidFill>
                  <a:schemeClr val="tx1"/>
                </a:solidFill>
              </a:rPr>
              <a:t>Partner-led only</a:t>
            </a:r>
            <a:endParaRPr lang="en-US" sz="1300" dirty="0"/>
          </a:p>
        </p:txBody>
      </p:sp>
      <p:sp>
        <p:nvSpPr>
          <p:cNvPr id="32" name="text-139"/>
          <p:cNvSpPr txBox="1"/>
          <p:nvPr/>
        </p:nvSpPr>
        <p:spPr>
          <a:xfrm>
            <a:off x="8503920" y="4919472"/>
            <a:ext cx="3154680" cy="292608"/>
          </a:xfrm>
          <a:prstGeom prst="rect">
            <a:avLst/>
          </a:prstGeom>
          <a:noFill/>
          <a:ln/>
        </p:spPr>
        <p:txBody>
          <a:bodyPr wrap="square" lIns="0" tIns="0" rIns="0" bIns="0" rtlCol="0" anchor="t"/>
          <a:lstStyle/>
          <a:p>
            <a:pPr indent="0" marL="0">
              <a:buNone/>
            </a:pPr>
            <a:r>
              <a:rPr lang="en-US" sz="1100" dirty="0">
                <a:solidFill>
                  <a:schemeClr val="tx2"/>
                </a:solidFill>
              </a:rPr>
              <a:t>Partners must be recruited; can't close enterprise</a:t>
            </a:r>
            <a:endParaRPr lang="en-US" sz="1100" dirty="0"/>
          </a:p>
        </p:txBody>
      </p:sp>
      <p:sp>
        <p:nvSpPr>
          <p:cNvPr id="33" name="dot-140"/>
          <p:cNvSpPr/>
          <p:nvPr/>
        </p:nvSpPr>
        <p:spPr>
          <a:xfrm>
            <a:off x="8183880" y="5321808"/>
            <a:ext cx="182880" cy="182880"/>
          </a:xfrm>
          <a:prstGeom prst="ellipse">
            <a:avLst/>
          </a:prstGeom>
          <a:solidFill>
            <a:schemeClr val="accent4"/>
          </a:solidFill>
          <a:ln/>
        </p:spPr>
      </p:sp>
      <p:sp>
        <p:nvSpPr>
          <p:cNvPr id="34" name="text-141"/>
          <p:cNvSpPr txBox="1"/>
          <p:nvPr/>
        </p:nvSpPr>
        <p:spPr>
          <a:xfrm>
            <a:off x="8503920" y="5266944"/>
            <a:ext cx="3154680" cy="256032"/>
          </a:xfrm>
          <a:prstGeom prst="rect">
            <a:avLst/>
          </a:prstGeom>
          <a:noFill/>
          <a:ln/>
        </p:spPr>
        <p:txBody>
          <a:bodyPr wrap="square" lIns="0" tIns="0" rIns="0" bIns="0" rtlCol="0" anchor="t"/>
          <a:lstStyle/>
          <a:p>
            <a:pPr indent="0" marL="0">
              <a:buNone/>
            </a:pPr>
            <a:r>
              <a:rPr lang="en-US" sz="1300" b="1" dirty="0">
                <a:solidFill>
                  <a:schemeClr val="tx1"/>
                </a:solidFill>
              </a:rPr>
              <a:t>Hybrid</a:t>
            </a:r>
            <a:endParaRPr lang="en-US" sz="1300" dirty="0"/>
          </a:p>
        </p:txBody>
      </p:sp>
      <p:sp>
        <p:nvSpPr>
          <p:cNvPr id="35" name="text-142"/>
          <p:cNvSpPr txBox="1"/>
          <p:nvPr/>
        </p:nvSpPr>
        <p:spPr>
          <a:xfrm>
            <a:off x="8503920" y="5522976"/>
            <a:ext cx="3154680" cy="292608"/>
          </a:xfrm>
          <a:prstGeom prst="rect">
            <a:avLst/>
          </a:prstGeom>
          <a:noFill/>
          <a:ln/>
        </p:spPr>
        <p:txBody>
          <a:bodyPr wrap="square" lIns="0" tIns="0" rIns="0" bIns="0" rtlCol="0" anchor="t"/>
          <a:lstStyle/>
          <a:p>
            <a:pPr indent="0" marL="0">
              <a:buNone/>
            </a:pPr>
            <a:r>
              <a:rPr lang="en-US" sz="1100" dirty="0">
                <a:solidFill>
                  <a:schemeClr val="tx2"/>
                </a:solidFill>
              </a:rPr>
              <a:t>Recommended</a:t>
            </a:r>
            <a:endParaRPr lang="en-US" sz="11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 dedicated sales team adds ~$4.5M of cost and no ARR; the lean pilot pays back only in the Upside case</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 07_Financial_Model.xlsx — quarterly funnel model, Q1 2027–Q4 2029; usage-based ACV from Clay list prices (S01); benchmarks S43–S50. Payback = CAC ÷ monthly gross profit per new customer. Scenario estimates [C/D].</a:t>
            </a:r>
            <a:endParaRPr lang="en-US" sz="1000" dirty="0"/>
          </a:p>
        </p:txBody>
      </p:sp>
      <p:graphicFrame>
        <p:nvGraphicFramePr>
          <p:cNvPr id="4" name="chart-143" descr=""/>
          <p:cNvGraphicFramePr/>
          <p:nvPr/>
        </p:nvGraphicFramePr>
        <p:xfrm>
          <a:off x="502920" y="1325880"/>
          <a:ext cx="5394960" cy="4206240"/>
        </p:xfrm>
        <a:graphic xmlns:a="http://schemas.openxmlformats.org/drawingml/2006/main">
          <a:graphicData uri="http://schemas.openxmlformats.org/drawingml/2006/chart">
            <c:chart xmlns:c="http://schemas.openxmlformats.org/drawingml/2006/chart" r:id="rId1"/>
          </a:graphicData>
        </a:graphic>
      </p:graphicFrame>
      <p:sp>
        <p:nvSpPr>
          <p:cNvPr id="5" name="chip-144"/>
          <p:cNvSpPr/>
          <p:nvPr/>
        </p:nvSpPr>
        <p:spPr>
          <a:xfrm>
            <a:off x="502920" y="5623560"/>
            <a:ext cx="3840480" cy="274320"/>
          </a:xfrm>
          <a:prstGeom prst="roundRect">
            <a:avLst>
              <a:gd name="adj" fmla="val 26667"/>
            </a:avLst>
          </a:prstGeom>
          <a:solidFill>
            <a:schemeClr val="accent2"/>
          </a:solidFill>
          <a:ln/>
        </p:spPr>
      </p:sp>
      <p:sp>
        <p:nvSpPr>
          <p:cNvPr id="6" name="text-145"/>
          <p:cNvSpPr txBox="1"/>
          <p:nvPr/>
        </p:nvSpPr>
        <p:spPr>
          <a:xfrm>
            <a:off x="502920" y="5623560"/>
            <a:ext cx="3840480" cy="274320"/>
          </a:xfrm>
          <a:prstGeom prst="rect">
            <a:avLst/>
          </a:prstGeom>
          <a:noFill/>
          <a:ln/>
        </p:spPr>
        <p:txBody>
          <a:bodyPr wrap="square" lIns="0" tIns="0" rIns="0" bIns="0" rtlCol="0" anchor="ctr"/>
          <a:lstStyle/>
          <a:p>
            <a:pPr algn="ctr" indent="0" marL="0">
              <a:buNone/>
            </a:pPr>
            <a:r>
              <a:rPr lang="en-US" sz="1000" b="1" dirty="0">
                <a:solidFill>
                  <a:schemeClr val="bg1"/>
                </a:solidFill>
              </a:rPr>
              <a:t>Illustrative scenario outputs [C/D] — not Clay forecasts</a:t>
            </a:r>
            <a:endParaRPr lang="en-US" sz="1000" dirty="0"/>
          </a:p>
        </p:txBody>
      </p:sp>
      <p:graphicFrame>
        <p:nvGraphicFramePr>
          <p:cNvPr id="11" name="table-146"/>
          <p:cNvGraphicFramePr>
            <a:graphicFrameLocks noGrp="1"/>
          </p:cNvGraphicFramePr>
          <p:nvPr>
            <p:extLst>
              <p:ext uri="{D42A27DB-BD31-4B8C-83A1-F6EECF244321}">
                <p14:modId xmlns:p14="http://schemas.microsoft.com/office/powerpoint/2010/main" val="1579011935"/>
              </p:ext>
            </p:extLst>
          </p:nvPr>
        </p:nvGraphicFramePr>
        <p:xfrm>
          <a:off x="6172200" y="1371600"/>
          <a:ext cx="5513832" cy="914400"/>
        </p:xfrm>
        <a:graphic>
          <a:graphicData uri="http://schemas.openxmlformats.org/drawingml/2006/table">
            <a:tbl>
              <a:tblPr/>
              <a:tblGrid>
                <a:gridCol w="1783080"/>
                <a:gridCol w="932688"/>
                <a:gridCol w="859536"/>
                <a:gridCol w="969264"/>
                <a:gridCol w="969264"/>
              </a:tblGrid>
              <a:tr h="42976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Downside, stopped Q4 27</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Base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Upside + 2 AEs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5532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Sales-led team, Base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429768">
                <a:tc>
                  <a:txBody>
                    <a:bodyPr/>
                    <a:lstStyle/>
                    <a:p>
                      <a:pPr indent="0" marL="0">
                        <a:buNone/>
                      </a:pPr>
                      <a:r>
                        <a:rPr lang="en-US" sz="1100" b="1" dirty="0">
                          <a:solidFill>
                            <a:srgbClr val="1B2433"/>
                          </a:solidFill>
                          <a:latin typeface="Arial" pitchFamily="34" charset="0"/>
                          <a:ea typeface="Arial" pitchFamily="34" charset="-122"/>
                          <a:cs typeface="Arial" pitchFamily="34" charset="-120"/>
                        </a:rPr>
                        <a:t>Exit ARR, Q4 2029</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$6K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$0.86M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$6.01M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$0.86M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29768">
                <a:tc>
                  <a:txBody>
                    <a:bodyPr/>
                    <a:lstStyle/>
                    <a:p>
                      <a:pPr indent="0" marL="0">
                        <a:buNone/>
                      </a:pPr>
                      <a:r>
                        <a:rPr lang="en-US" sz="1100" dirty="0">
                          <a:solidFill>
                            <a:srgbClr val="1B2433"/>
                          </a:solidFill>
                          <a:latin typeface="Arial" pitchFamily="34" charset="0"/>
                          <a:ea typeface="Arial" pitchFamily="34" charset="-122"/>
                          <a:cs typeface="Arial" pitchFamily="34" charset="-120"/>
                        </a:rPr>
                        <a:t>Customers, Q4 2029</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&lt;1</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53</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240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53</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29768">
                <a:tc>
                  <a:txBody>
                    <a:bodyPr/>
                    <a:lstStyle/>
                    <a:p>
                      <a:pPr indent="0" marL="0">
                        <a:buNone/>
                      </a:pPr>
                      <a:r>
                        <a:rPr lang="en-US" sz="1100" dirty="0">
                          <a:solidFill>
                            <a:srgbClr val="1B2433"/>
                          </a:solidFill>
                          <a:latin typeface="Arial" pitchFamily="34" charset="0"/>
                          <a:ea typeface="Arial" pitchFamily="34" charset="-122"/>
                          <a:cs typeface="Arial" pitchFamily="34" charset="-120"/>
                        </a:rPr>
                        <a:t>Avg first-year ACV</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$10.4K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$13.8K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$19.4K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$13.8K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29768">
                <a:tc>
                  <a:txBody>
                    <a:bodyPr/>
                    <a:lstStyle/>
                    <a:p>
                      <a:pPr indent="0" marL="0">
                        <a:buNone/>
                      </a:pPr>
                      <a:r>
                        <a:rPr lang="en-US" sz="1100" dirty="0">
                          <a:solidFill>
                            <a:srgbClr val="1B2433"/>
                          </a:solidFill>
                          <a:latin typeface="Arial" pitchFamily="34" charset="0"/>
                          <a:ea typeface="Arial" pitchFamily="34" charset="-122"/>
                          <a:cs typeface="Arial" pitchFamily="34" charset="-120"/>
                        </a:rPr>
                        <a:t>CAC</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n/m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$41K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$18K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$120K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29768">
                <a:tc>
                  <a:txBody>
                    <a:bodyPr/>
                    <a:lstStyle/>
                    <a:p>
                      <a:pPr indent="0" marL="0">
                        <a:buNone/>
                      </a:pPr>
                      <a:r>
                        <a:rPr lang="en-US" sz="1100" dirty="0">
                          <a:solidFill>
                            <a:srgbClr val="1B2433"/>
                          </a:solidFill>
                          <a:latin typeface="Arial" pitchFamily="34" charset="0"/>
                          <a:ea typeface="Arial" pitchFamily="34" charset="-122"/>
                          <a:cs typeface="Arial" pitchFamily="34" charset="-120"/>
                        </a:rPr>
                        <a:t>CAC payback, 2029 cohort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n/m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37 mo</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12 mo</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108 mo</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29768">
                <a:tc>
                  <a:txBody>
                    <a:bodyPr/>
                    <a:lstStyle/>
                    <a:p>
                      <a:pPr indent="0" marL="0">
                        <a:buNone/>
                      </a:pPr>
                      <a:r>
                        <a:rPr lang="en-US" sz="1100" b="1" dirty="0">
                          <a:solidFill>
                            <a:srgbClr val="1B2433"/>
                          </a:solidFill>
                          <a:latin typeface="Arial" pitchFamily="34" charset="0"/>
                          <a:ea typeface="Arial" pitchFamily="34" charset="-122"/>
                          <a:cs typeface="Arial" pitchFamily="34" charset="-120"/>
                        </a:rPr>
                        <a:t>Cumulative P&amp;L 2027–29</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−$0.98M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−$2.68M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−$1.90M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−$7.22M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29768">
                <a:tc>
                  <a:txBody>
                    <a:bodyPr/>
                    <a:lstStyle/>
                    <a:p>
                      <a:pPr indent="0" marL="0">
                        <a:buNone/>
                      </a:pPr>
                      <a:r>
                        <a:rPr lang="en-US" sz="1100" dirty="0">
                          <a:solidFill>
                            <a:srgbClr val="1B2433"/>
                          </a:solidFill>
                          <a:latin typeface="Arial" pitchFamily="34" charset="0"/>
                          <a:ea typeface="Arial" pitchFamily="34" charset="-122"/>
                          <a:cs typeface="Arial" pitchFamily="34" charset="-120"/>
                        </a:rPr>
                        <a:t>Peak investment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−$0.98M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−$2.68M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−$2.45M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−$7.22M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8" name="panel-147"/>
          <p:cNvSpPr/>
          <p:nvPr/>
        </p:nvSpPr>
        <p:spPr>
          <a:xfrm>
            <a:off x="6172200" y="4983480"/>
            <a:ext cx="5513832" cy="914400"/>
          </a:xfrm>
          <a:prstGeom prst="rect">
            <a:avLst/>
          </a:prstGeom>
          <a:solidFill>
            <a:schemeClr val="accent1">
              <a:alpha val="9000"/>
            </a:schemeClr>
          </a:solidFill>
          <a:ln/>
        </p:spPr>
      </p:sp>
      <p:sp>
        <p:nvSpPr>
          <p:cNvPr id="9" name="text-148"/>
          <p:cNvSpPr txBox="1"/>
          <p:nvPr/>
        </p:nvSpPr>
        <p:spPr>
          <a:xfrm>
            <a:off x="6355080" y="5074920"/>
            <a:ext cx="5166360" cy="777240"/>
          </a:xfrm>
          <a:prstGeom prst="rect">
            <a:avLst/>
          </a:prstGeom>
          <a:noFill/>
          <a:ln/>
        </p:spPr>
        <p:txBody>
          <a:bodyPr wrap="square" lIns="0" tIns="0" rIns="0" bIns="0" rtlCol="0" anchor="t"/>
          <a:lstStyle/>
          <a:p>
            <a:pPr indent="0" marL="0">
              <a:buNone/>
            </a:pPr>
            <a:r>
              <a:rPr lang="en-US" sz="1300" b="1" dirty="0">
                <a:solidFill>
                  <a:schemeClr val="accent1"/>
                </a:solidFill>
              </a:rPr>
              <a:t>Why  </a:t>
            </a:r>
            <a:pPr indent="0" marL="0">
              <a:buNone/>
            </a:pPr>
            <a:r>
              <a:rPr lang="en-US" sz="1300" dirty="0">
                <a:solidFill>
                  <a:schemeClr val="tx1"/>
                </a:solidFill>
              </a:rPr>
              <a:t>Demand, not sales capacity, is the constraint: extra AEs win nothing in Base. Mid-market ACV of ~$10K at list keeps Base payback near three years.</a:t>
            </a:r>
            <a:endParaRPr lang="en-US" sz="13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ACV per account is the swing factor — the pilot is worth running only with a hard stop</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 07_Financial_Model (Sensitivity: one input at a time between its Downside and Upside values; Scenarios: decision analysis) [C/D]; 09_Implementation_Roadmap risk register. Total value = cumulative P&amp;L + 5 years of gross profit from the 2029 base.</a:t>
            </a:r>
            <a:endParaRPr lang="en-US" sz="1000" dirty="0"/>
          </a:p>
        </p:txBody>
      </p:sp>
      <p:graphicFrame>
        <p:nvGraphicFramePr>
          <p:cNvPr id="4" name="chart-149" descr=""/>
          <p:cNvGraphicFramePr/>
          <p:nvPr/>
        </p:nvGraphicFramePr>
        <p:xfrm>
          <a:off x="502920" y="1325880"/>
          <a:ext cx="5760720" cy="4617720"/>
        </p:xfrm>
        <a:graphic xmlns:a="http://schemas.openxmlformats.org/drawingml/2006/main">
          <a:graphicData uri="http://schemas.openxmlformats.org/drawingml/2006/chart">
            <c:chart xmlns:c="http://schemas.openxmlformats.org/drawingml/2006/chart" r:id="rId1"/>
          </a:graphicData>
        </a:graphic>
      </p:graphicFrame>
      <p:sp>
        <p:nvSpPr>
          <p:cNvPr id="5" name="panel-150"/>
          <p:cNvSpPr/>
          <p:nvPr/>
        </p:nvSpPr>
        <p:spPr>
          <a:xfrm>
            <a:off x="6537960" y="1325880"/>
            <a:ext cx="5148072" cy="2240280"/>
          </a:xfrm>
          <a:prstGeom prst="rect">
            <a:avLst/>
          </a:prstGeom>
          <a:solidFill>
            <a:schemeClr val="bg2"/>
          </a:solidFill>
          <a:ln/>
        </p:spPr>
      </p:sp>
      <p:sp>
        <p:nvSpPr>
          <p:cNvPr id="6" name="text-151"/>
          <p:cNvSpPr txBox="1"/>
          <p:nvPr/>
        </p:nvSpPr>
        <p:spPr>
          <a:xfrm>
            <a:off x="6720840" y="1444752"/>
            <a:ext cx="4754880" cy="292608"/>
          </a:xfrm>
          <a:prstGeom prst="rect">
            <a:avLst/>
          </a:prstGeom>
          <a:noFill/>
          <a:ln/>
        </p:spPr>
        <p:txBody>
          <a:bodyPr wrap="square" lIns="0" tIns="0" rIns="0" bIns="0" rtlCol="0" anchor="t"/>
          <a:lstStyle/>
          <a:p>
            <a:pPr indent="0" marL="0">
              <a:buNone/>
            </a:pPr>
            <a:r>
              <a:rPr lang="en-US" sz="1400" b="1" dirty="0">
                <a:solidFill>
                  <a:schemeClr val="tx1"/>
                </a:solidFill>
              </a:rPr>
              <a:t>Decision analysis (staged pilot)</a:t>
            </a:r>
            <a:endParaRPr lang="en-US" sz="1400" dirty="0"/>
          </a:p>
        </p:txBody>
      </p:sp>
      <p:sp>
        <p:nvSpPr>
          <p:cNvPr id="7" name="text-152"/>
          <p:cNvSpPr txBox="1"/>
          <p:nvPr/>
        </p:nvSpPr>
        <p:spPr>
          <a:xfrm>
            <a:off x="6720840" y="1828800"/>
            <a:ext cx="1600200" cy="45720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+$1.9M</a:t>
            </a:r>
            <a:endParaRPr lang="en-US" sz="2200" dirty="0"/>
          </a:p>
        </p:txBody>
      </p:sp>
      <p:sp>
        <p:nvSpPr>
          <p:cNvPr id="8" name="text-153"/>
          <p:cNvSpPr txBox="1"/>
          <p:nvPr/>
        </p:nvSpPr>
        <p:spPr>
          <a:xfrm>
            <a:off x="6720840" y="2304288"/>
            <a:ext cx="1600200" cy="457200"/>
          </a:xfrm>
          <a:prstGeom prst="rect">
            <a:avLst/>
          </a:prstGeom>
          <a:noFill/>
          <a:ln/>
        </p:spPr>
        <p:txBody>
          <a:bodyPr wrap="square" lIns="0" tIns="0" rIns="0" bIns="0" rtlCol="0" anchor="t"/>
          <a:lstStyle/>
          <a:p>
            <a:pPr indent="0" marL="0">
              <a:buNone/>
            </a:pPr>
            <a:r>
              <a:rPr lang="en-US" sz="1200" dirty="0">
                <a:solidFill>
                  <a:schemeClr val="tx2"/>
                </a:solidFill>
              </a:rPr>
              <a:t>expected total value</a:t>
            </a:r>
            <a:endParaRPr lang="en-US" sz="1200" dirty="0"/>
          </a:p>
        </p:txBody>
      </p:sp>
      <p:sp>
        <p:nvSpPr>
          <p:cNvPr id="9" name="text-154"/>
          <p:cNvSpPr txBox="1"/>
          <p:nvPr/>
        </p:nvSpPr>
        <p:spPr>
          <a:xfrm>
            <a:off x="8412480" y="1828800"/>
            <a:ext cx="16002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7%</a:t>
            </a:r>
            <a:endParaRPr lang="en-US" sz="2200" dirty="0"/>
          </a:p>
        </p:txBody>
      </p:sp>
      <p:sp>
        <p:nvSpPr>
          <p:cNvPr id="10" name="text-155"/>
          <p:cNvSpPr txBox="1"/>
          <p:nvPr/>
        </p:nvSpPr>
        <p:spPr>
          <a:xfrm>
            <a:off x="8412480" y="2304288"/>
            <a:ext cx="1600200" cy="457200"/>
          </a:xfrm>
          <a:prstGeom prst="rect">
            <a:avLst/>
          </a:prstGeom>
          <a:noFill/>
          <a:ln/>
        </p:spPr>
        <p:txBody>
          <a:bodyPr wrap="square" lIns="0" tIns="0" rIns="0" bIns="0" rtlCol="0" anchor="t"/>
          <a:lstStyle/>
          <a:p>
            <a:pPr indent="0" marL="0">
              <a:buNone/>
            </a:pPr>
            <a:r>
              <a:rPr lang="en-US" sz="1200" dirty="0">
                <a:solidFill>
                  <a:schemeClr val="tx2"/>
                </a:solidFill>
              </a:rPr>
              <a:t>break-even probability of Upside</a:t>
            </a:r>
            <a:endParaRPr lang="en-US" sz="1200" dirty="0"/>
          </a:p>
        </p:txBody>
      </p:sp>
      <p:sp>
        <p:nvSpPr>
          <p:cNvPr id="11" name="text-156"/>
          <p:cNvSpPr txBox="1"/>
          <p:nvPr/>
        </p:nvSpPr>
        <p:spPr>
          <a:xfrm>
            <a:off x="10104120" y="1828800"/>
            <a:ext cx="1508760" cy="457200"/>
          </a:xfrm>
          <a:prstGeom prst="rect">
            <a:avLst/>
          </a:prstGeom>
          <a:noFill/>
          <a:ln/>
        </p:spPr>
        <p:txBody>
          <a:bodyPr wrap="square" lIns="0" tIns="0" rIns="0" bIns="0" rtlCol="0" anchor="t"/>
          <a:lstStyle/>
          <a:p>
            <a:pPr indent="0" marL="0">
              <a:buNone/>
            </a:pPr>
            <a:r>
              <a:rPr lang="en-US" sz="2200" b="1" dirty="0">
                <a:solidFill>
                  <a:schemeClr val="accent6"/>
                </a:solidFill>
                <a:latin typeface="Cambria" pitchFamily="34" charset="0"/>
                <a:ea typeface="Cambria" pitchFamily="34" charset="-122"/>
                <a:cs typeface="Cambria" pitchFamily="34" charset="-120"/>
              </a:rPr>
              <a:t>−$1.9M</a:t>
            </a:r>
            <a:endParaRPr lang="en-US" sz="2200" dirty="0"/>
          </a:p>
        </p:txBody>
      </p:sp>
      <p:sp>
        <p:nvSpPr>
          <p:cNvPr id="12" name="text-157"/>
          <p:cNvSpPr txBox="1"/>
          <p:nvPr/>
        </p:nvSpPr>
        <p:spPr>
          <a:xfrm>
            <a:off x="10104120" y="2304288"/>
            <a:ext cx="1508760" cy="457200"/>
          </a:xfrm>
          <a:prstGeom prst="rect">
            <a:avLst/>
          </a:prstGeom>
          <a:noFill/>
          <a:ln/>
        </p:spPr>
        <p:txBody>
          <a:bodyPr wrap="square" lIns="0" tIns="0" rIns="0" bIns="0" rtlCol="0" anchor="t"/>
          <a:lstStyle/>
          <a:p>
            <a:pPr indent="0" marL="0">
              <a:buNone/>
            </a:pPr>
            <a:r>
              <a:rPr lang="en-US" sz="1200" dirty="0">
                <a:solidFill>
                  <a:schemeClr val="tx2"/>
                </a:solidFill>
              </a:rPr>
              <a:t>expected cash P&amp;L, 2027–29</a:t>
            </a:r>
            <a:endParaRPr lang="en-US" sz="1200" dirty="0"/>
          </a:p>
        </p:txBody>
      </p:sp>
      <p:sp>
        <p:nvSpPr>
          <p:cNvPr id="13" name="text-158"/>
          <p:cNvSpPr txBox="1"/>
          <p:nvPr/>
        </p:nvSpPr>
        <p:spPr>
          <a:xfrm>
            <a:off x="6720840" y="2834640"/>
            <a:ext cx="4800600" cy="685800"/>
          </a:xfrm>
          <a:prstGeom prst="rect">
            <a:avLst/>
          </a:prstGeom>
          <a:noFill/>
          <a:ln/>
        </p:spPr>
        <p:txBody>
          <a:bodyPr wrap="square" lIns="0" tIns="0" rIns="0" bIns="0" rtlCol="0" anchor="t"/>
          <a:lstStyle/>
          <a:p>
            <a:pPr indent="0" marL="0">
              <a:buNone/>
            </a:pPr>
            <a:r>
              <a:rPr lang="en-US" sz="1100" dirty="0">
                <a:solidFill>
                  <a:schemeClr val="tx2"/>
                </a:solidFill>
              </a:rPr>
              <a:t>Weights 35 / 45 / 20 (Downside / Base / Upside) are judgments [D]. Every scenario is cash-negative through 2029; value rests on the post-2029 customer base and on stopping early.</a:t>
            </a:r>
            <a:endParaRPr lang="en-US" sz="1100" dirty="0"/>
          </a:p>
        </p:txBody>
      </p:sp>
      <p:graphicFrame>
        <p:nvGraphicFramePr>
          <p:cNvPr id="12" name="table-159"/>
          <p:cNvGraphicFramePr>
            <a:graphicFrameLocks noGrp="1"/>
          </p:cNvGraphicFramePr>
          <p:nvPr>
            <p:extLst>
              <p:ext uri="{D42A27DB-BD31-4B8C-83A1-F6EECF244321}">
                <p14:modId xmlns:p14="http://schemas.microsoft.com/office/powerpoint/2010/main" val="1579011935"/>
              </p:ext>
            </p:extLst>
          </p:nvPr>
        </p:nvGraphicFramePr>
        <p:xfrm>
          <a:off x="6537960" y="3749040"/>
          <a:ext cx="5148072" cy="914400"/>
        </p:xfrm>
        <a:graphic>
          <a:graphicData uri="http://schemas.openxmlformats.org/drawingml/2006/table">
            <a:tbl>
              <a:tblPr/>
              <a:tblGrid>
                <a:gridCol w="1783080"/>
                <a:gridCol w="1417320"/>
                <a:gridCol w="1947672"/>
              </a:tblGrid>
              <a:tr h="42976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Top risk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Early signal</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Response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429768">
                <a:tc>
                  <a:txBody>
                    <a:bodyPr/>
                    <a:lstStyle/>
                    <a:p>
                      <a:pPr indent="0" marL="0">
                        <a:buNone/>
                      </a:pPr>
                      <a:r>
                        <a:rPr lang="en-US" sz="1100" dirty="0">
                          <a:solidFill>
                            <a:srgbClr val="1B2433"/>
                          </a:solidFill>
                          <a:latin typeface="Arial" pitchFamily="34" charset="0"/>
                          <a:ea typeface="Arial" pitchFamily="34" charset="-122"/>
                          <a:cs typeface="Arial" pitchFamily="34" charset="-120"/>
                        </a:rPr>
                        <a:t>ACV stuck at the plan floor</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Avg ACV &lt; $12K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Mid-market ICP, credit sizing, multi-workflow kit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29768">
                <a:tc>
                  <a:txBody>
                    <a:bodyPr/>
                    <a:lstStyle/>
                    <a:p>
                      <a:pPr indent="0" marL="0">
                        <a:buNone/>
                      </a:pPr>
                      <a:r>
                        <a:rPr lang="en-US" sz="1100" dirty="0">
                          <a:solidFill>
                            <a:srgbClr val="1B2433"/>
                          </a:solidFill>
                          <a:latin typeface="Arial" pitchFamily="34" charset="0"/>
                          <a:ea typeface="Arial" pitchFamily="34" charset="-122"/>
                          <a:cs typeface="Arial" pitchFamily="34" charset="-120"/>
                        </a:rPr>
                        <a:t>Demand thinner than Base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&lt; 15 opps by Q4 2027</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Gate 1 stop; loss capped ~$1.0M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29768">
                <a:tc>
                  <a:txBody>
                    <a:bodyPr/>
                    <a:lstStyle/>
                    <a:p>
                      <a:pPr indent="0" marL="0">
                        <a:buNone/>
                      </a:pPr>
                      <a:r>
                        <a:rPr lang="en-US" sz="1100" dirty="0">
                          <a:solidFill>
                            <a:srgbClr val="1B2433"/>
                          </a:solidFill>
                          <a:latin typeface="Arial" pitchFamily="34" charset="0"/>
                          <a:ea typeface="Arial" pitchFamily="34" charset="-122"/>
                          <a:cs typeface="Arial" pitchFamily="34" charset="-120"/>
                        </a:rPr>
                        <a:t>Too few productive partners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&lt; 4 producing partners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Recruit ERP/CRM implementers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29768">
                <a:tc>
                  <a:txBody>
                    <a:bodyPr/>
                    <a:lstStyle/>
                    <a:p>
                      <a:pPr indent="0" marL="0">
                        <a:buNone/>
                      </a:pPr>
                      <a:r>
                        <a:rPr lang="en-US" sz="1100" dirty="0">
                          <a:solidFill>
                            <a:srgbClr val="1B2433"/>
                          </a:solidFill>
                          <a:latin typeface="Arial" pitchFamily="34" charset="0"/>
                          <a:ea typeface="Arial" pitchFamily="34" charset="-122"/>
                          <a:cs typeface="Arial" pitchFamily="34" charset="-120"/>
                        </a:rPr>
                        <a:t>Coverage edge smaller than proxy</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Match uplift &lt; 1.5×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Gate 0 No-Go</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Four gates cap the downside at ~$1.0M and tie every scale-up step to evidence</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 09_Implementation_Roadmap — gate thresholds derived from the 07 scenario runs [E]; owners are business functions, not Clay's actual org structure.</a:t>
            </a:r>
            <a:endParaRPr lang="en-US" sz="1000" dirty="0"/>
          </a:p>
        </p:txBody>
      </p:sp>
      <p:sp>
        <p:nvSpPr>
          <p:cNvPr id="4" name="panel-160"/>
          <p:cNvSpPr/>
          <p:nvPr/>
        </p:nvSpPr>
        <p:spPr>
          <a:xfrm>
            <a:off x="502920" y="1325880"/>
            <a:ext cx="2697480" cy="658368"/>
          </a:xfrm>
          <a:prstGeom prst="rect">
            <a:avLst/>
          </a:prstGeom>
          <a:solidFill>
            <a:schemeClr val="bg2"/>
          </a:solidFill>
          <a:ln/>
        </p:spPr>
      </p:sp>
      <p:sp>
        <p:nvSpPr>
          <p:cNvPr id="5" name="text-161"/>
          <p:cNvSpPr txBox="1"/>
          <p:nvPr/>
        </p:nvSpPr>
        <p:spPr>
          <a:xfrm>
            <a:off x="612648" y="1389888"/>
            <a:ext cx="2478024" cy="548640"/>
          </a:xfrm>
          <a:prstGeom prst="rect">
            <a:avLst/>
          </a:prstGeom>
          <a:noFill/>
          <a:ln/>
        </p:spPr>
        <p:txBody>
          <a:bodyPr wrap="square" lIns="0" tIns="0" rIns="0" bIns="0" rtlCol="0" anchor="t"/>
          <a:lstStyle/>
          <a:p>
            <a:pPr indent="0" marL="0">
              <a:buNone/>
            </a:pPr>
            <a:r>
              <a:rPr lang="en-US" sz="1300" b="1" dirty="0">
                <a:solidFill>
                  <a:schemeClr val="accent1"/>
                </a:solidFill>
              </a:rPr>
              <a:t>Q4 2026  </a:t>
            </a:r>
            <a:pPr indent="0" marL="0">
              <a:buNone/>
            </a:pPr>
            <a:r>
              <a:rPr lang="en-US" sz="1300" b="1" dirty="0">
                <a:solidFill>
                  <a:schemeClr val="tx1"/>
                </a:solidFill>
              </a:rPr>
              <a:t>Validate</a:t>
            </a:r>
            <a:endParaRPr lang="en-US" sz="1300" dirty="0"/>
          </a:p>
          <a:p>
            <a:pPr indent="0" marL="0">
              <a:buNone/>
            </a:pPr>
            <a:r>
              <a:rPr lang="en-US" sz="1100" dirty="0">
                <a:solidFill>
                  <a:schemeClr val="tx2"/>
                </a:solidFill>
              </a:rPr>
              <a:t>staff time only</a:t>
            </a:r>
            <a:endParaRPr lang="en-US" sz="1300" dirty="0"/>
          </a:p>
        </p:txBody>
      </p:sp>
      <p:sp>
        <p:nvSpPr>
          <p:cNvPr id="6" name="gate-162"/>
          <p:cNvSpPr/>
          <p:nvPr/>
        </p:nvSpPr>
        <p:spPr>
          <a:xfrm>
            <a:off x="502920" y="2167128"/>
            <a:ext cx="292608" cy="292608"/>
          </a:xfrm>
          <a:prstGeom prst="diamond">
            <a:avLst/>
          </a:prstGeom>
          <a:solidFill>
            <a:schemeClr val="accent1"/>
          </a:solidFill>
          <a:ln/>
        </p:spPr>
      </p:sp>
      <p:sp>
        <p:nvSpPr>
          <p:cNvPr id="7" name="text-163"/>
          <p:cNvSpPr txBox="1"/>
          <p:nvPr/>
        </p:nvSpPr>
        <p:spPr>
          <a:xfrm>
            <a:off x="886968" y="2148840"/>
            <a:ext cx="2286000" cy="329184"/>
          </a:xfrm>
          <a:prstGeom prst="rect">
            <a:avLst/>
          </a:prstGeom>
          <a:noFill/>
          <a:ln/>
        </p:spPr>
        <p:txBody>
          <a:bodyPr wrap="square" lIns="0" tIns="0" rIns="0" bIns="0" rtlCol="0" anchor="ctr"/>
          <a:lstStyle/>
          <a:p>
            <a:pPr indent="0" marL="0">
              <a:buNone/>
            </a:pPr>
            <a:r>
              <a:rPr lang="en-US" sz="1300" b="1" dirty="0">
                <a:solidFill>
                  <a:schemeClr val="tx1"/>
                </a:solidFill>
              </a:rPr>
              <a:t>Gate 0 · Jan 2027</a:t>
            </a:r>
            <a:endParaRPr lang="en-US" sz="1300" dirty="0"/>
          </a:p>
        </p:txBody>
      </p:sp>
      <p:sp>
        <p:nvSpPr>
          <p:cNvPr id="8" name="card-164"/>
          <p:cNvSpPr/>
          <p:nvPr/>
        </p:nvSpPr>
        <p:spPr>
          <a:xfrm>
            <a:off x="502920" y="2587752"/>
            <a:ext cx="2697480" cy="1691640"/>
          </a:xfrm>
          <a:prstGeom prst="roundRect">
            <a:avLst>
              <a:gd name="adj" fmla="val 3243"/>
            </a:avLst>
          </a:prstGeom>
          <a:solidFill>
            <a:schemeClr val="bg2"/>
          </a:solidFill>
          <a:ln/>
        </p:spPr>
      </p:sp>
      <p:sp>
        <p:nvSpPr>
          <p:cNvPr id="9" name="text-165"/>
          <p:cNvSpPr txBox="1"/>
          <p:nvPr/>
        </p:nvSpPr>
        <p:spPr>
          <a:xfrm>
            <a:off x="640080" y="2697480"/>
            <a:ext cx="2423160" cy="274320"/>
          </a:xfrm>
          <a:prstGeom prst="rect">
            <a:avLst/>
          </a:prstGeom>
          <a:noFill/>
          <a:ln/>
        </p:spPr>
        <p:txBody>
          <a:bodyPr wrap="square" lIns="0" tIns="0" rIns="0" bIns="0" rtlCol="0" anchor="t"/>
          <a:lstStyle/>
          <a:p>
            <a:pPr indent="0" marL="0">
              <a:buNone/>
            </a:pPr>
            <a:r>
              <a:rPr lang="en-US" sz="1300" b="1" dirty="0">
                <a:solidFill>
                  <a:schemeClr val="accent1"/>
                </a:solidFill>
              </a:rPr>
              <a:t>Launch?</a:t>
            </a:r>
            <a:endParaRPr lang="en-US" sz="1300" dirty="0"/>
          </a:p>
        </p:txBody>
      </p:sp>
      <p:sp>
        <p:nvSpPr>
          <p:cNvPr id="10" name="text-166"/>
          <p:cNvSpPr txBox="1"/>
          <p:nvPr/>
        </p:nvSpPr>
        <p:spPr>
          <a:xfrm>
            <a:off x="640080" y="3017520"/>
            <a:ext cx="2423160" cy="1188720"/>
          </a:xfrm>
          <a:prstGeom prst="rect">
            <a:avLst/>
          </a:prstGeom>
          <a:noFill/>
          <a:ln/>
        </p:spPr>
        <p:txBody>
          <a:bodyPr wrap="square" lIns="0" tIns="0" rIns="0" bIns="0" rtlCol="0" anchor="t"/>
          <a:lstStyle/>
          <a:p>
            <a:pPr indent="0" marL="0">
              <a:buNone/>
            </a:pPr>
            <a:r>
              <a:rPr lang="en-US" sz="1200" dirty="0">
                <a:solidFill>
                  <a:schemeClr val="tx2"/>
                </a:solidFill>
              </a:rPr>
              <a:t>Match rate ≥ 1.5× best single database · ≥ 3 paid design partners (100+ staff) · ≥ 2 implementation partners</a:t>
            </a:r>
            <a:endParaRPr lang="en-US" sz="1200" dirty="0"/>
          </a:p>
        </p:txBody>
      </p:sp>
      <p:sp>
        <p:nvSpPr>
          <p:cNvPr id="11" name="panel-167"/>
          <p:cNvSpPr/>
          <p:nvPr/>
        </p:nvSpPr>
        <p:spPr>
          <a:xfrm>
            <a:off x="3319272" y="1325880"/>
            <a:ext cx="2697480" cy="658368"/>
          </a:xfrm>
          <a:prstGeom prst="rect">
            <a:avLst/>
          </a:prstGeom>
          <a:solidFill>
            <a:schemeClr val="accent1">
              <a:alpha val="12000"/>
            </a:schemeClr>
          </a:solidFill>
          <a:ln/>
        </p:spPr>
      </p:sp>
      <p:sp>
        <p:nvSpPr>
          <p:cNvPr id="12" name="text-168"/>
          <p:cNvSpPr txBox="1"/>
          <p:nvPr/>
        </p:nvSpPr>
        <p:spPr>
          <a:xfrm>
            <a:off x="3429000" y="1389888"/>
            <a:ext cx="2478024" cy="548640"/>
          </a:xfrm>
          <a:prstGeom prst="rect">
            <a:avLst/>
          </a:prstGeom>
          <a:noFill/>
          <a:ln/>
        </p:spPr>
        <p:txBody>
          <a:bodyPr wrap="square" lIns="0" tIns="0" rIns="0" bIns="0" rtlCol="0" anchor="t"/>
          <a:lstStyle/>
          <a:p>
            <a:pPr indent="0" marL="0">
              <a:buNone/>
            </a:pPr>
            <a:r>
              <a:rPr lang="en-US" sz="1300" b="1" dirty="0">
                <a:solidFill>
                  <a:schemeClr val="accent1"/>
                </a:solidFill>
              </a:rPr>
              <a:t>2027  </a:t>
            </a:r>
            <a:pPr indent="0" marL="0">
              <a:buNone/>
            </a:pPr>
            <a:r>
              <a:rPr lang="en-US" sz="1300" b="1" dirty="0">
                <a:solidFill>
                  <a:schemeClr val="tx1"/>
                </a:solidFill>
              </a:rPr>
              <a:t>Pilot wave 1: electrical</a:t>
            </a:r>
            <a:endParaRPr lang="en-US" sz="1300" dirty="0"/>
          </a:p>
          <a:p>
            <a:pPr indent="0" marL="0">
              <a:buNone/>
            </a:pPr>
            <a:r>
              <a:rPr lang="en-US" sz="1100" dirty="0">
                <a:solidFill>
                  <a:schemeClr val="tx2"/>
                </a:solidFill>
              </a:rPr>
              <a:t>budget cap $1.1M</a:t>
            </a:r>
            <a:endParaRPr lang="en-US" sz="1300" dirty="0"/>
          </a:p>
        </p:txBody>
      </p:sp>
      <p:sp>
        <p:nvSpPr>
          <p:cNvPr id="13" name="gate-169"/>
          <p:cNvSpPr/>
          <p:nvPr/>
        </p:nvSpPr>
        <p:spPr>
          <a:xfrm>
            <a:off x="3319272" y="2167128"/>
            <a:ext cx="292608" cy="292608"/>
          </a:xfrm>
          <a:prstGeom prst="diamond">
            <a:avLst/>
          </a:prstGeom>
          <a:solidFill>
            <a:schemeClr val="accent1"/>
          </a:solidFill>
          <a:ln/>
        </p:spPr>
      </p:sp>
      <p:sp>
        <p:nvSpPr>
          <p:cNvPr id="14" name="text-170"/>
          <p:cNvSpPr txBox="1"/>
          <p:nvPr/>
        </p:nvSpPr>
        <p:spPr>
          <a:xfrm>
            <a:off x="3703320" y="2148840"/>
            <a:ext cx="2286000" cy="329184"/>
          </a:xfrm>
          <a:prstGeom prst="rect">
            <a:avLst/>
          </a:prstGeom>
          <a:noFill/>
          <a:ln/>
        </p:spPr>
        <p:txBody>
          <a:bodyPr wrap="square" lIns="0" tIns="0" rIns="0" bIns="0" rtlCol="0" anchor="ctr"/>
          <a:lstStyle/>
          <a:p>
            <a:pPr indent="0" marL="0">
              <a:buNone/>
            </a:pPr>
            <a:r>
              <a:rPr lang="en-US" sz="1300" b="1" dirty="0">
                <a:solidFill>
                  <a:schemeClr val="tx1"/>
                </a:solidFill>
              </a:rPr>
              <a:t>Gate 1 · Q4 2027</a:t>
            </a:r>
            <a:endParaRPr lang="en-US" sz="1300" dirty="0"/>
          </a:p>
        </p:txBody>
      </p:sp>
      <p:sp>
        <p:nvSpPr>
          <p:cNvPr id="15" name="card-171"/>
          <p:cNvSpPr/>
          <p:nvPr/>
        </p:nvSpPr>
        <p:spPr>
          <a:xfrm>
            <a:off x="3319272" y="2587752"/>
            <a:ext cx="2697480" cy="1691640"/>
          </a:xfrm>
          <a:prstGeom prst="roundRect">
            <a:avLst>
              <a:gd name="adj" fmla="val 3243"/>
            </a:avLst>
          </a:prstGeom>
          <a:solidFill>
            <a:schemeClr val="bg2"/>
          </a:solidFill>
          <a:ln/>
        </p:spPr>
      </p:sp>
      <p:sp>
        <p:nvSpPr>
          <p:cNvPr id="16" name="text-172"/>
          <p:cNvSpPr txBox="1"/>
          <p:nvPr/>
        </p:nvSpPr>
        <p:spPr>
          <a:xfrm>
            <a:off x="3456432" y="2697480"/>
            <a:ext cx="2423160" cy="274320"/>
          </a:xfrm>
          <a:prstGeom prst="rect">
            <a:avLst/>
          </a:prstGeom>
          <a:noFill/>
          <a:ln/>
        </p:spPr>
        <p:txBody>
          <a:bodyPr wrap="square" lIns="0" tIns="0" rIns="0" bIns="0" rtlCol="0" anchor="t"/>
          <a:lstStyle/>
          <a:p>
            <a:pPr indent="0" marL="0">
              <a:buNone/>
            </a:pPr>
            <a:r>
              <a:rPr lang="en-US" sz="1300" b="1" dirty="0">
                <a:solidFill>
                  <a:schemeClr val="accent1"/>
                </a:solidFill>
              </a:rPr>
              <a:t>Stop / lean / scale</a:t>
            </a:r>
            <a:endParaRPr lang="en-US" sz="1300" dirty="0"/>
          </a:p>
        </p:txBody>
      </p:sp>
      <p:sp>
        <p:nvSpPr>
          <p:cNvPr id="17" name="text-173"/>
          <p:cNvSpPr txBox="1"/>
          <p:nvPr/>
        </p:nvSpPr>
        <p:spPr>
          <a:xfrm>
            <a:off x="3456432" y="3017520"/>
            <a:ext cx="2423160" cy="1188720"/>
          </a:xfrm>
          <a:prstGeom prst="rect">
            <a:avLst/>
          </a:prstGeom>
          <a:noFill/>
          <a:ln/>
        </p:spPr>
        <p:txBody>
          <a:bodyPr wrap="square" lIns="0" tIns="0" rIns="0" bIns="0" rtlCol="0" anchor="t"/>
          <a:lstStyle/>
          <a:p>
            <a:pPr indent="0" marL="0">
              <a:buNone/>
            </a:pPr>
            <a:r>
              <a:rPr lang="en-US" sz="1200" dirty="0">
                <a:solidFill>
                  <a:schemeClr val="tx2"/>
                </a:solidFill>
              </a:rPr>
              <a:t>Stop if two of: opps &lt; 15, customers &lt; 3, partner leads &lt; 25, ACV &lt; $10K, win rate &lt; 20%. Scale if ACV ≥ $16K, win ≥ 32%, 15+ customers</a:t>
            </a:r>
            <a:endParaRPr lang="en-US" sz="1200" dirty="0"/>
          </a:p>
        </p:txBody>
      </p:sp>
      <p:sp>
        <p:nvSpPr>
          <p:cNvPr id="18" name="panel-174"/>
          <p:cNvSpPr/>
          <p:nvPr/>
        </p:nvSpPr>
        <p:spPr>
          <a:xfrm>
            <a:off x="6135624" y="1325880"/>
            <a:ext cx="2697480" cy="658368"/>
          </a:xfrm>
          <a:prstGeom prst="rect">
            <a:avLst/>
          </a:prstGeom>
          <a:solidFill>
            <a:schemeClr val="bg2"/>
          </a:solidFill>
          <a:ln/>
        </p:spPr>
      </p:sp>
      <p:sp>
        <p:nvSpPr>
          <p:cNvPr id="19" name="text-175"/>
          <p:cNvSpPr txBox="1"/>
          <p:nvPr/>
        </p:nvSpPr>
        <p:spPr>
          <a:xfrm>
            <a:off x="6245352" y="1389888"/>
            <a:ext cx="2478024" cy="548640"/>
          </a:xfrm>
          <a:prstGeom prst="rect">
            <a:avLst/>
          </a:prstGeom>
          <a:noFill/>
          <a:ln/>
        </p:spPr>
        <p:txBody>
          <a:bodyPr wrap="square" lIns="0" tIns="0" rIns="0" bIns="0" rtlCol="0" anchor="t"/>
          <a:lstStyle/>
          <a:p>
            <a:pPr indent="0" marL="0">
              <a:buNone/>
            </a:pPr>
            <a:r>
              <a:rPr lang="en-US" sz="1300" b="1" dirty="0">
                <a:solidFill>
                  <a:schemeClr val="accent1"/>
                </a:solidFill>
              </a:rPr>
              <a:t>2028  </a:t>
            </a:r>
            <a:pPr indent="0" marL="0">
              <a:buNone/>
            </a:pPr>
            <a:r>
              <a:rPr lang="en-US" sz="1300" b="1" dirty="0">
                <a:solidFill>
                  <a:schemeClr val="tx1"/>
                </a:solidFill>
              </a:rPr>
              <a:t>Extend: PHVAC, MRO</a:t>
            </a:r>
            <a:endParaRPr lang="en-US" sz="1300" dirty="0"/>
          </a:p>
          <a:p>
            <a:pPr indent="0" marL="0">
              <a:buNone/>
            </a:pPr>
            <a:r>
              <a:rPr lang="en-US" sz="1100" dirty="0">
                <a:solidFill>
                  <a:schemeClr val="tx2"/>
                </a:solidFill>
              </a:rPr>
              <a:t>AEs only if capacity binds</a:t>
            </a:r>
            <a:endParaRPr lang="en-US" sz="1300" dirty="0"/>
          </a:p>
        </p:txBody>
      </p:sp>
      <p:sp>
        <p:nvSpPr>
          <p:cNvPr id="20" name="gate-176"/>
          <p:cNvSpPr/>
          <p:nvPr/>
        </p:nvSpPr>
        <p:spPr>
          <a:xfrm>
            <a:off x="6135624" y="2167128"/>
            <a:ext cx="292608" cy="292608"/>
          </a:xfrm>
          <a:prstGeom prst="diamond">
            <a:avLst/>
          </a:prstGeom>
          <a:solidFill>
            <a:schemeClr val="accent1"/>
          </a:solidFill>
          <a:ln/>
        </p:spPr>
      </p:sp>
      <p:sp>
        <p:nvSpPr>
          <p:cNvPr id="21" name="text-177"/>
          <p:cNvSpPr txBox="1"/>
          <p:nvPr/>
        </p:nvSpPr>
        <p:spPr>
          <a:xfrm>
            <a:off x="6519672" y="2148840"/>
            <a:ext cx="2286000" cy="329184"/>
          </a:xfrm>
          <a:prstGeom prst="rect">
            <a:avLst/>
          </a:prstGeom>
          <a:noFill/>
          <a:ln/>
        </p:spPr>
        <p:txBody>
          <a:bodyPr wrap="square" lIns="0" tIns="0" rIns="0" bIns="0" rtlCol="0" anchor="ctr"/>
          <a:lstStyle/>
          <a:p>
            <a:pPr indent="0" marL="0">
              <a:buNone/>
            </a:pPr>
            <a:r>
              <a:rPr lang="en-US" sz="1300" b="1" dirty="0">
                <a:solidFill>
                  <a:schemeClr val="tx1"/>
                </a:solidFill>
              </a:rPr>
              <a:t>Gate 2 · Q4 2028</a:t>
            </a:r>
            <a:endParaRPr lang="en-US" sz="1300" dirty="0"/>
          </a:p>
        </p:txBody>
      </p:sp>
      <p:sp>
        <p:nvSpPr>
          <p:cNvPr id="22" name="card-178"/>
          <p:cNvSpPr/>
          <p:nvPr/>
        </p:nvSpPr>
        <p:spPr>
          <a:xfrm>
            <a:off x="6135624" y="2587752"/>
            <a:ext cx="2697480" cy="1691640"/>
          </a:xfrm>
          <a:prstGeom prst="roundRect">
            <a:avLst>
              <a:gd name="adj" fmla="val 3243"/>
            </a:avLst>
          </a:prstGeom>
          <a:solidFill>
            <a:schemeClr val="bg2"/>
          </a:solidFill>
          <a:ln/>
        </p:spPr>
      </p:sp>
      <p:sp>
        <p:nvSpPr>
          <p:cNvPr id="23" name="text-179"/>
          <p:cNvSpPr txBox="1"/>
          <p:nvPr/>
        </p:nvSpPr>
        <p:spPr>
          <a:xfrm>
            <a:off x="6272784" y="2697480"/>
            <a:ext cx="2423160" cy="274320"/>
          </a:xfrm>
          <a:prstGeom prst="rect">
            <a:avLst/>
          </a:prstGeom>
          <a:noFill/>
          <a:ln/>
        </p:spPr>
        <p:txBody>
          <a:bodyPr wrap="square" lIns="0" tIns="0" rIns="0" bIns="0" rtlCol="0" anchor="t"/>
          <a:lstStyle/>
          <a:p>
            <a:pPr indent="0" marL="0">
              <a:buNone/>
            </a:pPr>
            <a:r>
              <a:rPr lang="en-US" sz="1300" b="1" dirty="0">
                <a:solidFill>
                  <a:schemeClr val="accent1"/>
                </a:solidFill>
              </a:rPr>
              <a:t>Scale / hold / sunset</a:t>
            </a:r>
            <a:endParaRPr lang="en-US" sz="1300" dirty="0"/>
          </a:p>
        </p:txBody>
      </p:sp>
      <p:sp>
        <p:nvSpPr>
          <p:cNvPr id="24" name="text-180"/>
          <p:cNvSpPr txBox="1"/>
          <p:nvPr/>
        </p:nvSpPr>
        <p:spPr>
          <a:xfrm>
            <a:off x="6272784" y="3017520"/>
            <a:ext cx="2423160" cy="1188720"/>
          </a:xfrm>
          <a:prstGeom prst="rect">
            <a:avLst/>
          </a:prstGeom>
          <a:noFill/>
          <a:ln/>
        </p:spPr>
        <p:txBody>
          <a:bodyPr wrap="square" lIns="0" tIns="0" rIns="0" bIns="0" rtlCol="0" anchor="t"/>
          <a:lstStyle/>
          <a:p>
            <a:pPr indent="0" marL="0">
              <a:buNone/>
            </a:pPr>
            <a:r>
              <a:rPr lang="en-US" sz="1200" dirty="0">
                <a:solidFill>
                  <a:schemeClr val="tx2"/>
                </a:solidFill>
              </a:rPr>
              <a:t>Scale if 2028-cohort payback ≤ 24 mo and ARR ≥ $1.5M · hold if ARR ≥ $250K and CAC ≤ $55K</a:t>
            </a:r>
            <a:endParaRPr lang="en-US" sz="1200" dirty="0"/>
          </a:p>
        </p:txBody>
      </p:sp>
      <p:sp>
        <p:nvSpPr>
          <p:cNvPr id="25" name="panel-181"/>
          <p:cNvSpPr/>
          <p:nvPr/>
        </p:nvSpPr>
        <p:spPr>
          <a:xfrm>
            <a:off x="8951976" y="1325880"/>
            <a:ext cx="2697480" cy="658368"/>
          </a:xfrm>
          <a:prstGeom prst="rect">
            <a:avLst/>
          </a:prstGeom>
          <a:solidFill>
            <a:schemeClr val="bg2"/>
          </a:solidFill>
          <a:ln/>
        </p:spPr>
      </p:sp>
      <p:sp>
        <p:nvSpPr>
          <p:cNvPr id="26" name="text-182"/>
          <p:cNvSpPr txBox="1"/>
          <p:nvPr/>
        </p:nvSpPr>
        <p:spPr>
          <a:xfrm>
            <a:off x="9061704" y="1389888"/>
            <a:ext cx="2478024" cy="548640"/>
          </a:xfrm>
          <a:prstGeom prst="rect">
            <a:avLst/>
          </a:prstGeom>
          <a:noFill/>
          <a:ln/>
        </p:spPr>
        <p:txBody>
          <a:bodyPr wrap="square" lIns="0" tIns="0" rIns="0" bIns="0" rtlCol="0" anchor="t"/>
          <a:lstStyle/>
          <a:p>
            <a:pPr indent="0" marL="0">
              <a:buNone/>
            </a:pPr>
            <a:r>
              <a:rPr lang="en-US" sz="1300" b="1" dirty="0">
                <a:solidFill>
                  <a:schemeClr val="accent1"/>
                </a:solidFill>
              </a:rPr>
              <a:t>2029  </a:t>
            </a:r>
            <a:pPr indent="0" marL="0">
              <a:buNone/>
            </a:pPr>
            <a:r>
              <a:rPr lang="en-US" sz="1300" b="1" dirty="0">
                <a:solidFill>
                  <a:schemeClr val="tx1"/>
                </a:solidFill>
              </a:rPr>
              <a:t>Scale or harvest</a:t>
            </a:r>
            <a:endParaRPr lang="en-US" sz="1300" dirty="0"/>
          </a:p>
          <a:p>
            <a:pPr indent="0" marL="0">
              <a:buNone/>
            </a:pPr>
            <a:r>
              <a:rPr lang="en-US" sz="1100" dirty="0">
                <a:solidFill>
                  <a:schemeClr val="tx2"/>
                </a:solidFill>
              </a:rPr>
              <a:t>per Gate 2 outcome</a:t>
            </a:r>
            <a:endParaRPr lang="en-US" sz="1300" dirty="0"/>
          </a:p>
        </p:txBody>
      </p:sp>
      <p:sp>
        <p:nvSpPr>
          <p:cNvPr id="27" name="gate-183"/>
          <p:cNvSpPr/>
          <p:nvPr/>
        </p:nvSpPr>
        <p:spPr>
          <a:xfrm>
            <a:off x="8951976" y="2167128"/>
            <a:ext cx="292608" cy="292608"/>
          </a:xfrm>
          <a:prstGeom prst="diamond">
            <a:avLst/>
          </a:prstGeom>
          <a:solidFill>
            <a:schemeClr val="accent1"/>
          </a:solidFill>
          <a:ln/>
        </p:spPr>
      </p:sp>
      <p:sp>
        <p:nvSpPr>
          <p:cNvPr id="28" name="text-184"/>
          <p:cNvSpPr txBox="1"/>
          <p:nvPr/>
        </p:nvSpPr>
        <p:spPr>
          <a:xfrm>
            <a:off x="9336024" y="2148840"/>
            <a:ext cx="2286000" cy="329184"/>
          </a:xfrm>
          <a:prstGeom prst="rect">
            <a:avLst/>
          </a:prstGeom>
          <a:noFill/>
          <a:ln/>
        </p:spPr>
        <p:txBody>
          <a:bodyPr wrap="square" lIns="0" tIns="0" rIns="0" bIns="0" rtlCol="0" anchor="ctr"/>
          <a:lstStyle/>
          <a:p>
            <a:pPr indent="0" marL="0">
              <a:buNone/>
            </a:pPr>
            <a:r>
              <a:rPr lang="en-US" sz="1300" b="1" dirty="0">
                <a:solidFill>
                  <a:schemeClr val="tx1"/>
                </a:solidFill>
              </a:rPr>
              <a:t>Gate 3 · Q4 2029</a:t>
            </a:r>
            <a:endParaRPr lang="en-US" sz="1300" dirty="0"/>
          </a:p>
        </p:txBody>
      </p:sp>
      <p:sp>
        <p:nvSpPr>
          <p:cNvPr id="29" name="card-185"/>
          <p:cNvSpPr/>
          <p:nvPr/>
        </p:nvSpPr>
        <p:spPr>
          <a:xfrm>
            <a:off x="8951976" y="2587752"/>
            <a:ext cx="2697480" cy="1691640"/>
          </a:xfrm>
          <a:prstGeom prst="roundRect">
            <a:avLst>
              <a:gd name="adj" fmla="val 3243"/>
            </a:avLst>
          </a:prstGeom>
          <a:solidFill>
            <a:schemeClr val="bg2"/>
          </a:solidFill>
          <a:ln/>
        </p:spPr>
      </p:sp>
      <p:sp>
        <p:nvSpPr>
          <p:cNvPr id="30" name="text-186"/>
          <p:cNvSpPr txBox="1"/>
          <p:nvPr/>
        </p:nvSpPr>
        <p:spPr>
          <a:xfrm>
            <a:off x="9089136" y="2697480"/>
            <a:ext cx="2423160" cy="274320"/>
          </a:xfrm>
          <a:prstGeom prst="rect">
            <a:avLst/>
          </a:prstGeom>
          <a:noFill/>
          <a:ln/>
        </p:spPr>
        <p:txBody>
          <a:bodyPr wrap="square" lIns="0" tIns="0" rIns="0" bIns="0" rtlCol="0" anchor="t"/>
          <a:lstStyle/>
          <a:p>
            <a:pPr indent="0" marL="0">
              <a:buNone/>
            </a:pPr>
            <a:r>
              <a:rPr lang="en-US" sz="1300" b="1" dirty="0">
                <a:solidFill>
                  <a:schemeClr val="accent1"/>
                </a:solidFill>
              </a:rPr>
              <a:t>Graduate or fold</a:t>
            </a:r>
            <a:endParaRPr lang="en-US" sz="1300" dirty="0"/>
          </a:p>
        </p:txBody>
      </p:sp>
      <p:sp>
        <p:nvSpPr>
          <p:cNvPr id="31" name="text-187"/>
          <p:cNvSpPr txBox="1"/>
          <p:nvPr/>
        </p:nvSpPr>
        <p:spPr>
          <a:xfrm>
            <a:off x="9089136" y="3017520"/>
            <a:ext cx="2423160" cy="1188720"/>
          </a:xfrm>
          <a:prstGeom prst="rect">
            <a:avLst/>
          </a:prstGeom>
          <a:noFill/>
          <a:ln/>
        </p:spPr>
        <p:txBody>
          <a:bodyPr wrap="square" lIns="0" tIns="0" rIns="0" bIns="0" rtlCol="0" anchor="t"/>
          <a:lstStyle/>
          <a:p>
            <a:pPr indent="0" marL="0">
              <a:buNone/>
            </a:pPr>
            <a:r>
              <a:rPr lang="en-US" sz="1200" dirty="0">
                <a:solidFill>
                  <a:schemeClr val="tx2"/>
                </a:solidFill>
              </a:rPr>
              <a:t>Standing vertical if ARR ≥ $3M and payback ≤ 18 months; otherwise fold into the horizontal motion</a:t>
            </a:r>
            <a:endParaRPr lang="en-US" sz="1200" dirty="0"/>
          </a:p>
        </p:txBody>
      </p:sp>
      <p:sp>
        <p:nvSpPr>
          <p:cNvPr id="32" name="text-188"/>
          <p:cNvSpPr txBox="1"/>
          <p:nvPr/>
        </p:nvSpPr>
        <p:spPr>
          <a:xfrm>
            <a:off x="502920" y="4709160"/>
            <a:ext cx="3657600" cy="292608"/>
          </a:xfrm>
          <a:prstGeom prst="rect">
            <a:avLst/>
          </a:prstGeom>
          <a:noFill/>
          <a:ln/>
        </p:spPr>
        <p:txBody>
          <a:bodyPr wrap="square" lIns="0" tIns="0" rIns="0" bIns="0" rtlCol="0" anchor="t"/>
          <a:lstStyle/>
          <a:p>
            <a:pPr indent="0" marL="0">
              <a:buNone/>
            </a:pPr>
            <a:r>
              <a:rPr lang="en-US" sz="1400" b="1" dirty="0">
                <a:solidFill>
                  <a:schemeClr val="tx1"/>
                </a:solidFill>
              </a:rPr>
              <a:t>Next 90 days</a:t>
            </a:r>
            <a:endParaRPr lang="en-US" sz="1400" dirty="0"/>
          </a:p>
        </p:txBody>
      </p:sp>
      <p:sp>
        <p:nvSpPr>
          <p:cNvPr id="33" name="num-189"/>
          <p:cNvSpPr/>
          <p:nvPr/>
        </p:nvSpPr>
        <p:spPr>
          <a:xfrm>
            <a:off x="502920" y="5120640"/>
            <a:ext cx="329184" cy="329184"/>
          </a:xfrm>
          <a:prstGeom prst="ellipse">
            <a:avLst/>
          </a:prstGeom>
          <a:solidFill>
            <a:schemeClr val="tx1"/>
          </a:solidFill>
          <a:ln/>
        </p:spPr>
      </p:sp>
      <p:sp>
        <p:nvSpPr>
          <p:cNvPr id="34" name="text-190"/>
          <p:cNvSpPr txBox="1"/>
          <p:nvPr/>
        </p:nvSpPr>
        <p:spPr>
          <a:xfrm>
            <a:off x="502920" y="51206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35" name="text-191"/>
          <p:cNvSpPr txBox="1"/>
          <p:nvPr/>
        </p:nvSpPr>
        <p:spPr>
          <a:xfrm>
            <a:off x="914400" y="5084064"/>
            <a:ext cx="1737360" cy="548640"/>
          </a:xfrm>
          <a:prstGeom prst="rect">
            <a:avLst/>
          </a:prstGeom>
          <a:noFill/>
          <a:ln/>
        </p:spPr>
        <p:txBody>
          <a:bodyPr wrap="square" lIns="0" tIns="0" rIns="0" bIns="0" rtlCol="0" anchor="t"/>
          <a:lstStyle/>
          <a:p>
            <a:pPr indent="0" marL="0">
              <a:buNone/>
            </a:pPr>
            <a:r>
              <a:rPr lang="en-US" sz="1200" b="1" dirty="0">
                <a:solidFill>
                  <a:schemeClr val="tx1"/>
                </a:solidFill>
              </a:rPr>
              <a:t>15–20 validation interviews</a:t>
            </a:r>
            <a:endParaRPr lang="en-US" sz="1200" dirty="0"/>
          </a:p>
        </p:txBody>
      </p:sp>
      <p:sp>
        <p:nvSpPr>
          <p:cNvPr id="36" name="text-192"/>
          <p:cNvSpPr txBox="1"/>
          <p:nvPr/>
        </p:nvSpPr>
        <p:spPr>
          <a:xfrm>
            <a:off x="914400" y="5623560"/>
            <a:ext cx="1737360" cy="274320"/>
          </a:xfrm>
          <a:prstGeom prst="rect">
            <a:avLst/>
          </a:prstGeom>
          <a:noFill/>
          <a:ln/>
        </p:spPr>
        <p:txBody>
          <a:bodyPr wrap="square" lIns="0" tIns="0" rIns="0" bIns="0" rtlCol="0" anchor="t"/>
          <a:lstStyle/>
          <a:p>
            <a:pPr indent="0" marL="0">
              <a:buNone/>
            </a:pPr>
            <a:r>
              <a:rPr lang="en-US" sz="1000" dirty="0">
                <a:solidFill>
                  <a:schemeClr val="tx2"/>
                </a:solidFill>
              </a:rPr>
              <a:t>Vertical lead, PMM</a:t>
            </a:r>
            <a:endParaRPr lang="en-US" sz="1000" dirty="0"/>
          </a:p>
        </p:txBody>
      </p:sp>
      <p:sp>
        <p:nvSpPr>
          <p:cNvPr id="37" name="num-193"/>
          <p:cNvSpPr/>
          <p:nvPr/>
        </p:nvSpPr>
        <p:spPr>
          <a:xfrm>
            <a:off x="2743200" y="5120640"/>
            <a:ext cx="329184" cy="329184"/>
          </a:xfrm>
          <a:prstGeom prst="ellipse">
            <a:avLst/>
          </a:prstGeom>
          <a:solidFill>
            <a:schemeClr val="tx1"/>
          </a:solidFill>
          <a:ln/>
        </p:spPr>
      </p:sp>
      <p:sp>
        <p:nvSpPr>
          <p:cNvPr id="38" name="text-194"/>
          <p:cNvSpPr txBox="1"/>
          <p:nvPr/>
        </p:nvSpPr>
        <p:spPr>
          <a:xfrm>
            <a:off x="2743200" y="51206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9" name="text-195"/>
          <p:cNvSpPr txBox="1"/>
          <p:nvPr/>
        </p:nvSpPr>
        <p:spPr>
          <a:xfrm>
            <a:off x="3154680" y="5084064"/>
            <a:ext cx="1737360" cy="548640"/>
          </a:xfrm>
          <a:prstGeom prst="rect">
            <a:avLst/>
          </a:prstGeom>
          <a:noFill/>
          <a:ln/>
        </p:spPr>
        <p:txBody>
          <a:bodyPr wrap="square" lIns="0" tIns="0" rIns="0" bIns="0" rtlCol="0" anchor="t"/>
          <a:lstStyle/>
          <a:p>
            <a:pPr indent="0" marL="0">
              <a:buNone/>
            </a:pPr>
            <a:r>
              <a:rPr lang="en-US" sz="1200" b="1" dirty="0">
                <a:solidFill>
                  <a:schemeClr val="tx1"/>
                </a:solidFill>
              </a:rPr>
              <a:t>200-account contractor match-rate test</a:t>
            </a:r>
            <a:endParaRPr lang="en-US" sz="1200" dirty="0"/>
          </a:p>
        </p:txBody>
      </p:sp>
      <p:sp>
        <p:nvSpPr>
          <p:cNvPr id="40" name="text-196"/>
          <p:cNvSpPr txBox="1"/>
          <p:nvPr/>
        </p:nvSpPr>
        <p:spPr>
          <a:xfrm>
            <a:off x="3154680" y="5623560"/>
            <a:ext cx="1737360" cy="274320"/>
          </a:xfrm>
          <a:prstGeom prst="rect">
            <a:avLst/>
          </a:prstGeom>
          <a:noFill/>
          <a:ln/>
        </p:spPr>
        <p:txBody>
          <a:bodyPr wrap="square" lIns="0" tIns="0" rIns="0" bIns="0" rtlCol="0" anchor="t"/>
          <a:lstStyle/>
          <a:p>
            <a:pPr indent="0" marL="0">
              <a:buNone/>
            </a:pPr>
            <a:r>
              <a:rPr lang="en-US" sz="1000" dirty="0">
                <a:solidFill>
                  <a:schemeClr val="tx2"/>
                </a:solidFill>
              </a:rPr>
              <a:t>GTM eng., data partnerships</a:t>
            </a:r>
            <a:endParaRPr lang="en-US" sz="1000" dirty="0"/>
          </a:p>
        </p:txBody>
      </p:sp>
      <p:sp>
        <p:nvSpPr>
          <p:cNvPr id="41" name="num-197"/>
          <p:cNvSpPr/>
          <p:nvPr/>
        </p:nvSpPr>
        <p:spPr>
          <a:xfrm>
            <a:off x="4983480" y="5120640"/>
            <a:ext cx="329184" cy="329184"/>
          </a:xfrm>
          <a:prstGeom prst="ellipse">
            <a:avLst/>
          </a:prstGeom>
          <a:solidFill>
            <a:schemeClr val="tx1"/>
          </a:solidFill>
          <a:ln/>
        </p:spPr>
      </p:sp>
      <p:sp>
        <p:nvSpPr>
          <p:cNvPr id="42" name="text-198"/>
          <p:cNvSpPr txBox="1"/>
          <p:nvPr/>
        </p:nvSpPr>
        <p:spPr>
          <a:xfrm>
            <a:off x="4983480" y="51206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3" name="text-199"/>
          <p:cNvSpPr txBox="1"/>
          <p:nvPr/>
        </p:nvSpPr>
        <p:spPr>
          <a:xfrm>
            <a:off x="5394960" y="5084064"/>
            <a:ext cx="1737360" cy="548640"/>
          </a:xfrm>
          <a:prstGeom prst="rect">
            <a:avLst/>
          </a:prstGeom>
          <a:noFill/>
          <a:ln/>
        </p:spPr>
        <p:txBody>
          <a:bodyPr wrap="square" lIns="0" tIns="0" rIns="0" bIns="0" rtlCol="0" anchor="t"/>
          <a:lstStyle/>
          <a:p>
            <a:pPr indent="0" marL="0">
              <a:buNone/>
            </a:pPr>
            <a:r>
              <a:rPr lang="en-US" sz="1200" b="1" dirty="0">
                <a:solidFill>
                  <a:schemeClr val="tx1"/>
                </a:solidFill>
              </a:rPr>
              <a:t>3 paid design partners</a:t>
            </a:r>
            <a:endParaRPr lang="en-US" sz="1200" dirty="0"/>
          </a:p>
        </p:txBody>
      </p:sp>
      <p:sp>
        <p:nvSpPr>
          <p:cNvPr id="44" name="text-200"/>
          <p:cNvSpPr txBox="1"/>
          <p:nvPr/>
        </p:nvSpPr>
        <p:spPr>
          <a:xfrm>
            <a:off x="5394960" y="5623560"/>
            <a:ext cx="1737360" cy="274320"/>
          </a:xfrm>
          <a:prstGeom prst="rect">
            <a:avLst/>
          </a:prstGeom>
          <a:noFill/>
          <a:ln/>
        </p:spPr>
        <p:txBody>
          <a:bodyPr wrap="square" lIns="0" tIns="0" rIns="0" bIns="0" rtlCol="0" anchor="t"/>
          <a:lstStyle/>
          <a:p>
            <a:pPr indent="0" marL="0">
              <a:buNone/>
            </a:pPr>
            <a:r>
              <a:rPr lang="en-US" sz="1000" dirty="0">
                <a:solidFill>
                  <a:schemeClr val="tx2"/>
                </a:solidFill>
              </a:rPr>
              <a:t>Vertical lead, sales</a:t>
            </a:r>
            <a:endParaRPr lang="en-US" sz="1000" dirty="0"/>
          </a:p>
        </p:txBody>
      </p:sp>
      <p:sp>
        <p:nvSpPr>
          <p:cNvPr id="45" name="num-201"/>
          <p:cNvSpPr/>
          <p:nvPr/>
        </p:nvSpPr>
        <p:spPr>
          <a:xfrm>
            <a:off x="7223760" y="5120640"/>
            <a:ext cx="329184" cy="329184"/>
          </a:xfrm>
          <a:prstGeom prst="ellipse">
            <a:avLst/>
          </a:prstGeom>
          <a:solidFill>
            <a:schemeClr val="tx1"/>
          </a:solidFill>
          <a:ln/>
        </p:spPr>
      </p:sp>
      <p:sp>
        <p:nvSpPr>
          <p:cNvPr id="46" name="text-202"/>
          <p:cNvSpPr txBox="1"/>
          <p:nvPr/>
        </p:nvSpPr>
        <p:spPr>
          <a:xfrm>
            <a:off x="7223760" y="51206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7" name="text-203"/>
          <p:cNvSpPr txBox="1"/>
          <p:nvPr/>
        </p:nvSpPr>
        <p:spPr>
          <a:xfrm>
            <a:off x="7635240" y="5084064"/>
            <a:ext cx="1737360" cy="548640"/>
          </a:xfrm>
          <a:prstGeom prst="rect">
            <a:avLst/>
          </a:prstGeom>
          <a:noFill/>
          <a:ln/>
        </p:spPr>
        <p:txBody>
          <a:bodyPr wrap="square" lIns="0" tIns="0" rIns="0" bIns="0" rtlCol="0" anchor="t"/>
          <a:lstStyle/>
          <a:p>
            <a:pPr indent="0" marL="0">
              <a:buNone/>
            </a:pPr>
            <a:r>
              <a:rPr lang="en-US" sz="1200" b="1" dirty="0">
                <a:solidFill>
                  <a:schemeClr val="tx1"/>
                </a:solidFill>
              </a:rPr>
              <a:t>2 implementation partners</a:t>
            </a:r>
            <a:endParaRPr lang="en-US" sz="1200" dirty="0"/>
          </a:p>
        </p:txBody>
      </p:sp>
      <p:sp>
        <p:nvSpPr>
          <p:cNvPr id="48" name="text-204"/>
          <p:cNvSpPr txBox="1"/>
          <p:nvPr/>
        </p:nvSpPr>
        <p:spPr>
          <a:xfrm>
            <a:off x="7635240" y="5623560"/>
            <a:ext cx="1737360" cy="274320"/>
          </a:xfrm>
          <a:prstGeom prst="rect">
            <a:avLst/>
          </a:prstGeom>
          <a:noFill/>
          <a:ln/>
        </p:spPr>
        <p:txBody>
          <a:bodyPr wrap="square" lIns="0" tIns="0" rIns="0" bIns="0" rtlCol="0" anchor="t"/>
          <a:lstStyle/>
          <a:p>
            <a:pPr indent="0" marL="0">
              <a:buNone/>
            </a:pPr>
            <a:r>
              <a:rPr lang="en-US" sz="1000" dirty="0">
                <a:solidFill>
                  <a:schemeClr val="tx2"/>
                </a:solidFill>
              </a:rPr>
              <a:t>Partnerships</a:t>
            </a:r>
            <a:endParaRPr lang="en-US" sz="1000" dirty="0"/>
          </a:p>
        </p:txBody>
      </p:sp>
      <p:sp>
        <p:nvSpPr>
          <p:cNvPr id="49" name="num-205"/>
          <p:cNvSpPr/>
          <p:nvPr/>
        </p:nvSpPr>
        <p:spPr>
          <a:xfrm>
            <a:off x="9464040" y="5120640"/>
            <a:ext cx="329184" cy="329184"/>
          </a:xfrm>
          <a:prstGeom prst="ellipse">
            <a:avLst/>
          </a:prstGeom>
          <a:solidFill>
            <a:schemeClr val="tx1"/>
          </a:solidFill>
          <a:ln/>
        </p:spPr>
      </p:sp>
      <p:sp>
        <p:nvSpPr>
          <p:cNvPr id="50" name="text-206"/>
          <p:cNvSpPr txBox="1"/>
          <p:nvPr/>
        </p:nvSpPr>
        <p:spPr>
          <a:xfrm>
            <a:off x="9464040" y="51206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51" name="text-207"/>
          <p:cNvSpPr txBox="1"/>
          <p:nvPr/>
        </p:nvSpPr>
        <p:spPr>
          <a:xfrm>
            <a:off x="9875520" y="5084064"/>
            <a:ext cx="1737360" cy="548640"/>
          </a:xfrm>
          <a:prstGeom prst="rect">
            <a:avLst/>
          </a:prstGeom>
          <a:noFill/>
          <a:ln/>
        </p:spPr>
        <p:txBody>
          <a:bodyPr wrap="square" lIns="0" tIns="0" rIns="0" bIns="0" rtlCol="0" anchor="t"/>
          <a:lstStyle/>
          <a:p>
            <a:pPr indent="0" marL="0">
              <a:buNone/>
            </a:pPr>
            <a:r>
              <a:rPr lang="en-US" sz="1200" b="1" dirty="0">
                <a:solidFill>
                  <a:schemeClr val="tx1"/>
                </a:solidFill>
              </a:rPr>
              <a:t>Budget cap and AE transfer-cost rule</a:t>
            </a:r>
            <a:endParaRPr lang="en-US" sz="1200" dirty="0"/>
          </a:p>
        </p:txBody>
      </p:sp>
      <p:sp>
        <p:nvSpPr>
          <p:cNvPr id="52" name="text-208"/>
          <p:cNvSpPr txBox="1"/>
          <p:nvPr/>
        </p:nvSpPr>
        <p:spPr>
          <a:xfrm>
            <a:off x="9875520" y="5623560"/>
            <a:ext cx="1737360" cy="274320"/>
          </a:xfrm>
          <a:prstGeom prst="rect">
            <a:avLst/>
          </a:prstGeom>
          <a:noFill/>
          <a:ln/>
        </p:spPr>
        <p:txBody>
          <a:bodyPr wrap="square" lIns="0" tIns="0" rIns="0" bIns="0" rtlCol="0" anchor="t"/>
          <a:lstStyle/>
          <a:p>
            <a:pPr indent="0" marL="0">
              <a:buNone/>
            </a:pPr>
            <a:r>
              <a:rPr lang="en-US" sz="1000" dirty="0">
                <a:solidFill>
                  <a:schemeClr val="tx2"/>
                </a:solidFill>
              </a:rPr>
              <a:t>Exec sponsor, finance</a:t>
            </a:r>
            <a:endParaRPr lang="en-US" sz="10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2194560"/>
            <a:ext cx="10515600" cy="914400"/>
          </a:xfrm>
          <a:prstGeom prst="rect">
            <a:avLst/>
          </a:prstGeom>
          <a:noFill/>
          <a:ln/>
        </p:spPr>
        <p:txBody>
          <a:bodyPr wrap="square" lIns="0" tIns="0" rIns="0" bIns="0" rtlCol="0" anchor="b"/>
          <a:lstStyle/>
          <a:p>
            <a:pPr algn="l" indent="0" marL="0">
              <a:buNone/>
            </a:pPr>
            <a:r>
              <a:rPr lang="en-US" sz="4000" b="1" dirty="0">
                <a:solidFill>
                  <a:schemeClr val="tx1"/>
                </a:solidFill>
                <a:latin typeface="Cambria" pitchFamily="34" charset="0"/>
                <a:ea typeface="Cambria" pitchFamily="34" charset="-122"/>
                <a:cs typeface="Cambria" pitchFamily="34" charset="-120"/>
              </a:rPr>
              <a:t>Appendix</a:t>
            </a:r>
            <a:endParaRPr lang="en-US" sz="4000" dirty="0"/>
          </a:p>
        </p:txBody>
      </p:sp>
      <p:sp>
        <p:nvSpPr>
          <p:cNvPr id="3" name="Text 0"/>
          <p:cNvSpPr/>
          <p:nvPr>
            <p:ph idx="101" type="body" hasCustomPrompt="1"/>
          </p:nvPr>
        </p:nvSpPr>
        <p:spPr>
          <a:xfrm>
            <a:off x="502920" y="3291840"/>
            <a:ext cx="10515600" cy="2194560"/>
          </a:xfrm>
          <a:prstGeom prst="rect">
            <a:avLst/>
          </a:prstGeom>
          <a:noFill/>
          <a:ln/>
        </p:spPr>
        <p:txBody>
          <a:bodyPr wrap="square" lIns="0" tIns="0" rIns="0" bIns="0" rtlCol="0" anchor="t"/>
          <a:lstStyle/>
          <a:p>
            <a:pPr indent="0" marL="0">
              <a:buNone/>
            </a:pPr>
            <a:r>
              <a:rPr lang="en-US" sz="1600" dirty="0">
                <a:solidFill>
                  <a:schemeClr val="tx2"/>
                </a:solidFill>
              </a:rPr>
              <a:t>A1  Approach and hypothesis verdicts</a:t>
            </a:r>
            <a:endParaRPr lang="en-US" sz="1600" dirty="0"/>
          </a:p>
          <a:p>
            <a:pPr indent="0" marL="0">
              <a:buNone/>
            </a:pPr>
            <a:r>
              <a:rPr lang="en-US" sz="1600" dirty="0">
                <a:solidFill>
                  <a:schemeClr val="tx2"/>
                </a:solidFill>
              </a:rPr>
              <a:t>A2  How the market was sized: firms, not establishments</a:t>
            </a:r>
            <a:endParaRPr lang="en-US" sz="1600" dirty="0"/>
          </a:p>
          <a:p>
            <a:pPr indent="0" marL="0">
              <a:buNone/>
            </a:pPr>
            <a:r>
              <a:rPr lang="en-US" sz="1600" dirty="0">
                <a:solidFill>
                  <a:schemeClr val="tx2"/>
                </a:solidFill>
              </a:rPr>
              <a:t>A3  Usage-based ACV build</a:t>
            </a:r>
            <a:endParaRPr lang="en-US" sz="1600" dirty="0"/>
          </a:p>
          <a:p>
            <a:pPr indent="0" marL="0">
              <a:buNone/>
            </a:pPr>
            <a:r>
              <a:rPr lang="en-US" sz="1600" dirty="0">
                <a:solidFill>
                  <a:schemeClr val="tx2"/>
                </a:solidFill>
              </a:rPr>
              <a:t>A4  Opposing evidence: what would change the recommendation</a:t>
            </a:r>
            <a:endParaRPr lang="en-US" sz="1600" dirty="0"/>
          </a:p>
          <a:p>
            <a:pPr indent="0" marL="0">
              <a:buNone/>
            </a:pPr>
            <a:r>
              <a:rPr lang="en-US" sz="1600" dirty="0">
                <a:solidFill>
                  <a:schemeClr val="tx2"/>
                </a:solidFill>
              </a:rPr>
              <a:t>A5  Key scenario assumptions</a:t>
            </a:r>
            <a:endParaRPr lang="en-US" sz="1600" dirty="0"/>
          </a:p>
          <a:p>
            <a:pPr indent="0" marL="0">
              <a:buNone/>
            </a:pPr>
            <a:r>
              <a:rPr lang="en-US" sz="1600" dirty="0">
                <a:solidFill>
                  <a:schemeClr val="tx2"/>
                </a:solidFill>
              </a:rPr>
              <a:t>A6  Limitations and principal sources</a:t>
            </a:r>
            <a:endParaRPr lang="en-US" sz="16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A1 · Hypothesis-driven, public data only: H2 and H9 were rejected and H7 held only in part</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01_Project_Charter (hypotheses set before research); verdicts from 03, 05, 06 and 07. Evidence classes: A verified fact · B benchmark · C analyst estimate · D scenario assumption · E recommendation.</a:t>
            </a:r>
            <a:endParaRPr lang="en-US" sz="1000" dirty="0"/>
          </a:p>
        </p:txBody>
      </p:sp>
      <p:graphicFrame>
        <p:nvGraphicFramePr>
          <p:cNvPr id="15" name="table-209"/>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548640"/>
                <a:gridCol w="4572000"/>
                <a:gridCol w="2011680"/>
                <a:gridCol w="4050792"/>
              </a:tblGrid>
              <a:tr h="41148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Hypothesis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Verdict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Key evidence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411480">
                <a:tc>
                  <a:txBody>
                    <a:bodyPr/>
                    <a:lstStyle/>
                    <a:p>
                      <a:pPr indent="0" marL="0">
                        <a:buNone/>
                      </a:pPr>
                      <a:r>
                        <a:rPr lang="en-US" sz="1200" dirty="0">
                          <a:solidFill>
                            <a:srgbClr val="1B2433"/>
                          </a:solidFill>
                          <a:latin typeface="Arial" pitchFamily="34" charset="0"/>
                          <a:ea typeface="Arial" pitchFamily="34" charset="-122"/>
                          <a:cs typeface="Arial" pitchFamily="34" charset="-120"/>
                        </a:rPr>
                        <a:t>H1</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“B2B manufacturing” is too broad; narrow to core subsectors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2E6F5E"/>
                          </a:solidFill>
                          <a:latin typeface="Arial" pitchFamily="34" charset="0"/>
                          <a:ea typeface="Arial" pitchFamily="34" charset="-122"/>
                          <a:cs typeface="Arial" pitchFamily="34" charset="-120"/>
                        </a:rPr>
                        <a:t>Supported</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Core 4 subsectors ≈ 39% of 20+ manufacturers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Arial" pitchFamily="34" charset="0"/>
                          <a:ea typeface="Arial" pitchFamily="34" charset="-122"/>
                          <a:cs typeface="Arial" pitchFamily="34" charset="-120"/>
                        </a:rPr>
                        <a:t>H2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Distribution's mid-market pool is ≥ 50% of professional services'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9B2C2C"/>
                          </a:solidFill>
                          <a:latin typeface="Arial" pitchFamily="34" charset="0"/>
                          <a:ea typeface="Arial" pitchFamily="34" charset="-122"/>
                          <a:cs typeface="Arial" pitchFamily="34" charset="-120"/>
                        </a:rPr>
                        <a:t>Rejected</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35% of professional services' 20–499 pool</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Arial" pitchFamily="34" charset="0"/>
                          <a:ea typeface="Arial" pitchFamily="34" charset="-122"/>
                          <a:cs typeface="Arial" pitchFamily="34" charset="-120"/>
                        </a:rPr>
                        <a:t>H3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Industrial buyer personas are poorly covered by LinkedIn-based data</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2E6F5E"/>
                          </a:solidFill>
                          <a:latin typeface="Arial" pitchFamily="34" charset="0"/>
                          <a:ea typeface="Arial" pitchFamily="34" charset="-122"/>
                          <a:cs typeface="Arial" pitchFamily="34" charset="-120"/>
                        </a:rPr>
                        <a:t>Supported (distribution)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26% vs 42% est. presence; proxy only</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Arial" pitchFamily="34" charset="0"/>
                          <a:ea typeface="Arial" pitchFamily="34" charset="-122"/>
                          <a:cs typeface="Arial" pitchFamily="34" charset="-120"/>
                        </a:rPr>
                        <a:t>H4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Builder capacity, not need, is the binding constraint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2E6F5E"/>
                          </a:solidFill>
                          <a:latin typeface="Arial" pitchFamily="34" charset="0"/>
                          <a:ea typeface="Arial" pitchFamily="34" charset="-122"/>
                          <a:cs typeface="Arial" pitchFamily="34" charset="-120"/>
                        </a:rPr>
                        <a:t>Supported</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Computer occupations 0.69× average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Arial" pitchFamily="34" charset="0"/>
                          <a:ea typeface="Arial" pitchFamily="34" charset="-122"/>
                          <a:cs typeface="Arial" pitchFamily="34" charset="-120"/>
                        </a:rPr>
                        <a:t>H5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Clay's edge is complementary, not substitutive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2E6F5E"/>
                          </a:solidFill>
                          <a:latin typeface="Arial" pitchFamily="34" charset="0"/>
                          <a:ea typeface="Arial" pitchFamily="34" charset="-122"/>
                          <a:cs typeface="Arial" pitchFamily="34" charset="-120"/>
                        </a:rPr>
                        <a:t>Supported</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Layers on CRM; no CRM/ERP of its own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Arial" pitchFamily="34" charset="0"/>
                          <a:ea typeface="Arial" pitchFamily="34" charset="-122"/>
                          <a:cs typeface="Arial" pitchFamily="34" charset="-120"/>
                        </a:rPr>
                        <a:t>H6</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Industrial ACV sits in the Growth-tier range (~$5–25K)</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2E6F5E"/>
                          </a:solidFill>
                          <a:latin typeface="Arial" pitchFamily="34" charset="0"/>
                          <a:ea typeface="Arial" pitchFamily="34" charset="-122"/>
                          <a:cs typeface="Arial" pitchFamily="34" charset="-120"/>
                        </a:rPr>
                        <a:t>Supported</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$5.4K SMB · $9.8K mid-market (Base)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Arial" pitchFamily="34" charset="0"/>
                          <a:ea typeface="Arial" pitchFamily="34" charset="-122"/>
                          <a:cs typeface="Arial" pitchFamily="34" charset="-120"/>
                        </a:rPr>
                        <a:t>H7</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Sales-led fails 24-month payback; partner-led can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B5532A"/>
                          </a:solidFill>
                          <a:latin typeface="Arial" pitchFamily="34" charset="0"/>
                          <a:ea typeface="Arial" pitchFamily="34" charset="-122"/>
                          <a:cs typeface="Arial" pitchFamily="34" charset="-120"/>
                        </a:rPr>
                        <a:t>Partly</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Sales-led 108 mo; partner-led 37 mo Base, 12 Upside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Arial" pitchFamily="34" charset="0"/>
                          <a:ea typeface="Arial" pitchFamily="34" charset="-122"/>
                          <a:cs typeface="Arial" pitchFamily="34" charset="-120"/>
                        </a:rPr>
                        <a:t>H8</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Even Upside is a small share of Clay ARR</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2E6F5E"/>
                          </a:solidFill>
                          <a:latin typeface="Arial" pitchFamily="34" charset="0"/>
                          <a:ea typeface="Arial" pitchFamily="34" charset="-122"/>
                          <a:cs typeface="Arial" pitchFamily="34" charset="-120"/>
                        </a:rPr>
                        <a:t>Supported</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$6.0M ≈ 3% of est. $200M ARR</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Arial" pitchFamily="34" charset="0"/>
                          <a:ea typeface="Arial" pitchFamily="34" charset="-122"/>
                          <a:cs typeface="Arial" pitchFamily="34" charset="-120"/>
                        </a:rPr>
                        <a:t>H9</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Professional services has better risk-adjusted returns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9B2C2C"/>
                          </a:solidFill>
                          <a:latin typeface="Arial" pitchFamily="34" charset="0"/>
                          <a:ea typeface="Arial" pitchFamily="34" charset="-122"/>
                          <a:cs typeface="Arial" pitchFamily="34" charset="-120"/>
                        </a:rPr>
                        <a:t>Not supported</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Wins only in stress test T9</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Arial" pitchFamily="34" charset="0"/>
                          <a:ea typeface="Arial" pitchFamily="34" charset="-122"/>
                          <a:cs typeface="Arial" pitchFamily="34" charset="-120"/>
                        </a:rPr>
                        <a:t>H10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Manufacturers are best reached through distribution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B5532A"/>
                          </a:solidFill>
                          <a:latin typeface="Arial" pitchFamily="34" charset="0"/>
                          <a:ea typeface="Arial" pitchFamily="34" charset="-122"/>
                          <a:cs typeface="Arial" pitchFamily="34" charset="-120"/>
                        </a:rPr>
                        <a:t>Directional</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Manufacturing sales share 0.32× average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A2 · Sizing counts firms, not establishments — establishments would overstate distribution's buyers by ~66%</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Census 2022 Economic Census, Employment Size of Firms (S14); 02_Market_Sizing (de-duplication, imputation, filters) [C/D]; 07_Financial_Model Market Sizing.</a:t>
            </a:r>
            <a:endParaRPr lang="en-US" sz="1000" dirty="0"/>
          </a:p>
        </p:txBody>
      </p:sp>
      <p:graphicFrame>
        <p:nvGraphicFramePr>
          <p:cNvPr id="4" name="chart-210" descr=""/>
          <p:cNvGraphicFramePr/>
          <p:nvPr/>
        </p:nvGraphicFramePr>
        <p:xfrm>
          <a:off x="502920" y="1325880"/>
          <a:ext cx="6675120" cy="4526280"/>
        </p:xfrm>
        <a:graphic xmlns:a="http://schemas.openxmlformats.org/drawingml/2006/main">
          <a:graphicData uri="http://schemas.openxmlformats.org/drawingml/2006/chart">
            <c:chart xmlns:c="http://schemas.openxmlformats.org/drawingml/2006/chart" r:id="rId1"/>
          </a:graphicData>
        </a:graphic>
      </p:graphicFrame>
      <p:sp>
        <p:nvSpPr>
          <p:cNvPr id="5" name="panel-211"/>
          <p:cNvSpPr/>
          <p:nvPr/>
        </p:nvSpPr>
        <p:spPr>
          <a:xfrm>
            <a:off x="7452360" y="1325880"/>
            <a:ext cx="4233672" cy="4526280"/>
          </a:xfrm>
          <a:prstGeom prst="rect">
            <a:avLst/>
          </a:prstGeom>
          <a:solidFill>
            <a:schemeClr val="bg2"/>
          </a:solidFill>
          <a:ln/>
        </p:spPr>
      </p:sp>
      <p:sp>
        <p:nvSpPr>
          <p:cNvPr id="6" name="text-212"/>
          <p:cNvSpPr txBox="1"/>
          <p:nvPr/>
        </p:nvSpPr>
        <p:spPr>
          <a:xfrm>
            <a:off x="7635240" y="1463040"/>
            <a:ext cx="3840480" cy="292608"/>
          </a:xfrm>
          <a:prstGeom prst="rect">
            <a:avLst/>
          </a:prstGeom>
          <a:noFill/>
          <a:ln/>
        </p:spPr>
        <p:txBody>
          <a:bodyPr wrap="square" lIns="0" tIns="0" rIns="0" bIns="0" rtlCol="0" anchor="t"/>
          <a:lstStyle/>
          <a:p>
            <a:pPr indent="0" marL="0">
              <a:buNone/>
            </a:pPr>
            <a:r>
              <a:rPr lang="en-US" sz="1400" b="1" dirty="0">
                <a:solidFill>
                  <a:schemeClr val="tx1"/>
                </a:solidFill>
              </a:rPr>
              <a:t>Method choices</a:t>
            </a:r>
            <a:endParaRPr lang="en-US" sz="1400" dirty="0"/>
          </a:p>
        </p:txBody>
      </p:sp>
      <p:sp>
        <p:nvSpPr>
          <p:cNvPr id="7" name="text-213"/>
          <p:cNvSpPr txBox="1"/>
          <p:nvPr/>
        </p:nvSpPr>
        <p:spPr>
          <a:xfrm>
            <a:off x="7635240" y="1828800"/>
            <a:ext cx="3886200" cy="3931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Firms are counted in every sub-industry where they operate, so a de-duplication factor (sector ÷ Σ sub-industries) is applied by size band</a:t>
            </a:r>
            <a:endParaRPr lang="en-US" sz="1200" dirty="0"/>
          </a:p>
          <a:p>
            <a:pPr marL="342900" indent="-342900">
              <a:spcAft>
                <a:spcPts val="600"/>
              </a:spcAft>
              <a:buSzPct val="100000"/>
              <a:buChar char="•"/>
            </a:pPr>
            <a:r>
              <a:rPr lang="en-US" sz="1200" dirty="0">
                <a:solidFill>
                  <a:schemeClr val="tx2"/>
                </a:solidFill>
              </a:rPr>
              <a:t>Suppressed 4235 cells (475 firms) recovered as a residual and allocated by the NAICS 423 size mix</a:t>
            </a:r>
            <a:endParaRPr lang="en-US" sz="1200" dirty="0"/>
          </a:p>
          <a:p>
            <a:pPr marL="342900" indent="-342900">
              <a:spcAft>
                <a:spcPts val="600"/>
              </a:spcAft>
              <a:buSzPct val="100000"/>
              <a:buChar char="•"/>
            </a:pPr>
            <a:r>
              <a:rPr lang="en-US" sz="1200" dirty="0">
                <a:solidFill>
                  <a:schemeClr val="tx2"/>
                </a:solidFill>
              </a:rPr>
              <a:t>SAM filters: active outbound motion (80%) × CRM-ready (65%), Base</a:t>
            </a:r>
            <a:endParaRPr lang="en-US" sz="1200" dirty="0"/>
          </a:p>
          <a:p>
            <a:pPr marL="342900" indent="-342900">
              <a:spcAft>
                <a:spcPts val="600"/>
              </a:spcAft>
              <a:buSzPct val="100000"/>
              <a:buChar char="•"/>
            </a:pPr>
            <a:r>
              <a:rPr lang="en-US" sz="1200" dirty="0">
                <a:solidFill>
                  <a:schemeClr val="tx2"/>
                </a:solidFill>
              </a:rPr>
              <a:t>Pilot SAM also excludes metals (4235, ranked last) and an assumed 3% already on Clay</a:t>
            </a:r>
            <a:endParaRPr lang="en-US" sz="1200" dirty="0"/>
          </a:p>
          <a:p>
            <a:pPr marL="342900" indent="-342900">
              <a:spcAft>
                <a:spcPts val="600"/>
              </a:spcAft>
              <a:buSzPct val="100000"/>
              <a:buChar char="•"/>
            </a:pPr>
            <a:r>
              <a:rPr lang="en-US" sz="1200" dirty="0">
                <a:solidFill>
                  <a:schemeClr val="tx2"/>
                </a:solidFill>
              </a:rPr>
              <a:t>Reference year 2022; SUSB cross-check is an open QA item</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A3 · At list prices, seller density lifts ACV only from mid-market upward</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 07_Financial_Model, ACV Build — sellers per firm (OEWS sales share, S15) × 150 accounts × usage meters at published Growth rates (S01); Enterprise floor and 30% discount (S01, S16). Base case [C/D].</a:t>
            </a:r>
            <a:endParaRPr lang="en-US" sz="1000" dirty="0"/>
          </a:p>
        </p:txBody>
      </p:sp>
      <p:graphicFrame>
        <p:nvGraphicFramePr>
          <p:cNvPr id="4" name="chart-214" descr=""/>
          <p:cNvGraphicFramePr/>
          <p:nvPr/>
        </p:nvGraphicFramePr>
        <p:xfrm>
          <a:off x="502920" y="1325880"/>
          <a:ext cx="6309360" cy="452628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table-215"/>
          <p:cNvGraphicFramePr>
            <a:graphicFrameLocks noGrp="1"/>
          </p:cNvGraphicFramePr>
          <p:nvPr>
            <p:extLst>
              <p:ext uri="{D42A27DB-BD31-4B8C-83A1-F6EECF244321}">
                <p14:modId xmlns:p14="http://schemas.microsoft.com/office/powerpoint/2010/main" val="1579011935"/>
              </p:ext>
            </p:extLst>
          </p:nvPr>
        </p:nvGraphicFramePr>
        <p:xfrm>
          <a:off x="7086600" y="1371600"/>
          <a:ext cx="4599432" cy="914400"/>
        </p:xfrm>
        <a:graphic>
          <a:graphicData uri="http://schemas.openxmlformats.org/drawingml/2006/table">
            <a:tbl>
              <a:tblPr/>
              <a:tblGrid>
                <a:gridCol w="1417320"/>
                <a:gridCol w="1060704"/>
                <a:gridCol w="1060704"/>
                <a:gridCol w="1060704"/>
              </a:tblGrid>
              <a:tr h="475488">
                <a:tc>
                  <a:txBody>
                    <a:bodyPr/>
                    <a:lstStyle/>
                    <a:p>
                      <a:pPr algn="l" indent="0" marL="0">
                        <a:buNone/>
                      </a:pP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SMB</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Mid-market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Enterprise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475488">
                <a:tc>
                  <a:txBody>
                    <a:bodyPr/>
                    <a:lstStyle/>
                    <a:p>
                      <a:pPr indent="0" marL="0">
                        <a:buNone/>
                      </a:pPr>
                      <a:r>
                        <a:rPr lang="en-US" sz="1100" dirty="0">
                          <a:solidFill>
                            <a:srgbClr val="1B2433"/>
                          </a:solidFill>
                          <a:latin typeface="Arial" pitchFamily="34" charset="0"/>
                          <a:ea typeface="Arial" pitchFamily="34" charset="-122"/>
                          <a:cs typeface="Arial" pitchFamily="34" charset="-120"/>
                        </a:rPr>
                        <a:t>Sellers per firm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9.0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44.9</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405.6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75488">
                <a:tc>
                  <a:txBody>
                    <a:bodyPr/>
                    <a:lstStyle/>
                    <a:p>
                      <a:pPr indent="0" marL="0">
                        <a:buNone/>
                      </a:pPr>
                      <a:r>
                        <a:rPr lang="en-US" sz="1100" dirty="0">
                          <a:solidFill>
                            <a:srgbClr val="1B2433"/>
                          </a:solidFill>
                          <a:latin typeface="Arial" pitchFamily="34" charset="0"/>
                          <a:ea typeface="Arial" pitchFamily="34" charset="-122"/>
                          <a:cs typeface="Arial" pitchFamily="34" charset="-120"/>
                        </a:rPr>
                        <a:t>Pricing rule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Growth floor $5,352</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Usage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Usage − 30%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75488">
                <a:tc>
                  <a:txBody>
                    <a:bodyPr/>
                    <a:lstStyle/>
                    <a:p>
                      <a:pPr indent="0" marL="0">
                        <a:buNone/>
                      </a:pPr>
                      <a:r>
                        <a:rPr lang="en-US" sz="1100" dirty="0">
                          <a:solidFill>
                            <a:srgbClr val="1B2433"/>
                          </a:solidFill>
                          <a:latin typeface="Arial" pitchFamily="34" charset="0"/>
                          <a:ea typeface="Arial" pitchFamily="34" charset="-122"/>
                          <a:cs typeface="Arial" pitchFamily="34" charset="-120"/>
                        </a:rPr>
                        <a:t>Phase 1 ACV assumption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$7.5K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$20K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$60K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75488">
                <a:tc>
                  <a:txBody>
                    <a:bodyPr/>
                    <a:lstStyle/>
                    <a:p>
                      <a:pPr indent="0" marL="0">
                        <a:buNone/>
                      </a:pPr>
                      <a:r>
                        <a:rPr lang="en-US" sz="1100" dirty="0">
                          <a:solidFill>
                            <a:srgbClr val="1B2433"/>
                          </a:solidFill>
                          <a:latin typeface="Arial" pitchFamily="34" charset="0"/>
                          <a:ea typeface="Arial" pitchFamily="34" charset="-122"/>
                          <a:cs typeface="Arial" pitchFamily="34" charset="-120"/>
                        </a:rPr>
                        <a:t>Phase 4 ACV, Base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$5.4K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$9.8K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$61.8K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75488">
                <a:tc>
                  <a:txBody>
                    <a:bodyPr/>
                    <a:lstStyle/>
                    <a:p>
                      <a:pPr indent="0" marL="0">
                        <a:buNone/>
                      </a:pPr>
                      <a:r>
                        <a:rPr lang="en-US" sz="1100" dirty="0">
                          <a:solidFill>
                            <a:srgbClr val="1B2433"/>
                          </a:solidFill>
                          <a:latin typeface="Arial" pitchFamily="34" charset="0"/>
                          <a:ea typeface="Arial" pitchFamily="34" charset="-122"/>
                          <a:cs typeface="Arial" pitchFamily="34" charset="-120"/>
                        </a:rPr>
                        <a:t>Downside / Upside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$5.4K / $5.4K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$7.3K / $14.7K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$46K / $93K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6" name="panel-216"/>
          <p:cNvSpPr/>
          <p:nvPr/>
        </p:nvSpPr>
        <p:spPr>
          <a:xfrm>
            <a:off x="7086600" y="4434840"/>
            <a:ext cx="4599432" cy="1417320"/>
          </a:xfrm>
          <a:prstGeom prst="rect">
            <a:avLst/>
          </a:prstGeom>
          <a:solidFill>
            <a:schemeClr val="accent1">
              <a:alpha val="9000"/>
            </a:schemeClr>
          </a:solidFill>
          <a:ln/>
        </p:spPr>
      </p:sp>
      <p:sp>
        <p:nvSpPr>
          <p:cNvPr id="7" name="text-217"/>
          <p:cNvSpPr txBox="1"/>
          <p:nvPr/>
        </p:nvSpPr>
        <p:spPr>
          <a:xfrm>
            <a:off x="7269480" y="4544568"/>
            <a:ext cx="4251960" cy="1234440"/>
          </a:xfrm>
          <a:prstGeom prst="rect">
            <a:avLst/>
          </a:prstGeom>
          <a:noFill/>
          <a:ln/>
        </p:spPr>
        <p:txBody>
          <a:bodyPr wrap="square" lIns="0" tIns="0" rIns="0" bIns="0" rtlCol="0" anchor="t"/>
          <a:lstStyle/>
          <a:p>
            <a:pPr indent="0" marL="0">
              <a:buNone/>
            </a:pPr>
            <a:r>
              <a:rPr lang="en-US" sz="1300" b="1" dirty="0">
                <a:solidFill>
                  <a:schemeClr val="accent1"/>
                </a:solidFill>
              </a:rPr>
              <a:t>Implication  </a:t>
            </a:r>
            <a:pPr indent="0" marL="0">
              <a:buNone/>
            </a:pPr>
            <a:r>
              <a:rPr lang="en-US" sz="1300" dirty="0">
                <a:solidFill>
                  <a:schemeClr val="tx1"/>
                </a:solidFill>
              </a:rPr>
              <a:t>Phase 1 overstated SMB and mid-market ACV. The pilot's ICP therefore tilts to 100+ employee distributors, and Enterprise ACV checks out against Vendr's $60K median buyer.</a:t>
            </a:r>
            <a:endParaRPr lang="en-US" sz="13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A4 · Opposing evidence: what would change the recommendation</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Clay changelog (S09); Sacra on Apollo (S23); 06_Segment_Prioritization stress tests T6, T9; 07_Financial_Model decision analysis [C/D].</a:t>
            </a:r>
            <a:endParaRPr lang="en-US" sz="1000" dirty="0"/>
          </a:p>
        </p:txBody>
      </p:sp>
      <p:graphicFrame>
        <p:nvGraphicFramePr>
          <p:cNvPr id="18" name="table-218"/>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3840480"/>
                <a:gridCol w="4023360"/>
                <a:gridCol w="3319272"/>
              </a:tblGrid>
              <a:tr h="77724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Evidence against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Why it does not (yet) overturn the call</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What would overturn it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777240">
                <a:tc>
                  <a:txBody>
                    <a:bodyPr/>
                    <a:lstStyle/>
                    <a:p>
                      <a:pPr indent="0" marL="0">
                        <a:buNone/>
                      </a:pPr>
                      <a:r>
                        <a:rPr lang="en-US" sz="1200" dirty="0">
                          <a:solidFill>
                            <a:srgbClr val="1B2433"/>
                          </a:solidFill>
                          <a:latin typeface="Arial" pitchFamily="34" charset="0"/>
                          <a:ea typeface="Arial" pitchFamily="34" charset="-122"/>
                          <a:cs typeface="Arial" pitchFamily="34" charset="-120"/>
                        </a:rPr>
                        <a:t>Clay's Sep 2026 data expansion targeted public sector, real estate and PE — not industrials (S09)</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Could be a deliberate non-priority or an unaddressed gap; public data cannot tell which</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Clay or partner evidence that industrial deals underperform</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777240">
                <a:tc>
                  <a:txBody>
                    <a:bodyPr/>
                    <a:lstStyle/>
                    <a:p>
                      <a:pPr indent="0" marL="0">
                        <a:buNone/>
                      </a:pPr>
                      <a:r>
                        <a:rPr lang="en-US" sz="1200" dirty="0">
                          <a:solidFill>
                            <a:srgbClr val="1B2433"/>
                          </a:solidFill>
                          <a:latin typeface="Arial" pitchFamily="34" charset="0"/>
                          <a:ea typeface="Arial" pitchFamily="34" charset="-122"/>
                          <a:cs typeface="Arial" pitchFamily="34" charset="-120"/>
                        </a:rPr>
                        <a:t>Apollo is converging: waterfall enrichment, spreadsheet beta (S23)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None of its moves address off-LinkedIn contractor data; T6 (position 4 → 3) still ranks distribution first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Apollo or ZoomInfo adding Maps- or permit-based contractor data</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777240">
                <a:tc>
                  <a:txBody>
                    <a:bodyPr/>
                    <a:lstStyle/>
                    <a:p>
                      <a:pPr indent="0" marL="0">
                        <a:buNone/>
                      </a:pPr>
                      <a:r>
                        <a:rPr lang="en-US" sz="1200" dirty="0">
                          <a:solidFill>
                            <a:srgbClr val="1B2433"/>
                          </a:solidFill>
                          <a:latin typeface="Arial" pitchFamily="34" charset="0"/>
                          <a:ea typeface="Arial" pitchFamily="34" charset="-122"/>
                          <a:cs typeface="Arial" pitchFamily="34" charset="-120"/>
                        </a:rPr>
                        <a:t>The Base case loses money within three years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The gate truncates Downside and Upside is large, so staged EV is positive whenever P(Upside) exceeds ~7%</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Downside indistinguishable from Base by Q4 2027 (ungated EV falls to +$0.65M)</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777240">
                <a:tc>
                  <a:txBody>
                    <a:bodyPr/>
                    <a:lstStyle/>
                    <a:p>
                      <a:pPr indent="0" marL="0">
                        <a:buNone/>
                      </a:pPr>
                      <a:r>
                        <a:rPr lang="en-US" sz="1200" dirty="0">
                          <a:solidFill>
                            <a:srgbClr val="1B2433"/>
                          </a:solidFill>
                          <a:latin typeface="Arial" pitchFamily="34" charset="0"/>
                          <a:ea typeface="Arial" pitchFamily="34" charset="-122"/>
                          <a:cs typeface="Arial" pitchFamily="34" charset="-120"/>
                        </a:rPr>
                        <a:t>Professional services wins if ease of execution weighs ≥ 26% (or in T9)</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Distribution leads in 11 of 12 stress tests and 5 of 6 weight sets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Evidence that partners cannot make distribution adoption easier</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777240">
                <a:tc>
                  <a:txBody>
                    <a:bodyPr/>
                    <a:lstStyle/>
                    <a:p>
                      <a:pPr indent="0" marL="0">
                        <a:buNone/>
                      </a:pPr>
                      <a:r>
                        <a:rPr lang="en-US" sz="1200" dirty="0">
                          <a:solidFill>
                            <a:srgbClr val="1B2433"/>
                          </a:solidFill>
                          <a:latin typeface="Arial" pitchFamily="34" charset="0"/>
                          <a:ea typeface="Arial" pitchFamily="34" charset="-122"/>
                          <a:cs typeface="Arial" pitchFamily="34" charset="-120"/>
                        </a:rPr>
                        <a:t>No primary research; the data-gap measure is a proxy</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Regency Supply corroborates it directly (S07)</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Gate 0 match-rate uplift below 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A5 · Key scenario assumptions (Downside / Base / Upside)</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 07_Financial_Model, Assumptions — every input carries its evidence class and source. Benchmarks: SaaS Capital 2025 (S43), Bridge Group 2026 (S44), HubSpot/Ebsta/Norwest via S48, Digital Bloom (S49), partner margins (S50), Sacra (S52).</a:t>
            </a:r>
            <a:endParaRPr lang="en-US" sz="1000" dirty="0"/>
          </a:p>
        </p:txBody>
      </p:sp>
      <p:graphicFrame>
        <p:nvGraphicFramePr>
          <p:cNvPr id="19" name="table-219"/>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3017520"/>
                <a:gridCol w="1463040"/>
                <a:gridCol w="1463040"/>
                <a:gridCol w="1463040"/>
                <a:gridCol w="640080"/>
                <a:gridCol w="3136392"/>
              </a:tblGrid>
              <a:tr h="38404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Input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Downside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Base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Upside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Class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Basis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SAM filters (outbound × CRM-ready)</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65% × 52%</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80% × 65%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90% × 76%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D/B</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Phase 1; DSG 2022 (S17)</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Win rate (opportunity → won)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28%</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35%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B</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HubSpot avg 21%; opp→won 31–39% (S48, S49)</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Qualification / SQL → opportunity</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35% / 35%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45% / 45%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55% / 55%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B</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MQL→SQL 36–39%; SQL→opp 42% (S48, S49)</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Partners: cap / leads per partner per quarter</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5 / 2</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10 / 3</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15 / 4</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No distribution partners visible today (S35)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Usage intensity (sets ACV)</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0.75×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Usage build at list prices (S01)</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Gross revenue retention, mid-market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86%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90%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93%</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B</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SaaS Capital: 91% at $12–25K ACV (S43)</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Net revenue retention, mid-market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98%</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106%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115%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B</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SaaS Capital: 103% at $12–25K ACV (S43)</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Gross margin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55%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65%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72%</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Data-heavy margins below 80% (S52)</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AE quota / attainment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$875K / 55%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$875K / 70%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$875K / 85%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B</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Bridge Group 2026 (S44)</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Partner fee on partner-sourced ACV</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25%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B</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Referral 10–15%, VAR 20–30% (S50)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Waves 2 / 3 launch</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Q3 2028 / never</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Q1 2028 / Q3 2028</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Q4 2027 / Q2 2028</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Sequenced after gates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A6 · Limitations and principal sources</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Full register (55 sources with dates, reliability and limitations): Research_Sources.csv. Workbooks and build scripts: 02, 04, 06, 07 and appendix/.</a:t>
            </a:r>
            <a:endParaRPr lang="en-US" sz="1000" dirty="0"/>
          </a:p>
        </p:txBody>
      </p:sp>
      <p:sp>
        <p:nvSpPr>
          <p:cNvPr id="4" name="text-220"/>
          <p:cNvSpPr txBox="1"/>
          <p:nvPr/>
        </p:nvSpPr>
        <p:spPr>
          <a:xfrm>
            <a:off x="502920" y="1325880"/>
            <a:ext cx="5303520" cy="320040"/>
          </a:xfrm>
          <a:prstGeom prst="rect">
            <a:avLst/>
          </a:prstGeom>
          <a:noFill/>
          <a:ln/>
        </p:spPr>
        <p:txBody>
          <a:bodyPr wrap="square" lIns="0" tIns="0" rIns="0" bIns="0" rtlCol="0" anchor="t"/>
          <a:lstStyle/>
          <a:p>
            <a:pPr indent="0" marL="0">
              <a:buNone/>
            </a:pPr>
            <a:r>
              <a:rPr lang="en-US" sz="1600" b="1" dirty="0">
                <a:solidFill>
                  <a:schemeClr val="tx1"/>
                </a:solidFill>
              </a:rPr>
              <a:t>Limitations</a:t>
            </a:r>
            <a:endParaRPr lang="en-US" sz="1600" dirty="0"/>
          </a:p>
        </p:txBody>
      </p:sp>
      <p:sp>
        <p:nvSpPr>
          <p:cNvPr id="5" name="text-221"/>
          <p:cNvSpPr txBox="1"/>
          <p:nvPr/>
        </p:nvSpPr>
        <p:spPr>
          <a:xfrm>
            <a:off x="502920" y="1737360"/>
            <a:ext cx="5303520" cy="4206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No interviews, surveys or Clay internal data; win rates, margins and partner economics are benchmarks or assumptions</a:t>
            </a:r>
            <a:endParaRPr lang="en-US" sz="1300" dirty="0"/>
          </a:p>
          <a:p>
            <a:pPr marL="342900" indent="-342900">
              <a:spcAft>
                <a:spcPts val="600"/>
              </a:spcAft>
              <a:buSzPct val="100000"/>
              <a:buChar char="•"/>
            </a:pPr>
            <a:r>
              <a:rPr lang="en-US" sz="1300" dirty="0">
                <a:solidFill>
                  <a:schemeClr val="tx2"/>
                </a:solidFill>
              </a:rPr>
              <a:t>Database-coverage gap is an education-based proxy, not a measured match rate</a:t>
            </a:r>
            <a:endParaRPr lang="en-US" sz="1300" dirty="0"/>
          </a:p>
          <a:p>
            <a:pPr marL="342900" indent="-342900">
              <a:spcAft>
                <a:spcPts val="600"/>
              </a:spcAft>
              <a:buSzPct val="100000"/>
              <a:buChar char="•"/>
            </a:pPr>
            <a:r>
              <a:rPr lang="en-US" sz="1300" dirty="0">
                <a:solidFill>
                  <a:schemeClr val="tx2"/>
                </a:solidFill>
              </a:rPr>
              <a:t>Census firm counts are for 2022; Clay pricing changed in March 2026 and may change again</a:t>
            </a:r>
            <a:endParaRPr lang="en-US" sz="1300" dirty="0"/>
          </a:p>
          <a:p>
            <a:pPr marL="342900" indent="-342900">
              <a:spcAft>
                <a:spcPts val="600"/>
              </a:spcAft>
              <a:buSzPct val="100000"/>
              <a:buChar char="•"/>
            </a:pPr>
            <a:r>
              <a:rPr lang="en-US" sz="1300" dirty="0">
                <a:solidFill>
                  <a:schemeClr val="tx2"/>
                </a:solidFill>
              </a:rPr>
              <a:t>Distribution surveys are small and industry-sponsored</a:t>
            </a:r>
            <a:endParaRPr lang="en-US" sz="1300" dirty="0"/>
          </a:p>
          <a:p>
            <a:pPr marL="342900" indent="-342900">
              <a:spcAft>
                <a:spcPts val="600"/>
              </a:spcAft>
              <a:buSzPct val="100000"/>
              <a:buChar char="•"/>
            </a:pPr>
            <a:r>
              <a:rPr lang="en-US" sz="1300" dirty="0">
                <a:solidFill>
                  <a:schemeClr val="tx2"/>
                </a:solidFill>
              </a:rPr>
              <a:t>Scenario probabilities are explicit judgments; Clay's ARR (~$200M) is a third-party estimate</a:t>
            </a:r>
            <a:endParaRPr lang="en-US" sz="1300" dirty="0"/>
          </a:p>
          <a:p>
            <a:pPr marL="342900" indent="-342900">
              <a:spcAft>
                <a:spcPts val="600"/>
              </a:spcAft>
              <a:buSzPct val="100000"/>
              <a:buChar char="•"/>
            </a:pPr>
            <a:r>
              <a:rPr lang="en-US" sz="1300" dirty="0">
                <a:solidFill>
                  <a:schemeClr val="tx2"/>
                </a:solidFill>
              </a:rPr>
              <a:t>Some competitor capabilities rated from general knowledge [K] need verification</a:t>
            </a:r>
            <a:endParaRPr lang="en-US" sz="1300" dirty="0"/>
          </a:p>
        </p:txBody>
      </p:sp>
      <p:graphicFrame>
        <p:nvGraphicFramePr>
          <p:cNvPr id="20" name="table-222"/>
          <p:cNvGraphicFramePr>
            <a:graphicFrameLocks noGrp="1"/>
          </p:cNvGraphicFramePr>
          <p:nvPr>
            <p:extLst>
              <p:ext uri="{D42A27DB-BD31-4B8C-83A1-F6EECF244321}">
                <p14:modId xmlns:p14="http://schemas.microsoft.com/office/powerpoint/2010/main" val="1579011935"/>
              </p:ext>
            </p:extLst>
          </p:nvPr>
        </p:nvGraphicFramePr>
        <p:xfrm>
          <a:off x="6172200" y="1371600"/>
          <a:ext cx="5513832" cy="914400"/>
        </p:xfrm>
        <a:graphic>
          <a:graphicData uri="http://schemas.openxmlformats.org/drawingml/2006/table">
            <a:tbl>
              <a:tblPr/>
              <a:tblGrid>
                <a:gridCol w="548640"/>
                <a:gridCol w="3776472"/>
                <a:gridCol w="1188720"/>
              </a:tblGrid>
              <a:tr h="41148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ID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Source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Date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S01</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Clay pricing page (plans, credits, actions)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Oct 2026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S07</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Clay case study: Regency Supply</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Live page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S14</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U.S. Census Bureau, 2022 Economic Census — Employment Size of Firms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Ref. 2022</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S15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U.S. BLS, OEWS industry-specific estimates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May 2025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S16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Vendr, Clay buyer pricing data</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Feb 2026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S23</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Sacra, Apollo and Clay revenue estimates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Sep 2026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S25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Phocas / DSG, State of Sales in Distribution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2026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S43</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SaaS Capital, B2B SaaS Retention Benchmarks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Sep 2025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S44</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Bridge Group, AE Models, Motions &amp; Metrics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Jun 2026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lay Case Study">
  <a:themeElements>
    <a:clrScheme name="Clay Case Study">
      <a:dk1>
        <a:srgbClr val="1B2433"/>
      </a:dk1>
      <a:lt1>
        <a:srgbClr val="FFFFFF"/>
      </a:lt1>
      <a:dk2>
        <a:srgbClr val="3D4A5C"/>
      </a:dk2>
      <a:lt2>
        <a:srgbClr val="F2F4F7"/>
      </a:lt2>
      <a:accent1>
        <a:srgbClr val="B5532A"/>
      </a:accent1>
      <a:accent2>
        <a:srgbClr val="5B6B82"/>
      </a:accent2>
      <a:accent3>
        <a:srgbClr val="A9B4C2"/>
      </a:accent3>
      <a:accent4>
        <a:srgbClr val="2E6F5E"/>
      </a:accent4>
      <a:accent5>
        <a:srgbClr val="B7862B"/>
      </a:accent5>
      <a:accent6>
        <a:srgbClr val="9B2C2C"/>
      </a:accent6>
      <a:hlink>
        <a:srgbClr val="B5532A"/>
      </a:hlink>
      <a:folHlink>
        <a:srgbClr val="5B6B82"/>
      </a:folHlink>
    </a:clrScheme>
    <a:fontScheme name="Clay Case Stu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Independent case 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Vertical Expansion and GTM Strategy for Clay — Executive Deck</dc:title>
  <dc:subject>PptxGenJS Presentation</dc:subject>
  <dc:creator>Zhuoran (Zora) Wang</dc:creator>
  <cp:lastModifiedBy>Zhuoran (Zora) Wang</cp:lastModifiedBy>
  <cp:revision>1</cp:revision>
  <dcterms:created xsi:type="dcterms:W3CDTF">2026-10-19T22:27:11Z</dcterms:created>
  <dcterms:modified xsi:type="dcterms:W3CDTF">2026-10-19T22:27:11Z</dcterms:modified>
</cp:coreProperties>
</file>